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PayPlus does not appear in Yuno's public catalog (Payment Type list or Integrations Directory). Confirm with the integrations team before positioning a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commit a PayPlus delivery date on the slide. Confirm scope and timeline with Yuno's integrations team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2A30"/>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3E4FE0"/>
          </a:solidFill>
          <a:ln w="12700">
            <a:solidFill>
              <a:srgbClr val="3E4FE0"/>
            </a:solidFill>
            <a:prstDash val="solid"/>
          </a:ln>
        </p:spPr>
      </p:sp>
      <p:pic>
        <p:nvPicPr>
          <p:cNvPr id="3" name="Image 0" descr="/Users/germantatis/Desktop/GTMCoding/Yuno Design System/yuno-design-system/assets/yuno-wordmark-white.png">    </p:cNvPr>
          <p:cNvPicPr>
            <a:picLocks noChangeAspect="1"/>
          </p:cNvPicPr>
          <p:nvPr/>
        </p:nvPicPr>
        <p:blipFill>
          <a:blip r:embed="rId1"/>
          <a:stretch>
            <a:fillRect/>
          </a:stretch>
        </p:blipFill>
        <p:spPr>
          <a:xfrm>
            <a:off x="822960" y="502920"/>
            <a:ext cx="1419223" cy="384048"/>
          </a:xfrm>
          <a:prstGeom prst="rect">
            <a:avLst/>
          </a:prstGeom>
        </p:spPr>
      </p:pic>
      <p:sp>
        <p:nvSpPr>
          <p:cNvPr id="4" name="Shape 1"/>
          <p:cNvSpPr/>
          <p:nvPr/>
        </p:nvSpPr>
        <p:spPr>
          <a:xfrm>
            <a:off x="2443351" y="475488"/>
            <a:ext cx="0" cy="438912"/>
          </a:xfrm>
          <a:prstGeom prst="line">
            <a:avLst/>
          </a:prstGeom>
          <a:noFill/>
          <a:ln w="12700">
            <a:solidFill>
              <a:srgbClr val="FFFFFF"/>
            </a:solidFill>
            <a:prstDash val="solid"/>
          </a:ln>
        </p:spPr>
      </p:sp>
      <p:pic>
        <p:nvPicPr>
          <p:cNvPr id="5" name="Image 1" descr="/Users/germantatis/Desktop/GTMCoding/yuno-sales-pitch-maker/public/merchants/adidas.png">    </p:cNvPr>
          <p:cNvPicPr>
            <a:picLocks noChangeAspect="1"/>
          </p:cNvPicPr>
          <p:nvPr/>
        </p:nvPicPr>
        <p:blipFill>
          <a:blip r:embed="rId2"/>
          <a:stretch>
            <a:fillRect/>
          </a:stretch>
        </p:blipFill>
        <p:spPr>
          <a:xfrm>
            <a:off x="2644519" y="502920"/>
            <a:ext cx="645408" cy="384048"/>
          </a:xfrm>
          <a:prstGeom prst="rect">
            <a:avLst/>
          </a:prstGeom>
        </p:spPr>
      </p:pic>
      <p:sp>
        <p:nvSpPr>
          <p:cNvPr id="6" name="Text 2"/>
          <p:cNvSpPr txBox="1"/>
          <p:nvPr/>
        </p:nvSpPr>
        <p:spPr>
          <a:xfrm>
            <a:off x="822960" y="2011680"/>
            <a:ext cx="10515600" cy="822960"/>
          </a:xfrm>
          <a:prstGeom prst="rect">
            <a:avLst/>
          </a:prstGeom>
          <a:noFill/>
          <a:ln/>
        </p:spPr>
        <p:txBody>
          <a:bodyPr wrap="square" lIns="0" tIns="0" rIns="0" bIns="0" rtlCol="0" anchor="t"/>
          <a:lstStyle/>
          <a:p>
            <a:pPr indent="0" marL="0">
              <a:buNone/>
            </a:pPr>
            <a:r>
              <a:rPr lang="en-US" sz="4400" b="1" spc="200" kern="0" dirty="0">
                <a:solidFill>
                  <a:srgbClr val="FFFFFF"/>
                </a:solidFill>
                <a:latin typeface="Titillium Web" pitchFamily="34" charset="0"/>
                <a:ea typeface="Titillium Web" pitchFamily="34" charset="-122"/>
                <a:cs typeface="Titillium Web" pitchFamily="34" charset="-120"/>
              </a:rPr>
              <a:t>YUNO × ADIDAS</a:t>
            </a:r>
            <a:endParaRPr lang="en-US" sz="4400" dirty="0"/>
          </a:p>
        </p:txBody>
      </p:sp>
      <p:sp>
        <p:nvSpPr>
          <p:cNvPr id="7" name="Text 3"/>
          <p:cNvSpPr txBox="1"/>
          <p:nvPr/>
        </p:nvSpPr>
        <p:spPr>
          <a:xfrm>
            <a:off x="822960" y="2971800"/>
            <a:ext cx="10058400" cy="822960"/>
          </a:xfrm>
          <a:prstGeom prst="rect">
            <a:avLst/>
          </a:prstGeom>
          <a:noFill/>
          <a:ln/>
        </p:spPr>
        <p:txBody>
          <a:bodyPr wrap="square" lIns="0" tIns="0" rIns="0" bIns="0" rtlCol="0" anchor="t"/>
          <a:lstStyle/>
          <a:p>
            <a:pPr indent="0" marL="0">
              <a:buNone/>
            </a:pPr>
            <a:r>
              <a:rPr lang="en-US" sz="2400" dirty="0">
                <a:solidFill>
                  <a:srgbClr val="FFFFFF"/>
                </a:solidFill>
                <a:latin typeface="Titillium Web" pitchFamily="34" charset="0"/>
                <a:ea typeface="Titillium Web" pitchFamily="34" charset="-122"/>
                <a:cs typeface="Titillium Web" pitchFamily="34" charset="-120"/>
              </a:rPr>
              <a:t>Connections and payment methods in LATAM, Southeast Asia and Israel</a:t>
            </a:r>
            <a:endParaRPr lang="en-US" sz="2400" dirty="0"/>
          </a:p>
        </p:txBody>
      </p:sp>
      <p:sp>
        <p:nvSpPr>
          <p:cNvPr id="8" name="Text 4"/>
          <p:cNvSpPr txBox="1"/>
          <p:nvPr/>
        </p:nvSpPr>
        <p:spPr>
          <a:xfrm>
            <a:off x="822960" y="3886200"/>
            <a:ext cx="10058400" cy="457200"/>
          </a:xfrm>
          <a:prstGeom prst="rect">
            <a:avLst/>
          </a:prstGeom>
          <a:noFill/>
          <a:ln/>
        </p:spPr>
        <p:txBody>
          <a:bodyPr wrap="square" lIns="0" tIns="0" rIns="0" bIns="0" rtlCol="0" anchor="t"/>
          <a:lstStyle/>
          <a:p>
            <a:pPr indent="0" marL="0">
              <a:buNone/>
            </a:pPr>
            <a:r>
              <a:rPr lang="en-US" sz="1600" dirty="0">
                <a:solidFill>
                  <a:srgbClr val="BDC3F6"/>
                </a:solidFill>
                <a:latin typeface="Titillium Web" pitchFamily="34" charset="0"/>
                <a:ea typeface="Titillium Web" pitchFamily="34" charset="-122"/>
                <a:cs typeface="Titillium Web" pitchFamily="34" charset="-120"/>
              </a:rPr>
              <a:t>Mercado Pago · dLocal · PayU · 2C2P · PayPlus</a:t>
            </a:r>
            <a:endParaRPr lang="en-US" sz="1600" dirty="0"/>
          </a:p>
        </p:txBody>
      </p:sp>
      <p:sp>
        <p:nvSpPr>
          <p:cNvPr id="9" name="Text 5"/>
          <p:cNvSpPr txBox="1"/>
          <p:nvPr/>
        </p:nvSpPr>
        <p:spPr>
          <a:xfrm>
            <a:off x="822960" y="5760720"/>
            <a:ext cx="10058400" cy="274320"/>
          </a:xfrm>
          <a:prstGeom prst="rect">
            <a:avLst/>
          </a:prstGeom>
          <a:noFill/>
          <a:ln/>
        </p:spPr>
        <p:txBody>
          <a:bodyPr wrap="square" lIns="0" tIns="0" rIns="0" bIns="0" rtlCol="0" anchor="t"/>
          <a:lstStyle/>
          <a:p>
            <a:pPr indent="0" marL="0">
              <a:buNone/>
            </a:pPr>
            <a:r>
              <a:rPr lang="en-US" sz="1000" spc="300" kern="0" dirty="0">
                <a:solidFill>
                  <a:srgbClr val="BDC3F6"/>
                </a:solidFill>
                <a:latin typeface="Titillium Web" pitchFamily="34" charset="0"/>
                <a:ea typeface="Titillium Web" pitchFamily="34" charset="-122"/>
                <a:cs typeface="Titillium Web" pitchFamily="34" charset="-120"/>
              </a:rPr>
              <a:t>CONFIDENTIAL · PREPARED FOR ADIDAS · OCT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348472" cy="256032"/>
          </a:xfrm>
          <a:prstGeom prst="rect">
            <a:avLst/>
          </a:prstGeom>
          <a:noFill/>
          <a:ln/>
        </p:spPr>
        <p:txBody>
          <a:bodyPr wrap="square" lIns="0" tIns="0" rIns="0" bIns="0" rtlCol="0" anchor="t"/>
          <a:lstStyle/>
          <a:p>
            <a:pPr indent="0" marL="0">
              <a:buNone/>
            </a:pPr>
            <a:r>
              <a:rPr lang="en-US" sz="1050" b="1" spc="300" kern="0" dirty="0">
                <a:solidFill>
                  <a:srgbClr val="3E4FE0"/>
                </a:solidFill>
                <a:latin typeface="Titillium Web" pitchFamily="34" charset="0"/>
                <a:ea typeface="Titillium Web" pitchFamily="34" charset="-122"/>
                <a:cs typeface="Titillium Web" pitchFamily="34" charset="-120"/>
              </a:rPr>
              <a:t>AT A GLANCE</a:t>
            </a:r>
            <a:endParaRPr lang="en-US" sz="1050" dirty="0"/>
          </a:p>
        </p:txBody>
      </p:sp>
      <p:sp>
        <p:nvSpPr>
          <p:cNvPr id="3" name="Text 1"/>
          <p:cNvSpPr txBox="1"/>
          <p:nvPr/>
        </p:nvSpPr>
        <p:spPr>
          <a:xfrm>
            <a:off x="548640" y="676656"/>
            <a:ext cx="11091672" cy="868680"/>
          </a:xfrm>
          <a:prstGeom prst="rect">
            <a:avLst/>
          </a:prstGeom>
          <a:noFill/>
          <a:ln/>
        </p:spPr>
        <p:txBody>
          <a:bodyPr wrap="square" lIns="0" tIns="0" rIns="0" bIns="0" rtlCol="0" anchor="t">
            <a:normAutofit/>
          </a:bodyPr>
          <a:lstStyle/>
          <a:p>
            <a:pPr indent="0" marL="0">
              <a:buNone/>
            </a:pPr>
            <a:r>
              <a:rPr lang="en-US" sz="2400" b="1" dirty="0">
                <a:solidFill>
                  <a:srgbClr val="282A30"/>
                </a:solidFill>
                <a:latin typeface="Titillium Web" pitchFamily="34" charset="0"/>
                <a:ea typeface="Titillium Web" pitchFamily="34" charset="-122"/>
                <a:cs typeface="Titillium Web" pitchFamily="34" charset="-120"/>
              </a:rPr>
              <a:t>Four of the five providers you named are live on Yuno today; PayPlus would be a new connection</a:t>
            </a:r>
            <a:endParaRPr lang="en-US" sz="2400" dirty="0"/>
          </a:p>
        </p:txBody>
      </p:sp>
      <p:sp>
        <p:nvSpPr>
          <p:cNvPr id="4" name="Shape 2"/>
          <p:cNvSpPr/>
          <p:nvPr/>
        </p:nvSpPr>
        <p:spPr>
          <a:xfrm>
            <a:off x="548640" y="6263640"/>
            <a:ext cx="11091672" cy="0"/>
          </a:xfrm>
          <a:prstGeom prst="line">
            <a:avLst/>
          </a:prstGeom>
          <a:noFill/>
          <a:ln w="9525">
            <a:solidFill>
              <a:srgbClr val="D1D5DB"/>
            </a:solidFill>
            <a:prstDash val="solid"/>
          </a:ln>
        </p:spPr>
      </p:sp>
      <p:sp>
        <p:nvSpPr>
          <p:cNvPr id="5" name="Text 3"/>
          <p:cNvSpPr txBox="1"/>
          <p:nvPr/>
        </p:nvSpPr>
        <p:spPr>
          <a:xfrm>
            <a:off x="548640" y="6327648"/>
            <a:ext cx="7863840" cy="365760"/>
          </a:xfrm>
          <a:prstGeom prst="rect">
            <a:avLst/>
          </a:prstGeom>
          <a:noFill/>
          <a:ln/>
        </p:spPr>
        <p:txBody>
          <a:bodyPr wrap="square" lIns="0" tIns="0" rIns="0" bIns="0" rtlCol="0" anchor="t"/>
          <a:lstStyle/>
          <a:p>
            <a:pPr indent="0" marL="0">
              <a:buNone/>
            </a:pPr>
            <a:r>
              <a:rPr lang="en-US" sz="800" dirty="0">
                <a:solidFill>
                  <a:srgbClr val="616366"/>
                </a:solidFill>
                <a:latin typeface="Titillium Web" pitchFamily="34" charset="0"/>
                <a:ea typeface="Titillium Web" pitchFamily="34" charset="-122"/>
                <a:cs typeface="Titillium Web" pitchFamily="34" charset="-120"/>
              </a:rPr>
              <a:t>Source: Yuno API reference, Payment Type list (docs.y.uno) and Yuno Integrations Directory (y.uno/integrations), Oct 2026</a:t>
            </a:r>
            <a:endParaRPr lang="en-US" sz="800" dirty="0"/>
          </a:p>
        </p:txBody>
      </p:sp>
      <p:sp>
        <p:nvSpPr>
          <p:cNvPr id="6" name="Text 4"/>
          <p:cNvSpPr txBox="1"/>
          <p:nvPr/>
        </p:nvSpPr>
        <p:spPr>
          <a:xfrm>
            <a:off x="7799832" y="6327648"/>
            <a:ext cx="3291840" cy="228600"/>
          </a:xfrm>
          <a:prstGeom prst="rect">
            <a:avLst/>
          </a:prstGeom>
          <a:noFill/>
          <a:ln/>
        </p:spPr>
        <p:txBody>
          <a:bodyPr wrap="square" lIns="0" tIns="0" rIns="0" bIns="0" rtlCol="0" anchor="t"/>
          <a:lstStyle/>
          <a:p>
            <a:pPr algn="r" indent="0" marL="0">
              <a:buNone/>
            </a:pPr>
            <a:r>
              <a:rPr lang="en-US" sz="800" dirty="0">
                <a:solidFill>
                  <a:srgbClr val="616366"/>
                </a:solidFill>
                <a:latin typeface="Titillium Web" pitchFamily="34" charset="0"/>
                <a:ea typeface="Titillium Web" pitchFamily="34" charset="-122"/>
                <a:cs typeface="Titillium Web" pitchFamily="34" charset="-120"/>
              </a:rPr>
              <a:t>Yuno × adidas · Confidential</a:t>
            </a:r>
            <a:endParaRPr lang="en-US" sz="800" dirty="0"/>
          </a:p>
        </p:txBody>
      </p:sp>
      <p:sp>
        <p:nvSpPr>
          <p:cNvPr id="7" name="Text 5"/>
          <p:cNvSpPr txBox="1"/>
          <p:nvPr/>
        </p:nvSpPr>
        <p:spPr>
          <a:xfrm>
            <a:off x="11183112" y="6327648"/>
            <a:ext cx="457200" cy="228600"/>
          </a:xfrm>
          <a:prstGeom prst="rect">
            <a:avLst/>
          </a:prstGeom>
          <a:noFill/>
          <a:ln/>
        </p:spPr>
        <p:txBody>
          <a:bodyPr wrap="square" lIns="0" tIns="0" rIns="0" bIns="0" rtlCol="0" anchor="t"/>
          <a:lstStyle/>
          <a:p>
            <a:pPr algn="r" indent="0" marL="0">
              <a:buNone/>
            </a:pPr>
            <a:r>
              <a:rPr lang="en-US" sz="800" b="1" dirty="0">
                <a:solidFill>
                  <a:srgbClr val="282A30"/>
                </a:solidFill>
                <a:latin typeface="Titillium Web" pitchFamily="34" charset="0"/>
                <a:ea typeface="Titillium Web" pitchFamily="34" charset="-122"/>
                <a:cs typeface="Titillium Web" pitchFamily="34" charset="-120"/>
              </a:rPr>
              <a:t>02</a:t>
            </a:r>
            <a:endParaRPr lang="en-US" sz="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1554480"/>
                <a:gridCol w="1325880"/>
                <a:gridCol w="1508760"/>
                <a:gridCol w="1371600"/>
                <a:gridCol w="5330952"/>
              </a:tblGrid>
              <a:tr h="566928">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PROVIDER</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REGION</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STATUS ON YUNO</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COUNTRIES</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PAYMENT METHODS THROUGH YUNO</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r>
              <a:tr h="566928">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Mercado Pago</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LATAM</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7A4A"/>
                          </a:solidFill>
                          <a:latin typeface="Titillium Web" pitchFamily="34" charset="0"/>
                          <a:ea typeface="Titillium Web" pitchFamily="34" charset="-122"/>
                          <a:cs typeface="Titillium Web" pitchFamily="34" charset="-120"/>
                        </a:rPr>
                        <a:t>Live</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7</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(Checkout API), Checkout Pro, Mercado Pago Wallet, Wallet Connect, QR, PIX, Boleto, PSE</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66928">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dLocal</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LATAM + SEA</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b="1" dirty="0">
                          <a:solidFill>
                            <a:srgbClr val="1A7A4A"/>
                          </a:solidFill>
                          <a:latin typeface="Titillium Web" pitchFamily="34" charset="0"/>
                          <a:ea typeface="Titillium Web" pitchFamily="34" charset="-122"/>
                          <a:cs typeface="Titillium Web" pitchFamily="34" charset="-120"/>
                        </a:rPr>
                        <a:t>Live</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17 LATAM, 5 SEA</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bank transfer, real time payments (PIX, SPEI, PSE, FPX...), cash vouchers (OXXO, Boleto, Efecty...), wallets (Nequi, Yape, OVO, TrueMoney...)</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r>
              <a:tr h="566928">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PayU</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LATAM</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A7A4A"/>
                          </a:solidFill>
                          <a:latin typeface="Titillium Web" pitchFamily="34" charset="0"/>
                          <a:ea typeface="Titillium Web" pitchFamily="34" charset="-122"/>
                          <a:cs typeface="Titillium Web" pitchFamily="34" charset="-120"/>
                        </a:rPr>
                        <a:t>Live</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6</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PSE</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66928">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2C2P</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SEA</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b="1" dirty="0">
                          <a:solidFill>
                            <a:srgbClr val="1A7A4A"/>
                          </a:solidFill>
                          <a:latin typeface="Titillium Web" pitchFamily="34" charset="0"/>
                          <a:ea typeface="Titillium Web" pitchFamily="34" charset="-122"/>
                          <a:cs typeface="Titillium Web" pitchFamily="34" charset="-120"/>
                        </a:rPr>
                        <a:t>Live</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7 SEA</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r>
              <a:tr h="566928">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PayPlus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Israel</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B45309"/>
                          </a:solidFill>
                          <a:latin typeface="Titillium Web" pitchFamily="34" charset="0"/>
                          <a:ea typeface="Titillium Web" pitchFamily="34" charset="-122"/>
                          <a:cs typeface="Titillium Web" pitchFamily="34" charset="-120"/>
                        </a:rPr>
                        <a:t>New connection</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1</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Scoped on request. Israel is covered today through other providers (slide 6)</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5074920"/>
            <a:ext cx="11091672" cy="868680"/>
          </a:xfrm>
          <a:prstGeom prst="rect">
            <a:avLst/>
          </a:prstGeom>
          <a:solidFill>
            <a:srgbClr val="E8EAF5"/>
          </a:solidFill>
          <a:ln w="12700">
            <a:solidFill>
              <a:srgbClr val="E8EAF5"/>
            </a:solidFill>
            <a:prstDash val="solid"/>
          </a:ln>
        </p:spPr>
      </p:sp>
      <p:sp>
        <p:nvSpPr>
          <p:cNvPr id="11" name="Shape 7"/>
          <p:cNvSpPr/>
          <p:nvPr/>
        </p:nvSpPr>
        <p:spPr>
          <a:xfrm>
            <a:off x="548640" y="5074920"/>
            <a:ext cx="64008" cy="868680"/>
          </a:xfrm>
          <a:prstGeom prst="rect">
            <a:avLst/>
          </a:prstGeom>
          <a:solidFill>
            <a:srgbClr val="3E4FE0"/>
          </a:solidFill>
          <a:ln w="12700">
            <a:solidFill>
              <a:srgbClr val="3E4FE0"/>
            </a:solidFill>
            <a:prstDash val="solid"/>
          </a:ln>
        </p:spPr>
      </p:sp>
      <p:sp>
        <p:nvSpPr>
          <p:cNvPr id="12" name="Text 8"/>
          <p:cNvSpPr txBox="1"/>
          <p:nvPr/>
        </p:nvSpPr>
        <p:spPr>
          <a:xfrm>
            <a:off x="777240" y="5166360"/>
            <a:ext cx="10725912" cy="685800"/>
          </a:xfrm>
          <a:prstGeom prst="rect">
            <a:avLst/>
          </a:prstGeom>
          <a:noFill/>
          <a:ln/>
        </p:spPr>
        <p:txBody>
          <a:bodyPr wrap="square" lIns="0" tIns="0" rIns="0" bIns="0" rtlCol="0" anchor="t"/>
          <a:lstStyle/>
          <a:p>
            <a:pPr indent="0" marL="0">
              <a:buNone/>
            </a:pPr>
            <a:r>
              <a:rPr lang="en-US" sz="1000" b="1" spc="200" kern="0" dirty="0">
                <a:solidFill>
                  <a:srgbClr val="3E4FE0"/>
                </a:solidFill>
                <a:latin typeface="Titillium Web" pitchFamily="34" charset="0"/>
                <a:ea typeface="Titillium Web" pitchFamily="34" charset="-122"/>
                <a:cs typeface="Titillium Web" pitchFamily="34" charset="-120"/>
              </a:rPr>
              <a:t>HOW IT WORKS</a:t>
            </a:r>
            <a:endParaRPr lang="en-US" sz="1000" dirty="0"/>
          </a:p>
          <a:p>
            <a:pPr indent="0" marL="0">
              <a:buNone/>
            </a:pPr>
            <a:r>
              <a:rPr lang="en-US" sz="1100" dirty="0">
                <a:solidFill>
                  <a:srgbClr val="282A30"/>
                </a:solidFill>
                <a:latin typeface="Titillium Web" pitchFamily="34" charset="0"/>
                <a:ea typeface="Titillium Web" pitchFamily="34" charset="-122"/>
                <a:cs typeface="Titillium Web" pitchFamily="34" charset="-120"/>
              </a:rPr>
              <a:t>adidas integrates once with Yuno. Every connection in this deck sits behind the same API and checkout, so you can route, retry and fail over between providers in the same country without new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348472" cy="256032"/>
          </a:xfrm>
          <a:prstGeom prst="rect">
            <a:avLst/>
          </a:prstGeom>
          <a:noFill/>
          <a:ln/>
        </p:spPr>
        <p:txBody>
          <a:bodyPr wrap="square" lIns="0" tIns="0" rIns="0" bIns="0" rtlCol="0" anchor="t"/>
          <a:lstStyle/>
          <a:p>
            <a:pPr indent="0" marL="0">
              <a:buNone/>
            </a:pPr>
            <a:r>
              <a:rPr lang="en-US" sz="1050" b="1" spc="300" kern="0" dirty="0">
                <a:solidFill>
                  <a:srgbClr val="3E4FE0"/>
                </a:solidFill>
                <a:latin typeface="Titillium Web" pitchFamily="34" charset="0"/>
                <a:ea typeface="Titillium Web" pitchFamily="34" charset="-122"/>
                <a:cs typeface="Titillium Web" pitchFamily="34" charset="-120"/>
              </a:rPr>
              <a:t>LATAM · CORE MARKETS</a:t>
            </a:r>
            <a:endParaRPr lang="en-US" sz="1050" dirty="0"/>
          </a:p>
        </p:txBody>
      </p:sp>
      <p:sp>
        <p:nvSpPr>
          <p:cNvPr id="3" name="Text 1"/>
          <p:cNvSpPr txBox="1"/>
          <p:nvPr/>
        </p:nvSpPr>
        <p:spPr>
          <a:xfrm>
            <a:off x="548640" y="676656"/>
            <a:ext cx="11091672" cy="868680"/>
          </a:xfrm>
          <a:prstGeom prst="rect">
            <a:avLst/>
          </a:prstGeom>
          <a:noFill/>
          <a:ln/>
        </p:spPr>
        <p:txBody>
          <a:bodyPr wrap="square" lIns="0" tIns="0" rIns="0" bIns="0" rtlCol="0" anchor="t">
            <a:normAutofit/>
          </a:bodyPr>
          <a:lstStyle/>
          <a:p>
            <a:pPr indent="0" marL="0">
              <a:buNone/>
            </a:pPr>
            <a:r>
              <a:rPr lang="en-US" sz="2400" b="1" dirty="0">
                <a:solidFill>
                  <a:srgbClr val="282A30"/>
                </a:solidFill>
                <a:latin typeface="Titillium Web" pitchFamily="34" charset="0"/>
                <a:ea typeface="Titillium Web" pitchFamily="34" charset="-122"/>
                <a:cs typeface="Titillium Web" pitchFamily="34" charset="-120"/>
              </a:rPr>
              <a:t>In the seven core LATAM markets, every country has at least two of your providers live on Yuno</a:t>
            </a:r>
            <a:endParaRPr lang="en-US" sz="2400" dirty="0"/>
          </a:p>
        </p:txBody>
      </p:sp>
      <p:sp>
        <p:nvSpPr>
          <p:cNvPr id="4" name="Shape 2"/>
          <p:cNvSpPr/>
          <p:nvPr/>
        </p:nvSpPr>
        <p:spPr>
          <a:xfrm>
            <a:off x="548640" y="6263640"/>
            <a:ext cx="11091672" cy="0"/>
          </a:xfrm>
          <a:prstGeom prst="line">
            <a:avLst/>
          </a:prstGeom>
          <a:noFill/>
          <a:ln w="9525">
            <a:solidFill>
              <a:srgbClr val="D1D5DB"/>
            </a:solidFill>
            <a:prstDash val="solid"/>
          </a:ln>
        </p:spPr>
      </p:sp>
      <p:sp>
        <p:nvSpPr>
          <p:cNvPr id="5" name="Text 3"/>
          <p:cNvSpPr txBox="1"/>
          <p:nvPr/>
        </p:nvSpPr>
        <p:spPr>
          <a:xfrm>
            <a:off x="548640" y="6327648"/>
            <a:ext cx="7863840" cy="365760"/>
          </a:xfrm>
          <a:prstGeom prst="rect">
            <a:avLst/>
          </a:prstGeom>
          <a:noFill/>
          <a:ln/>
        </p:spPr>
        <p:txBody>
          <a:bodyPr wrap="square" lIns="0" tIns="0" rIns="0" bIns="0" rtlCol="0" anchor="t"/>
          <a:lstStyle/>
          <a:p>
            <a:pPr indent="0" marL="0">
              <a:buNone/>
            </a:pPr>
            <a:r>
              <a:rPr lang="en-US" sz="800" dirty="0">
                <a:solidFill>
                  <a:srgbClr val="616366"/>
                </a:solidFill>
                <a:latin typeface="Titillium Web" pitchFamily="34" charset="0"/>
                <a:ea typeface="Titillium Web" pitchFamily="34" charset="-122"/>
                <a:cs typeface="Titillium Web" pitchFamily="34" charset="-120"/>
              </a:rPr>
              <a:t>Source: Yuno API reference, Payment Type list (docs.y.uno) and Yuno Integrations Directory (y.uno/integrations), Oct 2026. Method availability per country is confirmed with each provider during setup.</a:t>
            </a:r>
            <a:endParaRPr lang="en-US" sz="800" dirty="0"/>
          </a:p>
        </p:txBody>
      </p:sp>
      <p:sp>
        <p:nvSpPr>
          <p:cNvPr id="6" name="Text 4"/>
          <p:cNvSpPr txBox="1"/>
          <p:nvPr/>
        </p:nvSpPr>
        <p:spPr>
          <a:xfrm>
            <a:off x="7799832" y="6327648"/>
            <a:ext cx="3291840" cy="228600"/>
          </a:xfrm>
          <a:prstGeom prst="rect">
            <a:avLst/>
          </a:prstGeom>
          <a:noFill/>
          <a:ln/>
        </p:spPr>
        <p:txBody>
          <a:bodyPr wrap="square" lIns="0" tIns="0" rIns="0" bIns="0" rtlCol="0" anchor="t"/>
          <a:lstStyle/>
          <a:p>
            <a:pPr algn="r" indent="0" marL="0">
              <a:buNone/>
            </a:pPr>
            <a:r>
              <a:rPr lang="en-US" sz="800" dirty="0">
                <a:solidFill>
                  <a:srgbClr val="616366"/>
                </a:solidFill>
                <a:latin typeface="Titillium Web" pitchFamily="34" charset="0"/>
                <a:ea typeface="Titillium Web" pitchFamily="34" charset="-122"/>
                <a:cs typeface="Titillium Web" pitchFamily="34" charset="-120"/>
              </a:rPr>
              <a:t>Yuno × adidas · Confidential</a:t>
            </a:r>
            <a:endParaRPr lang="en-US" sz="800" dirty="0"/>
          </a:p>
        </p:txBody>
      </p:sp>
      <p:sp>
        <p:nvSpPr>
          <p:cNvPr id="7" name="Text 5"/>
          <p:cNvSpPr txBox="1"/>
          <p:nvPr/>
        </p:nvSpPr>
        <p:spPr>
          <a:xfrm>
            <a:off x="11183112" y="6327648"/>
            <a:ext cx="457200" cy="228600"/>
          </a:xfrm>
          <a:prstGeom prst="rect">
            <a:avLst/>
          </a:prstGeom>
          <a:noFill/>
          <a:ln/>
        </p:spPr>
        <p:txBody>
          <a:bodyPr wrap="square" lIns="0" tIns="0" rIns="0" bIns="0" rtlCol="0" anchor="t"/>
          <a:lstStyle/>
          <a:p>
            <a:pPr algn="r" indent="0" marL="0">
              <a:buNone/>
            </a:pPr>
            <a:r>
              <a:rPr lang="en-US" sz="800" b="1" dirty="0">
                <a:solidFill>
                  <a:srgbClr val="282A30"/>
                </a:solidFill>
                <a:latin typeface="Titillium Web" pitchFamily="34" charset="0"/>
                <a:ea typeface="Titillium Web" pitchFamily="34" charset="-122"/>
                <a:cs typeface="Titillium Web" pitchFamily="34" charset="-120"/>
              </a:rPr>
              <a:t>03</a:t>
            </a:r>
            <a:endParaRPr lang="en-US" sz="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1417320"/>
                <a:gridCol w="3291840"/>
                <a:gridCol w="4206240"/>
                <a:gridCol w="2176272"/>
              </a:tblGrid>
              <a:tr h="512064">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COUNTRY</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MERCADO PAGO</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DLOCAL</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PAYU</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r>
              <a:tr h="512064">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Argentina</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Checkout Pro · MP Wallet</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Pago Fácil · Rapipago · MODO</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12064">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Brazil</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Checkout Pro · MP Wallet · PIX · Boleto</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PIX · Smart PIX · Boleto · NuPay</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r>
              <a:tr h="512064">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Chile</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Checkout Pro · MP Wallet</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Khipu</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12064">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Colombia</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Checkout Pro · MP Wallet · PSE</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PSE · Bre-B QR · Efecty · Nequi</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PSE</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r>
              <a:tr h="512064">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Mexico</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Checkout Pro · MP Wallet</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SPEI · CoDi · OXXO · Paynet · 7-Eleven</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12064">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Peru</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Checkout Pro · MP Wallet</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PagoEfectivo · Yape</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r>
              <a:tr h="512064">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Uruguay</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Checkout Pro · MP Wallet</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616366"/>
                          </a:solidFill>
                          <a:latin typeface="Titillium Web" pitchFamily="34" charset="0"/>
                          <a:ea typeface="Titillium Web" pitchFamily="34" charset="-122"/>
                          <a:cs typeface="Titillium Web" pitchFamily="34" charset="-120"/>
                        </a:rPr>
                        <a:t>Not available</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548640" y="5760720"/>
            <a:ext cx="11091672" cy="365760"/>
          </a:xfrm>
          <a:prstGeom prst="rect">
            <a:avLst/>
          </a:prstGeom>
          <a:noFill/>
          <a:ln/>
        </p:spPr>
        <p:txBody>
          <a:bodyPr wrap="square" lIns="0" tIns="0" rIns="0" bIns="0" rtlCol="0" anchor="t"/>
          <a:lstStyle/>
          <a:p>
            <a:pPr indent="0" marL="0">
              <a:buNone/>
            </a:pPr>
            <a:r>
              <a:rPr lang="en-US" sz="950" i="1" dirty="0">
                <a:solidFill>
                  <a:srgbClr val="616366"/>
                </a:solidFill>
                <a:latin typeface="Titillium Web" pitchFamily="34" charset="0"/>
                <a:ea typeface="Titillium Web" pitchFamily="34" charset="-122"/>
                <a:cs typeface="Titillium Web" pitchFamily="34" charset="-120"/>
              </a:rPr>
              <a:t>Mercado Pago also offers Wallet Connect and QR through Yuno. Checkout Pro is Mercado Pago's hosted checkout (cards, wallet and local methods in one redirect).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348472" cy="256032"/>
          </a:xfrm>
          <a:prstGeom prst="rect">
            <a:avLst/>
          </a:prstGeom>
          <a:noFill/>
          <a:ln/>
        </p:spPr>
        <p:txBody>
          <a:bodyPr wrap="square" lIns="0" tIns="0" rIns="0" bIns="0" rtlCol="0" anchor="t"/>
          <a:lstStyle/>
          <a:p>
            <a:pPr indent="0" marL="0">
              <a:buNone/>
            </a:pPr>
            <a:r>
              <a:rPr lang="en-US" sz="1050" b="1" spc="300" kern="0" dirty="0">
                <a:solidFill>
                  <a:srgbClr val="3E4FE0"/>
                </a:solidFill>
                <a:latin typeface="Titillium Web" pitchFamily="34" charset="0"/>
                <a:ea typeface="Titillium Web" pitchFamily="34" charset="-122"/>
                <a:cs typeface="Titillium Web" pitchFamily="34" charset="-120"/>
              </a:rPr>
              <a:t>LATAM · REST OF REGION</a:t>
            </a:r>
            <a:endParaRPr lang="en-US" sz="1050" dirty="0"/>
          </a:p>
        </p:txBody>
      </p:sp>
      <p:sp>
        <p:nvSpPr>
          <p:cNvPr id="3" name="Text 1"/>
          <p:cNvSpPr txBox="1"/>
          <p:nvPr/>
        </p:nvSpPr>
        <p:spPr>
          <a:xfrm>
            <a:off x="548640" y="676656"/>
            <a:ext cx="11091672" cy="868680"/>
          </a:xfrm>
          <a:prstGeom prst="rect">
            <a:avLst/>
          </a:prstGeom>
          <a:noFill/>
          <a:ln/>
        </p:spPr>
        <p:txBody>
          <a:bodyPr wrap="square" lIns="0" tIns="0" rIns="0" bIns="0" rtlCol="0" anchor="t">
            <a:normAutofit/>
          </a:bodyPr>
          <a:lstStyle/>
          <a:p>
            <a:pPr indent="0" marL="0">
              <a:buNone/>
            </a:pPr>
            <a:r>
              <a:rPr lang="en-US" sz="2400" b="1" dirty="0">
                <a:solidFill>
                  <a:srgbClr val="282A30"/>
                </a:solidFill>
                <a:latin typeface="Titillium Web" pitchFamily="34" charset="0"/>
                <a:ea typeface="Titillium Web" pitchFamily="34" charset="-122"/>
                <a:cs typeface="Titillium Web" pitchFamily="34" charset="-120"/>
              </a:rPr>
              <a:t>dLocal extends coverage to ten more LATAM markets with cards and local cash and wallet methods</a:t>
            </a:r>
            <a:endParaRPr lang="en-US" sz="2400" dirty="0"/>
          </a:p>
        </p:txBody>
      </p:sp>
      <p:sp>
        <p:nvSpPr>
          <p:cNvPr id="4" name="Shape 2"/>
          <p:cNvSpPr/>
          <p:nvPr/>
        </p:nvSpPr>
        <p:spPr>
          <a:xfrm>
            <a:off x="548640" y="6263640"/>
            <a:ext cx="11091672" cy="0"/>
          </a:xfrm>
          <a:prstGeom prst="line">
            <a:avLst/>
          </a:prstGeom>
          <a:noFill/>
          <a:ln w="9525">
            <a:solidFill>
              <a:srgbClr val="D1D5DB"/>
            </a:solidFill>
            <a:prstDash val="solid"/>
          </a:ln>
        </p:spPr>
      </p:sp>
      <p:sp>
        <p:nvSpPr>
          <p:cNvPr id="5" name="Text 3"/>
          <p:cNvSpPr txBox="1"/>
          <p:nvPr/>
        </p:nvSpPr>
        <p:spPr>
          <a:xfrm>
            <a:off x="548640" y="6327648"/>
            <a:ext cx="7863840" cy="365760"/>
          </a:xfrm>
          <a:prstGeom prst="rect">
            <a:avLst/>
          </a:prstGeom>
          <a:noFill/>
          <a:ln/>
        </p:spPr>
        <p:txBody>
          <a:bodyPr wrap="square" lIns="0" tIns="0" rIns="0" bIns="0" rtlCol="0" anchor="t"/>
          <a:lstStyle/>
          <a:p>
            <a:pPr indent="0" marL="0">
              <a:buNone/>
            </a:pPr>
            <a:r>
              <a:rPr lang="en-US" sz="800" dirty="0">
                <a:solidFill>
                  <a:srgbClr val="616366"/>
                </a:solidFill>
                <a:latin typeface="Titillium Web" pitchFamily="34" charset="0"/>
                <a:ea typeface="Titillium Web" pitchFamily="34" charset="-122"/>
                <a:cs typeface="Titillium Web" pitchFamily="34" charset="-120"/>
              </a:rPr>
              <a:t>Source: Yuno API reference, Payment Type list (docs.y.uno) and Yuno Integrations Directory (y.uno/integrations), Oct 2026. Method availability per country is confirmed with each provider during setup.</a:t>
            </a:r>
            <a:endParaRPr lang="en-US" sz="800" dirty="0"/>
          </a:p>
        </p:txBody>
      </p:sp>
      <p:sp>
        <p:nvSpPr>
          <p:cNvPr id="6" name="Text 4"/>
          <p:cNvSpPr txBox="1"/>
          <p:nvPr/>
        </p:nvSpPr>
        <p:spPr>
          <a:xfrm>
            <a:off x="7799832" y="6327648"/>
            <a:ext cx="3291840" cy="228600"/>
          </a:xfrm>
          <a:prstGeom prst="rect">
            <a:avLst/>
          </a:prstGeom>
          <a:noFill/>
          <a:ln/>
        </p:spPr>
        <p:txBody>
          <a:bodyPr wrap="square" lIns="0" tIns="0" rIns="0" bIns="0" rtlCol="0" anchor="t"/>
          <a:lstStyle/>
          <a:p>
            <a:pPr algn="r" indent="0" marL="0">
              <a:buNone/>
            </a:pPr>
            <a:r>
              <a:rPr lang="en-US" sz="800" dirty="0">
                <a:solidFill>
                  <a:srgbClr val="616366"/>
                </a:solidFill>
                <a:latin typeface="Titillium Web" pitchFamily="34" charset="0"/>
                <a:ea typeface="Titillium Web" pitchFamily="34" charset="-122"/>
                <a:cs typeface="Titillium Web" pitchFamily="34" charset="-120"/>
              </a:rPr>
              <a:t>Yuno × adidas · Confidential</a:t>
            </a:r>
            <a:endParaRPr lang="en-US" sz="800" dirty="0"/>
          </a:p>
        </p:txBody>
      </p:sp>
      <p:sp>
        <p:nvSpPr>
          <p:cNvPr id="7" name="Text 5"/>
          <p:cNvSpPr txBox="1"/>
          <p:nvPr/>
        </p:nvSpPr>
        <p:spPr>
          <a:xfrm>
            <a:off x="11183112" y="6327648"/>
            <a:ext cx="457200" cy="228600"/>
          </a:xfrm>
          <a:prstGeom prst="rect">
            <a:avLst/>
          </a:prstGeom>
          <a:noFill/>
          <a:ln/>
        </p:spPr>
        <p:txBody>
          <a:bodyPr wrap="square" lIns="0" tIns="0" rIns="0" bIns="0" rtlCol="0" anchor="t"/>
          <a:lstStyle/>
          <a:p>
            <a:pPr algn="r" indent="0" marL="0">
              <a:buNone/>
            </a:pPr>
            <a:r>
              <a:rPr lang="en-US" sz="800" b="1" dirty="0">
                <a:solidFill>
                  <a:srgbClr val="282A30"/>
                </a:solidFill>
                <a:latin typeface="Titillium Web" pitchFamily="34" charset="0"/>
                <a:ea typeface="Titillium Web" pitchFamily="34" charset="-122"/>
                <a:cs typeface="Titillium Web" pitchFamily="34" charset="-120"/>
              </a:rPr>
              <a:t>04</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1645920"/>
                <a:gridCol w="3899916"/>
                <a:gridCol w="1645920"/>
                <a:gridCol w="3899916"/>
              </a:tblGrid>
              <a:tr h="566928">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COUNTRY</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DLOCAL THROUGH YUNO</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COUNTRY</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DLOCAL THROUGH YUNO</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r>
              <a:tr h="566928">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Bolivia</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Pago al Paso</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Guatemala</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66928">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Costa Rica</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Banco Nacional (cash) · PuntoXpress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Honduras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r>
              <a:tr h="566928">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Dominican Rep.</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Banco Popular Dominicano</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Nicaragua</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PuntoXpress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66928">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Ecuador</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Deuna</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Panama</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Clave · Punto Pago</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r>
              <a:tr h="566928">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El Salvador</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PuntoXpress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Paraguay</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9" name="Shape 6"/>
          <p:cNvSpPr/>
          <p:nvPr/>
        </p:nvSpPr>
        <p:spPr>
          <a:xfrm>
            <a:off x="548640" y="5257800"/>
            <a:ext cx="11091672" cy="777240"/>
          </a:xfrm>
          <a:prstGeom prst="rect">
            <a:avLst/>
          </a:prstGeom>
          <a:solidFill>
            <a:srgbClr val="E8EAF5"/>
          </a:solidFill>
          <a:ln w="12700">
            <a:solidFill>
              <a:srgbClr val="E8EAF5"/>
            </a:solidFill>
            <a:prstDash val="solid"/>
          </a:ln>
        </p:spPr>
      </p:sp>
      <p:sp>
        <p:nvSpPr>
          <p:cNvPr id="10" name="Shape 7"/>
          <p:cNvSpPr/>
          <p:nvPr/>
        </p:nvSpPr>
        <p:spPr>
          <a:xfrm>
            <a:off x="548640" y="5257800"/>
            <a:ext cx="64008" cy="777240"/>
          </a:xfrm>
          <a:prstGeom prst="rect">
            <a:avLst/>
          </a:prstGeom>
          <a:solidFill>
            <a:srgbClr val="3E4FE0"/>
          </a:solidFill>
          <a:ln w="12700">
            <a:solidFill>
              <a:srgbClr val="3E4FE0"/>
            </a:solidFill>
            <a:prstDash val="solid"/>
          </a:ln>
        </p:spPr>
      </p:sp>
      <p:sp>
        <p:nvSpPr>
          <p:cNvPr id="11" name="Text 8"/>
          <p:cNvSpPr txBox="1"/>
          <p:nvPr/>
        </p:nvSpPr>
        <p:spPr>
          <a:xfrm>
            <a:off x="777240" y="5349240"/>
            <a:ext cx="10725912" cy="594360"/>
          </a:xfrm>
          <a:prstGeom prst="rect">
            <a:avLst/>
          </a:prstGeom>
          <a:noFill/>
          <a:ln/>
        </p:spPr>
        <p:txBody>
          <a:bodyPr wrap="square" lIns="0" tIns="0" rIns="0" bIns="0" rtlCol="0" anchor="t"/>
          <a:lstStyle/>
          <a:p>
            <a:pPr indent="0" marL="0">
              <a:buNone/>
            </a:pPr>
            <a:r>
              <a:rPr lang="en-US" sz="1000" b="1" spc="200" kern="0" dirty="0">
                <a:solidFill>
                  <a:srgbClr val="3E4FE0"/>
                </a:solidFill>
                <a:latin typeface="Titillium Web" pitchFamily="34" charset="0"/>
                <a:ea typeface="Titillium Web" pitchFamily="34" charset="-122"/>
                <a:cs typeface="Titillium Web" pitchFamily="34" charset="-120"/>
              </a:rPr>
              <a:t>GOOD TO KNOW</a:t>
            </a:r>
            <a:endParaRPr lang="en-US" sz="1000" dirty="0"/>
          </a:p>
          <a:p>
            <a:pPr indent="0" marL="0">
              <a:buNone/>
            </a:pPr>
            <a:r>
              <a:rPr lang="en-US" sz="1100" dirty="0">
                <a:solidFill>
                  <a:srgbClr val="282A30"/>
                </a:solidFill>
                <a:latin typeface="Titillium Web" pitchFamily="34" charset="0"/>
                <a:ea typeface="Titillium Web" pitchFamily="34" charset="-122"/>
                <a:cs typeface="Titillium Web" pitchFamily="34" charset="-120"/>
              </a:rPr>
              <a:t>Mercado Pago and PayU are not live in these ten countries through Yuno. If adidas sells in any of them, dLocal is the route today, and a second provider can be added for redundancy from Yuno's wider catalog.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348472" cy="256032"/>
          </a:xfrm>
          <a:prstGeom prst="rect">
            <a:avLst/>
          </a:prstGeom>
          <a:noFill/>
          <a:ln/>
        </p:spPr>
        <p:txBody>
          <a:bodyPr wrap="square" lIns="0" tIns="0" rIns="0" bIns="0" rtlCol="0" anchor="t"/>
          <a:lstStyle/>
          <a:p>
            <a:pPr indent="0" marL="0">
              <a:buNone/>
            </a:pPr>
            <a:r>
              <a:rPr lang="en-US" sz="1050" b="1" spc="300" kern="0" dirty="0">
                <a:solidFill>
                  <a:srgbClr val="3E4FE0"/>
                </a:solidFill>
                <a:latin typeface="Titillium Web" pitchFamily="34" charset="0"/>
                <a:ea typeface="Titillium Web" pitchFamily="34" charset="-122"/>
                <a:cs typeface="Titillium Web" pitchFamily="34" charset="-120"/>
              </a:rPr>
              <a:t>SOUTHEAST ASIA</a:t>
            </a:r>
            <a:endParaRPr lang="en-US" sz="1050" dirty="0"/>
          </a:p>
        </p:txBody>
      </p:sp>
      <p:sp>
        <p:nvSpPr>
          <p:cNvPr id="3" name="Text 1"/>
          <p:cNvSpPr txBox="1"/>
          <p:nvPr/>
        </p:nvSpPr>
        <p:spPr>
          <a:xfrm>
            <a:off x="548640" y="676656"/>
            <a:ext cx="11091672" cy="868680"/>
          </a:xfrm>
          <a:prstGeom prst="rect">
            <a:avLst/>
          </a:prstGeom>
          <a:noFill/>
          <a:ln/>
        </p:spPr>
        <p:txBody>
          <a:bodyPr wrap="square" lIns="0" tIns="0" rIns="0" bIns="0" rtlCol="0" anchor="t">
            <a:normAutofit/>
          </a:bodyPr>
          <a:lstStyle/>
          <a:p>
            <a:pPr indent="0" marL="0">
              <a:buNone/>
            </a:pPr>
            <a:r>
              <a:rPr lang="en-US" sz="2400" b="1" dirty="0">
                <a:solidFill>
                  <a:srgbClr val="282A30"/>
                </a:solidFill>
                <a:latin typeface="Titillium Web" pitchFamily="34" charset="0"/>
                <a:ea typeface="Titillium Web" pitchFamily="34" charset="-122"/>
                <a:cs typeface="Titillium Web" pitchFamily="34" charset="-120"/>
              </a:rPr>
              <a:t>In Southeast Asia, 2C2P covers cards in seven markets and dLocal adds wallets, QR and bank methods in five</a:t>
            </a:r>
            <a:endParaRPr lang="en-US" sz="2400" dirty="0"/>
          </a:p>
        </p:txBody>
      </p:sp>
      <p:sp>
        <p:nvSpPr>
          <p:cNvPr id="4" name="Shape 2"/>
          <p:cNvSpPr/>
          <p:nvPr/>
        </p:nvSpPr>
        <p:spPr>
          <a:xfrm>
            <a:off x="548640" y="6263640"/>
            <a:ext cx="11091672" cy="0"/>
          </a:xfrm>
          <a:prstGeom prst="line">
            <a:avLst/>
          </a:prstGeom>
          <a:noFill/>
          <a:ln w="9525">
            <a:solidFill>
              <a:srgbClr val="D1D5DB"/>
            </a:solidFill>
            <a:prstDash val="solid"/>
          </a:ln>
        </p:spPr>
      </p:sp>
      <p:sp>
        <p:nvSpPr>
          <p:cNvPr id="5" name="Text 3"/>
          <p:cNvSpPr txBox="1"/>
          <p:nvPr/>
        </p:nvSpPr>
        <p:spPr>
          <a:xfrm>
            <a:off x="548640" y="6327648"/>
            <a:ext cx="7863840" cy="365760"/>
          </a:xfrm>
          <a:prstGeom prst="rect">
            <a:avLst/>
          </a:prstGeom>
          <a:noFill/>
          <a:ln/>
        </p:spPr>
        <p:txBody>
          <a:bodyPr wrap="square" lIns="0" tIns="0" rIns="0" bIns="0" rtlCol="0" anchor="t"/>
          <a:lstStyle/>
          <a:p>
            <a:pPr indent="0" marL="0">
              <a:buNone/>
            </a:pPr>
            <a:r>
              <a:rPr lang="en-US" sz="800" dirty="0">
                <a:solidFill>
                  <a:srgbClr val="616366"/>
                </a:solidFill>
                <a:latin typeface="Titillium Web" pitchFamily="34" charset="0"/>
                <a:ea typeface="Titillium Web" pitchFamily="34" charset="-122"/>
                <a:cs typeface="Titillium Web" pitchFamily="34" charset="-120"/>
              </a:rPr>
              <a:t>Source: Yuno API reference, Payment Type list (docs.y.uno) and Yuno Integrations Directory (y.uno/integrations), Oct 2026. Method availability per country is confirmed with each provider during setup.</a:t>
            </a:r>
            <a:endParaRPr lang="en-US" sz="800" dirty="0"/>
          </a:p>
        </p:txBody>
      </p:sp>
      <p:sp>
        <p:nvSpPr>
          <p:cNvPr id="6" name="Text 4"/>
          <p:cNvSpPr txBox="1"/>
          <p:nvPr/>
        </p:nvSpPr>
        <p:spPr>
          <a:xfrm>
            <a:off x="7799832" y="6327648"/>
            <a:ext cx="3291840" cy="228600"/>
          </a:xfrm>
          <a:prstGeom prst="rect">
            <a:avLst/>
          </a:prstGeom>
          <a:noFill/>
          <a:ln/>
        </p:spPr>
        <p:txBody>
          <a:bodyPr wrap="square" lIns="0" tIns="0" rIns="0" bIns="0" rtlCol="0" anchor="t"/>
          <a:lstStyle/>
          <a:p>
            <a:pPr algn="r" indent="0" marL="0">
              <a:buNone/>
            </a:pPr>
            <a:r>
              <a:rPr lang="en-US" sz="800" dirty="0">
                <a:solidFill>
                  <a:srgbClr val="616366"/>
                </a:solidFill>
                <a:latin typeface="Titillium Web" pitchFamily="34" charset="0"/>
                <a:ea typeface="Titillium Web" pitchFamily="34" charset="-122"/>
                <a:cs typeface="Titillium Web" pitchFamily="34" charset="-120"/>
              </a:rPr>
              <a:t>Yuno × adidas · Confidential</a:t>
            </a:r>
            <a:endParaRPr lang="en-US" sz="800" dirty="0"/>
          </a:p>
        </p:txBody>
      </p:sp>
      <p:sp>
        <p:nvSpPr>
          <p:cNvPr id="7" name="Text 5"/>
          <p:cNvSpPr txBox="1"/>
          <p:nvPr/>
        </p:nvSpPr>
        <p:spPr>
          <a:xfrm>
            <a:off x="11183112" y="6327648"/>
            <a:ext cx="457200" cy="228600"/>
          </a:xfrm>
          <a:prstGeom prst="rect">
            <a:avLst/>
          </a:prstGeom>
          <a:noFill/>
          <a:ln/>
        </p:spPr>
        <p:txBody>
          <a:bodyPr wrap="square" lIns="0" tIns="0" rIns="0" bIns="0" rtlCol="0" anchor="t"/>
          <a:lstStyle/>
          <a:p>
            <a:pPr algn="r" indent="0" marL="0">
              <a:buNone/>
            </a:pPr>
            <a:r>
              <a:rPr lang="en-US" sz="800" b="1" dirty="0">
                <a:solidFill>
                  <a:srgbClr val="282A30"/>
                </a:solidFill>
                <a:latin typeface="Titillium Web" pitchFamily="34" charset="0"/>
                <a:ea typeface="Titillium Web" pitchFamily="34" charset="-122"/>
                <a:cs typeface="Titillium Web" pitchFamily="34" charset="-120"/>
              </a:rPr>
              <a:t>05</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1737360"/>
                <a:gridCol w="1463040"/>
                <a:gridCol w="7891272"/>
              </a:tblGrid>
              <a:tr h="512064">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COUNTRY</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2C2P</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c>
                  <a:txBody>
                    <a:bodyPr/>
                    <a:lstStyle/>
                    <a:p>
                      <a:pPr indent="0" marL="0">
                        <a:buNone/>
                      </a:pPr>
                      <a:r>
                        <a:rPr lang="en-US" sz="1000" b="1" spc="100" kern="0" dirty="0">
                          <a:solidFill>
                            <a:srgbClr val="FFFFFF"/>
                          </a:solidFill>
                          <a:latin typeface="Titillium Web" pitchFamily="34" charset="0"/>
                          <a:ea typeface="Titillium Web" pitchFamily="34" charset="-122"/>
                          <a:cs typeface="Titillium Web" pitchFamily="34" charset="-120"/>
                        </a:rPr>
                        <a:t>DLOCAL</a:t>
                      </a:r>
                      <a:endParaRPr lang="en-US" sz="10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82A30"/>
                    </a:solidFill>
                  </a:tcPr>
                </a:tc>
              </a:tr>
              <a:tr h="512064">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Indonesia</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Virtual Account · QRIS · OVO · ShopeePay · Alfamart</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12064">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Malaysia</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FPX · Touch 'n Go · Boost · ShopeePay · 7-Eleven</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r>
              <a:tr h="512064">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Philippines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ShopeePay</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12064">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Singapore</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616366"/>
                          </a:solidFill>
                          <a:latin typeface="Titillium Web" pitchFamily="34" charset="0"/>
                          <a:ea typeface="Titillium Web" pitchFamily="34" charset="-122"/>
                          <a:cs typeface="Titillium Web" pitchFamily="34" charset="-120"/>
                        </a:rPr>
                        <a:t>Not available</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r>
              <a:tr h="512064">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Thailand</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Thai QR (PromptPay) · TrueMoney · ShopeePay · Big C</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12064">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Vietnam</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 · ShopeePay</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8EAF5"/>
                    </a:solidFill>
                  </a:tcPr>
                </a:tc>
              </a:tr>
              <a:tr h="512064">
                <a:tc>
                  <a:txBody>
                    <a:bodyPr/>
                    <a:lstStyle/>
                    <a:p>
                      <a:pPr algn="l" indent="0" marL="0">
                        <a:buNone/>
                      </a:pPr>
                      <a:r>
                        <a:rPr lang="en-US" sz="1100" b="1" dirty="0">
                          <a:solidFill>
                            <a:srgbClr val="282A30"/>
                          </a:solidFill>
                          <a:latin typeface="Titillium Web" pitchFamily="34" charset="0"/>
                          <a:ea typeface="Titillium Web" pitchFamily="34" charset="-122"/>
                          <a:cs typeface="Titillium Web" pitchFamily="34" charset="-120"/>
                        </a:rPr>
                        <a:t>Myanmar</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82A30"/>
                          </a:solidFill>
                          <a:latin typeface="Titillium Web" pitchFamily="34" charset="0"/>
                          <a:ea typeface="Titillium Web" pitchFamily="34" charset="-122"/>
                          <a:cs typeface="Titillium Web" pitchFamily="34" charset="-120"/>
                        </a:rPr>
                        <a:t>Cards</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100" dirty="0">
                          <a:solidFill>
                            <a:srgbClr val="616366"/>
                          </a:solidFill>
                          <a:latin typeface="Titillium Web" pitchFamily="34" charset="0"/>
                          <a:ea typeface="Titillium Web" pitchFamily="34" charset="-122"/>
                          <a:cs typeface="Titillium Web" pitchFamily="34" charset="-120"/>
                        </a:rPr>
                        <a:t>Not available</a:t>
                      </a:r>
                      <a:endParaRPr lang="en-US" sz="1100" dirty="0">
                        <a:latin typeface="Titillium Web" charset="0"/>
                        <a:ea typeface="Titillium Web" charset="0"/>
                        <a:cs typeface="Titillium Web" charset="0"/>
                      </a:endParaRPr>
                    </a:p>
                  </a:txBody>
                  <a:tcPr marL="91440" marR="91440" marT="36576" marB="36576"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548640" y="5760720"/>
            <a:ext cx="11091672" cy="365760"/>
          </a:xfrm>
          <a:prstGeom prst="rect">
            <a:avLst/>
          </a:prstGeom>
          <a:noFill/>
          <a:ln/>
        </p:spPr>
        <p:txBody>
          <a:bodyPr wrap="square" lIns="0" tIns="0" rIns="0" bIns="0" rtlCol="0" anchor="t"/>
          <a:lstStyle/>
          <a:p>
            <a:pPr indent="0" marL="0">
              <a:buNone/>
            </a:pPr>
            <a:r>
              <a:rPr lang="en-US" sz="950" i="1" dirty="0">
                <a:solidFill>
                  <a:srgbClr val="616366"/>
                </a:solidFill>
                <a:latin typeface="Titillium Web" pitchFamily="34" charset="0"/>
                <a:ea typeface="Titillium Web" pitchFamily="34" charset="-122"/>
                <a:cs typeface="Titillium Web" pitchFamily="34" charset="-120"/>
              </a:rPr>
              <a:t>Through Yuno, 2C2P is connected for card processing. 2C2P's own local methods can be scoped as an extension of the existing connection.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348472" cy="256032"/>
          </a:xfrm>
          <a:prstGeom prst="rect">
            <a:avLst/>
          </a:prstGeom>
          <a:noFill/>
          <a:ln/>
        </p:spPr>
        <p:txBody>
          <a:bodyPr wrap="square" lIns="0" tIns="0" rIns="0" bIns="0" rtlCol="0" anchor="t"/>
          <a:lstStyle/>
          <a:p>
            <a:pPr indent="0" marL="0">
              <a:buNone/>
            </a:pPr>
            <a:r>
              <a:rPr lang="en-US" sz="1050" b="1" spc="300" kern="0" dirty="0">
                <a:solidFill>
                  <a:srgbClr val="3E4FE0"/>
                </a:solidFill>
                <a:latin typeface="Titillium Web" pitchFamily="34" charset="0"/>
                <a:ea typeface="Titillium Web" pitchFamily="34" charset="-122"/>
                <a:cs typeface="Titillium Web" pitchFamily="34" charset="-120"/>
              </a:rPr>
              <a:t>ISRAEL</a:t>
            </a:r>
            <a:endParaRPr lang="en-US" sz="1050" dirty="0"/>
          </a:p>
        </p:txBody>
      </p:sp>
      <p:sp>
        <p:nvSpPr>
          <p:cNvPr id="3" name="Text 1"/>
          <p:cNvSpPr txBox="1"/>
          <p:nvPr/>
        </p:nvSpPr>
        <p:spPr>
          <a:xfrm>
            <a:off x="548640" y="676656"/>
            <a:ext cx="11091672" cy="868680"/>
          </a:xfrm>
          <a:prstGeom prst="rect">
            <a:avLst/>
          </a:prstGeom>
          <a:noFill/>
          <a:ln/>
        </p:spPr>
        <p:txBody>
          <a:bodyPr wrap="square" lIns="0" tIns="0" rIns="0" bIns="0" rtlCol="0" anchor="t">
            <a:normAutofit/>
          </a:bodyPr>
          <a:lstStyle/>
          <a:p>
            <a:pPr indent="0" marL="0">
              <a:buNone/>
            </a:pPr>
            <a:r>
              <a:rPr lang="en-US" sz="2400" b="1" dirty="0">
                <a:solidFill>
                  <a:srgbClr val="282A30"/>
                </a:solidFill>
                <a:latin typeface="Titillium Web" pitchFamily="34" charset="0"/>
                <a:ea typeface="Titillium Web" pitchFamily="34" charset="-122"/>
                <a:cs typeface="Titillium Web" pitchFamily="34" charset="-120"/>
              </a:rPr>
              <a:t>PayPlus is not yet in Yuno's catalog; Israel is live today through global acquirers and wallets</a:t>
            </a:r>
            <a:endParaRPr lang="en-US" sz="2400" dirty="0"/>
          </a:p>
        </p:txBody>
      </p:sp>
      <p:sp>
        <p:nvSpPr>
          <p:cNvPr id="4" name="Shape 2"/>
          <p:cNvSpPr/>
          <p:nvPr/>
        </p:nvSpPr>
        <p:spPr>
          <a:xfrm>
            <a:off x="548640" y="6263640"/>
            <a:ext cx="11091672" cy="0"/>
          </a:xfrm>
          <a:prstGeom prst="line">
            <a:avLst/>
          </a:prstGeom>
          <a:noFill/>
          <a:ln w="9525">
            <a:solidFill>
              <a:srgbClr val="D1D5DB"/>
            </a:solidFill>
            <a:prstDash val="solid"/>
          </a:ln>
        </p:spPr>
      </p:sp>
      <p:sp>
        <p:nvSpPr>
          <p:cNvPr id="5" name="Text 3"/>
          <p:cNvSpPr txBox="1"/>
          <p:nvPr/>
        </p:nvSpPr>
        <p:spPr>
          <a:xfrm>
            <a:off x="548640" y="6327648"/>
            <a:ext cx="7863840" cy="365760"/>
          </a:xfrm>
          <a:prstGeom prst="rect">
            <a:avLst/>
          </a:prstGeom>
          <a:noFill/>
          <a:ln/>
        </p:spPr>
        <p:txBody>
          <a:bodyPr wrap="square" lIns="0" tIns="0" rIns="0" bIns="0" rtlCol="0" anchor="t"/>
          <a:lstStyle/>
          <a:p>
            <a:pPr indent="0" marL="0">
              <a:buNone/>
            </a:pPr>
            <a:r>
              <a:rPr lang="en-US" sz="800" dirty="0">
                <a:solidFill>
                  <a:srgbClr val="616366"/>
                </a:solidFill>
                <a:latin typeface="Titillium Web" pitchFamily="34" charset="0"/>
                <a:ea typeface="Titillium Web" pitchFamily="34" charset="-122"/>
                <a:cs typeface="Titillium Web" pitchFamily="34" charset="-120"/>
              </a:rPr>
              <a:t>Source: Yuno API reference, Payment Type list (docs.y.uno) and Yuno Integrations Directory (y.uno/integrations), Oct 2026</a:t>
            </a:r>
            <a:endParaRPr lang="en-US" sz="800" dirty="0"/>
          </a:p>
        </p:txBody>
      </p:sp>
      <p:sp>
        <p:nvSpPr>
          <p:cNvPr id="6" name="Text 4"/>
          <p:cNvSpPr txBox="1"/>
          <p:nvPr/>
        </p:nvSpPr>
        <p:spPr>
          <a:xfrm>
            <a:off x="7799832" y="6327648"/>
            <a:ext cx="3291840" cy="228600"/>
          </a:xfrm>
          <a:prstGeom prst="rect">
            <a:avLst/>
          </a:prstGeom>
          <a:noFill/>
          <a:ln/>
        </p:spPr>
        <p:txBody>
          <a:bodyPr wrap="square" lIns="0" tIns="0" rIns="0" bIns="0" rtlCol="0" anchor="t"/>
          <a:lstStyle/>
          <a:p>
            <a:pPr algn="r" indent="0" marL="0">
              <a:buNone/>
            </a:pPr>
            <a:r>
              <a:rPr lang="en-US" sz="800" dirty="0">
                <a:solidFill>
                  <a:srgbClr val="616366"/>
                </a:solidFill>
                <a:latin typeface="Titillium Web" pitchFamily="34" charset="0"/>
                <a:ea typeface="Titillium Web" pitchFamily="34" charset="-122"/>
                <a:cs typeface="Titillium Web" pitchFamily="34" charset="-120"/>
              </a:rPr>
              <a:t>Yuno × adidas · Confidential</a:t>
            </a:r>
            <a:endParaRPr lang="en-US" sz="800" dirty="0"/>
          </a:p>
        </p:txBody>
      </p:sp>
      <p:sp>
        <p:nvSpPr>
          <p:cNvPr id="7" name="Text 5"/>
          <p:cNvSpPr txBox="1"/>
          <p:nvPr/>
        </p:nvSpPr>
        <p:spPr>
          <a:xfrm>
            <a:off x="11183112" y="6327648"/>
            <a:ext cx="457200" cy="228600"/>
          </a:xfrm>
          <a:prstGeom prst="rect">
            <a:avLst/>
          </a:prstGeom>
          <a:noFill/>
          <a:ln/>
        </p:spPr>
        <p:txBody>
          <a:bodyPr wrap="square" lIns="0" tIns="0" rIns="0" bIns="0" rtlCol="0" anchor="t"/>
          <a:lstStyle/>
          <a:p>
            <a:pPr algn="r" indent="0" marL="0">
              <a:buNone/>
            </a:pPr>
            <a:r>
              <a:rPr lang="en-US" sz="800" b="1" dirty="0">
                <a:solidFill>
                  <a:srgbClr val="282A30"/>
                </a:solidFill>
                <a:latin typeface="Titillium Web" pitchFamily="34" charset="0"/>
                <a:ea typeface="Titillium Web" pitchFamily="34" charset="-122"/>
                <a:cs typeface="Titillium Web" pitchFamily="34" charset="-120"/>
              </a:rPr>
              <a:t>06</a:t>
            </a:r>
            <a:endParaRPr lang="en-US" sz="800" dirty="0"/>
          </a:p>
        </p:txBody>
      </p:sp>
      <p:sp>
        <p:nvSpPr>
          <p:cNvPr id="9" name="Text 6"/>
          <p:cNvSpPr txBox="1"/>
          <p:nvPr/>
        </p:nvSpPr>
        <p:spPr>
          <a:xfrm>
            <a:off x="548640" y="1691640"/>
            <a:ext cx="5362956" cy="274320"/>
          </a:xfrm>
          <a:prstGeom prst="rect">
            <a:avLst/>
          </a:prstGeom>
          <a:noFill/>
          <a:ln/>
        </p:spPr>
        <p:txBody>
          <a:bodyPr wrap="square" lIns="0" tIns="0" rIns="0" bIns="0" rtlCol="0" anchor="t"/>
          <a:lstStyle/>
          <a:p>
            <a:pPr indent="0" marL="0">
              <a:buNone/>
            </a:pPr>
            <a:r>
              <a:rPr lang="en-US" sz="1100" b="1" spc="200" kern="0" dirty="0">
                <a:solidFill>
                  <a:srgbClr val="282A30"/>
                </a:solidFill>
                <a:latin typeface="Titillium Web" pitchFamily="34" charset="0"/>
                <a:ea typeface="Titillium Web" pitchFamily="34" charset="-122"/>
                <a:cs typeface="Titillium Web" pitchFamily="34" charset="-120"/>
              </a:rPr>
              <a:t>PAYPLUS: NEW CONNECTION</a:t>
            </a:r>
            <a:endParaRPr lang="en-US" sz="1100" dirty="0"/>
          </a:p>
        </p:txBody>
      </p:sp>
      <p:sp>
        <p:nvSpPr>
          <p:cNvPr id="10" name="Shape 7"/>
          <p:cNvSpPr/>
          <p:nvPr/>
        </p:nvSpPr>
        <p:spPr>
          <a:xfrm>
            <a:off x="548640" y="2002536"/>
            <a:ext cx="5362956" cy="0"/>
          </a:xfrm>
          <a:prstGeom prst="line">
            <a:avLst/>
          </a:prstGeom>
          <a:noFill/>
          <a:ln w="19050">
            <a:solidFill>
              <a:srgbClr val="282A30"/>
            </a:solidFill>
            <a:prstDash val="solid"/>
          </a:ln>
        </p:spPr>
      </p:sp>
      <p:sp>
        <p:nvSpPr>
          <p:cNvPr id="11" name="Text 8"/>
          <p:cNvSpPr txBox="1"/>
          <p:nvPr/>
        </p:nvSpPr>
        <p:spPr>
          <a:xfrm>
            <a:off x="548640" y="2148840"/>
            <a:ext cx="5362956" cy="731520"/>
          </a:xfrm>
          <a:prstGeom prst="rect">
            <a:avLst/>
          </a:prstGeom>
          <a:noFill/>
          <a:ln/>
        </p:spPr>
        <p:txBody>
          <a:bodyPr wrap="square" lIns="0" tIns="0" rIns="0" bIns="0" rtlCol="0" anchor="t"/>
          <a:lstStyle/>
          <a:p>
            <a:pPr indent="0" marL="0">
              <a:buNone/>
            </a:pPr>
            <a:r>
              <a:rPr lang="en-US" sz="1300" b="1" dirty="0">
                <a:solidFill>
                  <a:srgbClr val="282A30"/>
                </a:solidFill>
                <a:latin typeface="Titillium Web" pitchFamily="34" charset="0"/>
                <a:ea typeface="Titillium Web" pitchFamily="34" charset="-122"/>
                <a:cs typeface="Titillium Web" pitchFamily="34" charset="-120"/>
              </a:rPr>
              <a:t>Status.</a:t>
            </a:r>
            <a:endParaRPr lang="en-US" sz="1300" dirty="0"/>
          </a:p>
          <a:p>
            <a:pPr indent="0" marL="0">
              <a:buNone/>
            </a:pPr>
            <a:r>
              <a:rPr lang="en-US" sz="1100" dirty="0">
                <a:solidFill>
                  <a:srgbClr val="282A30"/>
                </a:solidFill>
                <a:latin typeface="Titillium Web" pitchFamily="34" charset="0"/>
                <a:ea typeface="Titillium Web" pitchFamily="34" charset="-122"/>
                <a:cs typeface="Titillium Web" pitchFamily="34" charset="-120"/>
              </a:rPr>
              <a:t>Not in Yuno's current catalog. Built as a new connection on request.</a:t>
            </a:r>
            <a:endParaRPr lang="en-US" sz="1300" dirty="0"/>
          </a:p>
        </p:txBody>
      </p:sp>
      <p:sp>
        <p:nvSpPr>
          <p:cNvPr id="12" name="Text 9"/>
          <p:cNvSpPr txBox="1"/>
          <p:nvPr/>
        </p:nvSpPr>
        <p:spPr>
          <a:xfrm>
            <a:off x="548640" y="2971800"/>
            <a:ext cx="5362956" cy="731520"/>
          </a:xfrm>
          <a:prstGeom prst="rect">
            <a:avLst/>
          </a:prstGeom>
          <a:noFill/>
          <a:ln/>
        </p:spPr>
        <p:txBody>
          <a:bodyPr wrap="square" lIns="0" tIns="0" rIns="0" bIns="0" rtlCol="0" anchor="t"/>
          <a:lstStyle/>
          <a:p>
            <a:pPr indent="0" marL="0">
              <a:buNone/>
            </a:pPr>
            <a:r>
              <a:rPr lang="en-US" sz="1300" b="1" dirty="0">
                <a:solidFill>
                  <a:srgbClr val="282A30"/>
                </a:solidFill>
                <a:latin typeface="Titillium Web" pitchFamily="34" charset="0"/>
                <a:ea typeface="Titillium Web" pitchFamily="34" charset="-122"/>
                <a:cs typeface="Titillium Web" pitchFamily="34" charset="-120"/>
              </a:rPr>
              <a:t>What we need.</a:t>
            </a:r>
            <a:endParaRPr lang="en-US" sz="1300" dirty="0"/>
          </a:p>
          <a:p>
            <a:pPr indent="0" marL="0">
              <a:buNone/>
            </a:pPr>
            <a:r>
              <a:rPr lang="en-US" sz="1100" dirty="0">
                <a:solidFill>
                  <a:srgbClr val="282A30"/>
                </a:solidFill>
                <a:latin typeface="Titillium Web" pitchFamily="34" charset="0"/>
                <a:ea typeface="Titillium Web" pitchFamily="34" charset="-122"/>
                <a:cs typeface="Titillium Web" pitchFamily="34" charset="-120"/>
              </a:rPr>
              <a:t>adidas's PayPlus account setup, the methods you want on it, and expected volume in Israel.</a:t>
            </a:r>
            <a:endParaRPr lang="en-US" sz="1300" dirty="0"/>
          </a:p>
        </p:txBody>
      </p:sp>
      <p:sp>
        <p:nvSpPr>
          <p:cNvPr id="13" name="Text 10"/>
          <p:cNvSpPr txBox="1"/>
          <p:nvPr/>
        </p:nvSpPr>
        <p:spPr>
          <a:xfrm>
            <a:off x="548640" y="3794760"/>
            <a:ext cx="5362956" cy="731520"/>
          </a:xfrm>
          <a:prstGeom prst="rect">
            <a:avLst/>
          </a:prstGeom>
          <a:noFill/>
          <a:ln/>
        </p:spPr>
        <p:txBody>
          <a:bodyPr wrap="square" lIns="0" tIns="0" rIns="0" bIns="0" rtlCol="0" anchor="t"/>
          <a:lstStyle/>
          <a:p>
            <a:pPr indent="0" marL="0">
              <a:buNone/>
            </a:pPr>
            <a:r>
              <a:rPr lang="en-US" sz="1300" b="1" dirty="0">
                <a:solidFill>
                  <a:srgbClr val="282A30"/>
                </a:solidFill>
                <a:latin typeface="Titillium Web" pitchFamily="34" charset="0"/>
                <a:ea typeface="Titillium Web" pitchFamily="34" charset="-122"/>
                <a:cs typeface="Titillium Web" pitchFamily="34" charset="-120"/>
              </a:rPr>
              <a:t>Same integration.</a:t>
            </a:r>
            <a:endParaRPr lang="en-US" sz="1300" dirty="0"/>
          </a:p>
          <a:p>
            <a:pPr indent="0" marL="0">
              <a:buNone/>
            </a:pPr>
            <a:r>
              <a:rPr lang="en-US" sz="1100" dirty="0">
                <a:solidFill>
                  <a:srgbClr val="282A30"/>
                </a:solidFill>
                <a:latin typeface="Titillium Web" pitchFamily="34" charset="0"/>
                <a:ea typeface="Titillium Web" pitchFamily="34" charset="-122"/>
                <a:cs typeface="Titillium Web" pitchFamily="34" charset="-120"/>
              </a:rPr>
              <a:t>Once built, PayPlus sits behind the same Yuno API and routing as every other provider. No extra work on the adidas side.</a:t>
            </a:r>
            <a:endParaRPr lang="en-US" sz="1300" dirty="0"/>
          </a:p>
        </p:txBody>
      </p:sp>
      <p:sp>
        <p:nvSpPr>
          <p:cNvPr id="14" name="Text 11"/>
          <p:cNvSpPr txBox="1"/>
          <p:nvPr/>
        </p:nvSpPr>
        <p:spPr>
          <a:xfrm>
            <a:off x="6277356" y="1691640"/>
            <a:ext cx="5362956" cy="274320"/>
          </a:xfrm>
          <a:prstGeom prst="rect">
            <a:avLst/>
          </a:prstGeom>
          <a:noFill/>
          <a:ln/>
        </p:spPr>
        <p:txBody>
          <a:bodyPr wrap="square" lIns="0" tIns="0" rIns="0" bIns="0" rtlCol="0" anchor="t"/>
          <a:lstStyle/>
          <a:p>
            <a:pPr indent="0" marL="0">
              <a:buNone/>
            </a:pPr>
            <a:r>
              <a:rPr lang="en-US" sz="1100" b="1" spc="200" kern="0" dirty="0">
                <a:solidFill>
                  <a:srgbClr val="3E4FE0"/>
                </a:solidFill>
                <a:latin typeface="Titillium Web" pitchFamily="34" charset="0"/>
                <a:ea typeface="Titillium Web" pitchFamily="34" charset="-122"/>
                <a:cs typeface="Titillium Web" pitchFamily="34" charset="-120"/>
              </a:rPr>
              <a:t>LIVE IN ISRAEL THROUGH YUNO TODAY</a:t>
            </a:r>
            <a:endParaRPr lang="en-US" sz="1100" dirty="0"/>
          </a:p>
        </p:txBody>
      </p:sp>
      <p:sp>
        <p:nvSpPr>
          <p:cNvPr id="15" name="Shape 12"/>
          <p:cNvSpPr/>
          <p:nvPr/>
        </p:nvSpPr>
        <p:spPr>
          <a:xfrm>
            <a:off x="6277356" y="2002536"/>
            <a:ext cx="5362956" cy="0"/>
          </a:xfrm>
          <a:prstGeom prst="line">
            <a:avLst/>
          </a:prstGeom>
          <a:noFill/>
          <a:ln w="19050">
            <a:solidFill>
              <a:srgbClr val="3E4FE0"/>
            </a:solidFill>
            <a:prstDash val="solid"/>
          </a:ln>
        </p:spPr>
      </p:sp>
      <p:sp>
        <p:nvSpPr>
          <p:cNvPr id="16" name="Text 13"/>
          <p:cNvSpPr txBox="1"/>
          <p:nvPr/>
        </p:nvSpPr>
        <p:spPr>
          <a:xfrm>
            <a:off x="6277356" y="2148840"/>
            <a:ext cx="5362956" cy="731520"/>
          </a:xfrm>
          <a:prstGeom prst="rect">
            <a:avLst/>
          </a:prstGeom>
          <a:noFill/>
          <a:ln/>
        </p:spPr>
        <p:txBody>
          <a:bodyPr wrap="square" lIns="0" tIns="0" rIns="0" bIns="0" rtlCol="0" anchor="t"/>
          <a:lstStyle/>
          <a:p>
            <a:pPr indent="0" marL="0">
              <a:buNone/>
            </a:pPr>
            <a:r>
              <a:rPr lang="en-US" sz="1300" b="1" dirty="0">
                <a:solidFill>
                  <a:srgbClr val="282A30"/>
                </a:solidFill>
                <a:latin typeface="Titillium Web" pitchFamily="34" charset="0"/>
                <a:ea typeface="Titillium Web" pitchFamily="34" charset="-122"/>
                <a:cs typeface="Titillium Web" pitchFamily="34" charset="-120"/>
              </a:rPr>
              <a:t>Card processing.</a:t>
            </a:r>
            <a:endParaRPr lang="en-US" sz="1300" dirty="0"/>
          </a:p>
          <a:p>
            <a:pPr indent="0" marL="0">
              <a:buNone/>
            </a:pPr>
            <a:r>
              <a:rPr lang="en-US" sz="1100" dirty="0">
                <a:solidFill>
                  <a:srgbClr val="282A30"/>
                </a:solidFill>
                <a:latin typeface="Titillium Web" pitchFamily="34" charset="0"/>
                <a:ea typeface="Titillium Web" pitchFamily="34" charset="-122"/>
                <a:cs typeface="Titillium Web" pitchFamily="34" charset="-120"/>
              </a:rPr>
              <a:t>Cybersource, Nuvei, Worldline, Ecommpay</a:t>
            </a:r>
            <a:endParaRPr lang="en-US" sz="1300" dirty="0"/>
          </a:p>
        </p:txBody>
      </p:sp>
      <p:sp>
        <p:nvSpPr>
          <p:cNvPr id="17" name="Text 14"/>
          <p:cNvSpPr txBox="1"/>
          <p:nvPr/>
        </p:nvSpPr>
        <p:spPr>
          <a:xfrm>
            <a:off x="6277356" y="2971800"/>
            <a:ext cx="5362956" cy="731520"/>
          </a:xfrm>
          <a:prstGeom prst="rect">
            <a:avLst/>
          </a:prstGeom>
          <a:noFill/>
          <a:ln/>
        </p:spPr>
        <p:txBody>
          <a:bodyPr wrap="square" lIns="0" tIns="0" rIns="0" bIns="0" rtlCol="0" anchor="t"/>
          <a:lstStyle/>
          <a:p>
            <a:pPr indent="0" marL="0">
              <a:buNone/>
            </a:pPr>
            <a:r>
              <a:rPr lang="en-US" sz="1300" b="1" dirty="0">
                <a:solidFill>
                  <a:srgbClr val="282A30"/>
                </a:solidFill>
                <a:latin typeface="Titillium Web" pitchFamily="34" charset="0"/>
                <a:ea typeface="Titillium Web" pitchFamily="34" charset="-122"/>
                <a:cs typeface="Titillium Web" pitchFamily="34" charset="-120"/>
              </a:rPr>
              <a:t>Wallets.</a:t>
            </a:r>
            <a:endParaRPr lang="en-US" sz="1300" dirty="0"/>
          </a:p>
          <a:p>
            <a:pPr indent="0" marL="0">
              <a:buNone/>
            </a:pPr>
            <a:r>
              <a:rPr lang="en-US" sz="1100" dirty="0">
                <a:solidFill>
                  <a:srgbClr val="282A30"/>
                </a:solidFill>
                <a:latin typeface="Titillium Web" pitchFamily="34" charset="0"/>
                <a:ea typeface="Titillium Web" pitchFamily="34" charset="-122"/>
                <a:cs typeface="Titillium Web" pitchFamily="34" charset="-120"/>
              </a:rPr>
              <a:t>Apple Pay, Google Pay, PayPal</a:t>
            </a:r>
            <a:endParaRPr lang="en-US" sz="1300" dirty="0"/>
          </a:p>
        </p:txBody>
      </p:sp>
      <p:sp>
        <p:nvSpPr>
          <p:cNvPr id="18" name="Text 15"/>
          <p:cNvSpPr txBox="1"/>
          <p:nvPr/>
        </p:nvSpPr>
        <p:spPr>
          <a:xfrm>
            <a:off x="6277356" y="3794760"/>
            <a:ext cx="5362956" cy="731520"/>
          </a:xfrm>
          <a:prstGeom prst="rect">
            <a:avLst/>
          </a:prstGeom>
          <a:noFill/>
          <a:ln/>
        </p:spPr>
        <p:txBody>
          <a:bodyPr wrap="square" lIns="0" tIns="0" rIns="0" bIns="0" rtlCol="0" anchor="t"/>
          <a:lstStyle/>
          <a:p>
            <a:pPr indent="0" marL="0">
              <a:buNone/>
            </a:pPr>
            <a:r>
              <a:rPr lang="en-US" sz="1300" b="1" dirty="0">
                <a:solidFill>
                  <a:srgbClr val="282A30"/>
                </a:solidFill>
                <a:latin typeface="Titillium Web" pitchFamily="34" charset="0"/>
                <a:ea typeface="Titillium Web" pitchFamily="34" charset="-122"/>
                <a:cs typeface="Titillium Web" pitchFamily="34" charset="-120"/>
              </a:rPr>
              <a:t>Fraud and 3DS.</a:t>
            </a:r>
            <a:endParaRPr lang="en-US" sz="1300" dirty="0"/>
          </a:p>
          <a:p>
            <a:pPr indent="0" marL="0">
              <a:buNone/>
            </a:pPr>
            <a:r>
              <a:rPr lang="en-US" sz="1100" dirty="0">
                <a:solidFill>
                  <a:srgbClr val="282A30"/>
                </a:solidFill>
                <a:latin typeface="Titillium Web" pitchFamily="34" charset="0"/>
                <a:ea typeface="Titillium Web" pitchFamily="34" charset="-122"/>
                <a:cs typeface="Titillium Web" pitchFamily="34" charset="-120"/>
              </a:rPr>
              <a:t>Clearsale, Netcetera (3DS)</a:t>
            </a:r>
            <a:endParaRPr lang="en-US" sz="1300" dirty="0"/>
          </a:p>
        </p:txBody>
      </p:sp>
      <p:sp>
        <p:nvSpPr>
          <p:cNvPr id="19" name="Shape 16"/>
          <p:cNvSpPr/>
          <p:nvPr/>
        </p:nvSpPr>
        <p:spPr>
          <a:xfrm>
            <a:off x="548640" y="4983480"/>
            <a:ext cx="11091672" cy="868680"/>
          </a:xfrm>
          <a:prstGeom prst="rect">
            <a:avLst/>
          </a:prstGeom>
          <a:solidFill>
            <a:srgbClr val="E8EAF5"/>
          </a:solidFill>
          <a:ln w="12700">
            <a:solidFill>
              <a:srgbClr val="E8EAF5"/>
            </a:solidFill>
            <a:prstDash val="solid"/>
          </a:ln>
        </p:spPr>
      </p:sp>
      <p:sp>
        <p:nvSpPr>
          <p:cNvPr id="20" name="Shape 17"/>
          <p:cNvSpPr/>
          <p:nvPr/>
        </p:nvSpPr>
        <p:spPr>
          <a:xfrm>
            <a:off x="548640" y="4983480"/>
            <a:ext cx="64008" cy="868680"/>
          </a:xfrm>
          <a:prstGeom prst="rect">
            <a:avLst/>
          </a:prstGeom>
          <a:solidFill>
            <a:srgbClr val="3E4FE0"/>
          </a:solidFill>
          <a:ln w="12700">
            <a:solidFill>
              <a:srgbClr val="3E4FE0"/>
            </a:solidFill>
            <a:prstDash val="solid"/>
          </a:ln>
        </p:spPr>
      </p:sp>
      <p:sp>
        <p:nvSpPr>
          <p:cNvPr id="21" name="Text 18"/>
          <p:cNvSpPr txBox="1"/>
          <p:nvPr/>
        </p:nvSpPr>
        <p:spPr>
          <a:xfrm>
            <a:off x="777240" y="5074920"/>
            <a:ext cx="10725912" cy="685800"/>
          </a:xfrm>
          <a:prstGeom prst="rect">
            <a:avLst/>
          </a:prstGeom>
          <a:noFill/>
          <a:ln/>
        </p:spPr>
        <p:txBody>
          <a:bodyPr wrap="square" lIns="0" tIns="0" rIns="0" bIns="0" rtlCol="0" anchor="t"/>
          <a:lstStyle/>
          <a:p>
            <a:pPr indent="0" marL="0">
              <a:buNone/>
            </a:pPr>
            <a:r>
              <a:rPr lang="en-US" sz="1000" b="1" spc="200" kern="0" dirty="0">
                <a:solidFill>
                  <a:srgbClr val="3E4FE0"/>
                </a:solidFill>
                <a:latin typeface="Titillium Web" pitchFamily="34" charset="0"/>
                <a:ea typeface="Titillium Web" pitchFamily="34" charset="-122"/>
                <a:cs typeface="Titillium Web" pitchFamily="34" charset="-120"/>
              </a:rPr>
              <a:t>GOOD TO KNOW</a:t>
            </a:r>
            <a:endParaRPr lang="en-US" sz="1000" dirty="0"/>
          </a:p>
          <a:p>
            <a:pPr indent="0" marL="0">
              <a:buNone/>
            </a:pPr>
            <a:r>
              <a:rPr lang="en-US" sz="1100" dirty="0">
                <a:solidFill>
                  <a:srgbClr val="282A30"/>
                </a:solidFill>
                <a:latin typeface="Titillium Web" pitchFamily="34" charset="0"/>
                <a:ea typeface="Titillium Web" pitchFamily="34" charset="-122"/>
                <a:cs typeface="Titillium Web" pitchFamily="34" charset="-120"/>
              </a:rPr>
              <a:t>While PayPlus is scoped, adidas can process in Israel through any of the live providers on the right, and move volume to PayPlus through routing once it is connected.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348472" cy="256032"/>
          </a:xfrm>
          <a:prstGeom prst="rect">
            <a:avLst/>
          </a:prstGeom>
          <a:noFill/>
          <a:ln/>
        </p:spPr>
        <p:txBody>
          <a:bodyPr wrap="square" lIns="0" tIns="0" rIns="0" bIns="0" rtlCol="0" anchor="t"/>
          <a:lstStyle/>
          <a:p>
            <a:pPr indent="0" marL="0">
              <a:buNone/>
            </a:pPr>
            <a:r>
              <a:rPr lang="en-US" sz="1050" b="1" spc="300" kern="0" dirty="0">
                <a:solidFill>
                  <a:srgbClr val="3E4FE0"/>
                </a:solidFill>
                <a:latin typeface="Titillium Web" pitchFamily="34" charset="0"/>
                <a:ea typeface="Titillium Web" pitchFamily="34" charset="-122"/>
                <a:cs typeface="Titillium Web" pitchFamily="34" charset="-120"/>
              </a:rPr>
              <a:t>NEXT STEP</a:t>
            </a:r>
            <a:endParaRPr lang="en-US" sz="1050" dirty="0"/>
          </a:p>
        </p:txBody>
      </p:sp>
      <p:sp>
        <p:nvSpPr>
          <p:cNvPr id="3" name="Text 1"/>
          <p:cNvSpPr txBox="1"/>
          <p:nvPr/>
        </p:nvSpPr>
        <p:spPr>
          <a:xfrm>
            <a:off x="548640" y="676656"/>
            <a:ext cx="11091672" cy="868680"/>
          </a:xfrm>
          <a:prstGeom prst="rect">
            <a:avLst/>
          </a:prstGeom>
          <a:noFill/>
          <a:ln/>
        </p:spPr>
        <p:txBody>
          <a:bodyPr wrap="square" lIns="0" tIns="0" rIns="0" bIns="0" rtlCol="0" anchor="t">
            <a:normAutofit/>
          </a:bodyPr>
          <a:lstStyle/>
          <a:p>
            <a:pPr indent="0" marL="0">
              <a:buNone/>
            </a:pPr>
            <a:r>
              <a:rPr lang="en-US" sz="2400" b="1" dirty="0">
                <a:solidFill>
                  <a:srgbClr val="282A30"/>
                </a:solidFill>
                <a:latin typeface="Titillium Web" pitchFamily="34" charset="0"/>
                <a:ea typeface="Titillium Web" pitchFamily="34" charset="-122"/>
                <a:cs typeface="Titillium Web" pitchFamily="34" charset="-120"/>
              </a:rPr>
              <a:t>Share the country list and we will narrow this to your markets</a:t>
            </a:r>
            <a:endParaRPr lang="en-US" sz="2400" dirty="0"/>
          </a:p>
        </p:txBody>
      </p:sp>
      <p:sp>
        <p:nvSpPr>
          <p:cNvPr id="4" name="Shape 2"/>
          <p:cNvSpPr/>
          <p:nvPr/>
        </p:nvSpPr>
        <p:spPr>
          <a:xfrm>
            <a:off x="548640" y="6263640"/>
            <a:ext cx="11091672" cy="0"/>
          </a:xfrm>
          <a:prstGeom prst="line">
            <a:avLst/>
          </a:prstGeom>
          <a:noFill/>
          <a:ln w="9525">
            <a:solidFill>
              <a:srgbClr val="D1D5DB"/>
            </a:solidFill>
            <a:prstDash val="solid"/>
          </a:ln>
        </p:spPr>
      </p:sp>
      <p:sp>
        <p:nvSpPr>
          <p:cNvPr id="5" name="Text 3"/>
          <p:cNvSpPr txBox="1"/>
          <p:nvPr/>
        </p:nvSpPr>
        <p:spPr>
          <a:xfrm>
            <a:off x="548640" y="6327648"/>
            <a:ext cx="7863840" cy="365760"/>
          </a:xfrm>
          <a:prstGeom prst="rect">
            <a:avLst/>
          </a:prstGeom>
          <a:noFill/>
          <a:ln/>
        </p:spPr>
        <p:txBody>
          <a:bodyPr wrap="square" lIns="0" tIns="0" rIns="0" bIns="0" rtlCol="0" anchor="t"/>
          <a:lstStyle/>
          <a:p>
            <a:pPr indent="0" marL="0">
              <a:buNone/>
            </a:pPr>
            <a:r>
              <a:rPr lang="en-US" sz="800" dirty="0">
                <a:solidFill>
                  <a:srgbClr val="616366"/>
                </a:solidFill>
                <a:latin typeface="Titillium Web" pitchFamily="34" charset="0"/>
                <a:ea typeface="Titillium Web" pitchFamily="34" charset="-122"/>
                <a:cs typeface="Titillium Web" pitchFamily="34" charset="-120"/>
              </a:rPr>
              <a:t>Source: Yuno API reference, Payment Type list (docs.y.uno) and Yuno Integrations Directory (y.uno/integrations), Oct 2026</a:t>
            </a:r>
            <a:endParaRPr lang="en-US" sz="800" dirty="0"/>
          </a:p>
        </p:txBody>
      </p:sp>
      <p:sp>
        <p:nvSpPr>
          <p:cNvPr id="6" name="Text 4"/>
          <p:cNvSpPr txBox="1"/>
          <p:nvPr/>
        </p:nvSpPr>
        <p:spPr>
          <a:xfrm>
            <a:off x="7799832" y="6327648"/>
            <a:ext cx="3291840" cy="228600"/>
          </a:xfrm>
          <a:prstGeom prst="rect">
            <a:avLst/>
          </a:prstGeom>
          <a:noFill/>
          <a:ln/>
        </p:spPr>
        <p:txBody>
          <a:bodyPr wrap="square" lIns="0" tIns="0" rIns="0" bIns="0" rtlCol="0" anchor="t"/>
          <a:lstStyle/>
          <a:p>
            <a:pPr algn="r" indent="0" marL="0">
              <a:buNone/>
            </a:pPr>
            <a:r>
              <a:rPr lang="en-US" sz="800" dirty="0">
                <a:solidFill>
                  <a:srgbClr val="616366"/>
                </a:solidFill>
                <a:latin typeface="Titillium Web" pitchFamily="34" charset="0"/>
                <a:ea typeface="Titillium Web" pitchFamily="34" charset="-122"/>
                <a:cs typeface="Titillium Web" pitchFamily="34" charset="-120"/>
              </a:rPr>
              <a:t>Yuno × adidas · Confidential</a:t>
            </a:r>
            <a:endParaRPr lang="en-US" sz="800" dirty="0"/>
          </a:p>
        </p:txBody>
      </p:sp>
      <p:sp>
        <p:nvSpPr>
          <p:cNvPr id="7" name="Text 5"/>
          <p:cNvSpPr txBox="1"/>
          <p:nvPr/>
        </p:nvSpPr>
        <p:spPr>
          <a:xfrm>
            <a:off x="11183112" y="6327648"/>
            <a:ext cx="457200" cy="228600"/>
          </a:xfrm>
          <a:prstGeom prst="rect">
            <a:avLst/>
          </a:prstGeom>
          <a:noFill/>
          <a:ln/>
        </p:spPr>
        <p:txBody>
          <a:bodyPr wrap="square" lIns="0" tIns="0" rIns="0" bIns="0" rtlCol="0" anchor="t"/>
          <a:lstStyle/>
          <a:p>
            <a:pPr algn="r" indent="0" marL="0">
              <a:buNone/>
            </a:pPr>
            <a:r>
              <a:rPr lang="en-US" sz="800" b="1" dirty="0">
                <a:solidFill>
                  <a:srgbClr val="282A30"/>
                </a:solidFill>
                <a:latin typeface="Titillium Web" pitchFamily="34" charset="0"/>
                <a:ea typeface="Titillium Web" pitchFamily="34" charset="-122"/>
                <a:cs typeface="Titillium Web" pitchFamily="34" charset="-120"/>
              </a:rPr>
              <a:t>07</a:t>
            </a:r>
            <a:endParaRPr lang="en-US" sz="800" dirty="0"/>
          </a:p>
        </p:txBody>
      </p:sp>
      <p:sp>
        <p:nvSpPr>
          <p:cNvPr id="8" name="Text 6"/>
          <p:cNvSpPr txBox="1"/>
          <p:nvPr/>
        </p:nvSpPr>
        <p:spPr>
          <a:xfrm>
            <a:off x="548640" y="1600200"/>
            <a:ext cx="731520" cy="1188720"/>
          </a:xfrm>
          <a:prstGeom prst="rect">
            <a:avLst/>
          </a:prstGeom>
          <a:noFill/>
          <a:ln/>
        </p:spPr>
        <p:txBody>
          <a:bodyPr wrap="square" lIns="0" tIns="0" rIns="0" bIns="0" rtlCol="0" anchor="t"/>
          <a:lstStyle/>
          <a:p>
            <a:pPr indent="0" marL="0">
              <a:buNone/>
            </a:pPr>
            <a:r>
              <a:rPr lang="en-US" sz="3600" b="1" dirty="0">
                <a:solidFill>
                  <a:srgbClr val="3E4FE0"/>
                </a:solidFill>
                <a:latin typeface="Titillium Web" pitchFamily="34" charset="0"/>
                <a:ea typeface="Titillium Web" pitchFamily="34" charset="-122"/>
                <a:cs typeface="Titillium Web" pitchFamily="34" charset="-120"/>
              </a:rPr>
              <a:t>1</a:t>
            </a:r>
            <a:endParaRPr lang="en-US" sz="3600" dirty="0"/>
          </a:p>
        </p:txBody>
      </p:sp>
      <p:sp>
        <p:nvSpPr>
          <p:cNvPr id="9" name="Text 7"/>
          <p:cNvSpPr txBox="1"/>
          <p:nvPr/>
        </p:nvSpPr>
        <p:spPr>
          <a:xfrm>
            <a:off x="1417320" y="1645920"/>
            <a:ext cx="10177272" cy="1143000"/>
          </a:xfrm>
          <a:prstGeom prst="rect">
            <a:avLst/>
          </a:prstGeom>
          <a:noFill/>
          <a:ln/>
        </p:spPr>
        <p:txBody>
          <a:bodyPr wrap="square" lIns="0" tIns="0" rIns="0" bIns="0" rtlCol="0" anchor="t"/>
          <a:lstStyle/>
          <a:p>
            <a:pPr indent="0" marL="0">
              <a:buNone/>
            </a:pPr>
            <a:r>
              <a:rPr lang="en-US" sz="1500" b="1" dirty="0">
                <a:solidFill>
                  <a:srgbClr val="282A30"/>
                </a:solidFill>
                <a:latin typeface="Titillium Web" pitchFamily="34" charset="0"/>
                <a:ea typeface="Titillium Web" pitchFamily="34" charset="-122"/>
                <a:cs typeface="Titillium Web" pitchFamily="34" charset="-120"/>
              </a:rPr>
              <a:t>Countries.</a:t>
            </a:r>
            <a:endParaRPr lang="en-US" sz="1500" dirty="0"/>
          </a:p>
          <a:p>
            <a:pPr indent="0" marL="0">
              <a:buNone/>
            </a:pPr>
            <a:r>
              <a:rPr lang="en-US" sz="1200" dirty="0">
                <a:solidFill>
                  <a:srgbClr val="282A30"/>
                </a:solidFill>
                <a:latin typeface="Titillium Web" pitchFamily="34" charset="0"/>
                <a:ea typeface="Titillium Web" pitchFamily="34" charset="-122"/>
                <a:cs typeface="Titillium Web" pitchFamily="34" charset="-120"/>
              </a:rPr>
              <a:t>The exact markets in LATAM, Southeast Asia and Israel where adidas needs coverage.</a:t>
            </a:r>
            <a:endParaRPr lang="en-US" sz="1500" dirty="0"/>
          </a:p>
        </p:txBody>
      </p:sp>
      <p:sp>
        <p:nvSpPr>
          <p:cNvPr id="10" name="Text 8"/>
          <p:cNvSpPr txBox="1"/>
          <p:nvPr/>
        </p:nvSpPr>
        <p:spPr>
          <a:xfrm>
            <a:off x="548640" y="2880360"/>
            <a:ext cx="731520" cy="1188720"/>
          </a:xfrm>
          <a:prstGeom prst="rect">
            <a:avLst/>
          </a:prstGeom>
          <a:noFill/>
          <a:ln/>
        </p:spPr>
        <p:txBody>
          <a:bodyPr wrap="square" lIns="0" tIns="0" rIns="0" bIns="0" rtlCol="0" anchor="t"/>
          <a:lstStyle/>
          <a:p>
            <a:pPr indent="0" marL="0">
              <a:buNone/>
            </a:pPr>
            <a:r>
              <a:rPr lang="en-US" sz="3600" b="1" dirty="0">
                <a:solidFill>
                  <a:srgbClr val="3E4FE0"/>
                </a:solidFill>
                <a:latin typeface="Titillium Web" pitchFamily="34" charset="0"/>
                <a:ea typeface="Titillium Web" pitchFamily="34" charset="-122"/>
                <a:cs typeface="Titillium Web" pitchFamily="34" charset="-120"/>
              </a:rPr>
              <a:t>2</a:t>
            </a:r>
            <a:endParaRPr lang="en-US" sz="3600" dirty="0"/>
          </a:p>
        </p:txBody>
      </p:sp>
      <p:sp>
        <p:nvSpPr>
          <p:cNvPr id="11" name="Text 9"/>
          <p:cNvSpPr txBox="1"/>
          <p:nvPr/>
        </p:nvSpPr>
        <p:spPr>
          <a:xfrm>
            <a:off x="1417320" y="2926080"/>
            <a:ext cx="10177272" cy="1143000"/>
          </a:xfrm>
          <a:prstGeom prst="rect">
            <a:avLst/>
          </a:prstGeom>
          <a:noFill/>
          <a:ln/>
        </p:spPr>
        <p:txBody>
          <a:bodyPr wrap="square" lIns="0" tIns="0" rIns="0" bIns="0" rtlCol="0" anchor="t"/>
          <a:lstStyle/>
          <a:p>
            <a:pPr indent="0" marL="0">
              <a:buNone/>
            </a:pPr>
            <a:r>
              <a:rPr lang="en-US" sz="1500" b="1" dirty="0">
                <a:solidFill>
                  <a:srgbClr val="282A30"/>
                </a:solidFill>
                <a:latin typeface="Titillium Web" pitchFamily="34" charset="0"/>
                <a:ea typeface="Titillium Web" pitchFamily="34" charset="-122"/>
                <a:cs typeface="Titillium Web" pitchFamily="34" charset="-120"/>
              </a:rPr>
              <a:t>Confirm per country.</a:t>
            </a:r>
            <a:endParaRPr lang="en-US" sz="1500" dirty="0"/>
          </a:p>
          <a:p>
            <a:pPr indent="0" marL="0">
              <a:buNone/>
            </a:pPr>
            <a:r>
              <a:rPr lang="en-US" sz="1200" dirty="0">
                <a:solidFill>
                  <a:srgbClr val="282A30"/>
                </a:solidFill>
                <a:latin typeface="Titillium Web" pitchFamily="34" charset="0"/>
                <a:ea typeface="Titillium Web" pitchFamily="34" charset="-122"/>
                <a:cs typeface="Titillium Web" pitchFamily="34" charset="-120"/>
              </a:rPr>
              <a:t>Yuno confirms method activation with each provider for those markets and flags any gap.</a:t>
            </a:r>
            <a:endParaRPr lang="en-US" sz="1500" dirty="0"/>
          </a:p>
        </p:txBody>
      </p:sp>
      <p:sp>
        <p:nvSpPr>
          <p:cNvPr id="12" name="Text 10"/>
          <p:cNvSpPr txBox="1"/>
          <p:nvPr/>
        </p:nvSpPr>
        <p:spPr>
          <a:xfrm>
            <a:off x="548640" y="4160520"/>
            <a:ext cx="731520" cy="1188720"/>
          </a:xfrm>
          <a:prstGeom prst="rect">
            <a:avLst/>
          </a:prstGeom>
          <a:noFill/>
          <a:ln/>
        </p:spPr>
        <p:txBody>
          <a:bodyPr wrap="square" lIns="0" tIns="0" rIns="0" bIns="0" rtlCol="0" anchor="t"/>
          <a:lstStyle/>
          <a:p>
            <a:pPr indent="0" marL="0">
              <a:buNone/>
            </a:pPr>
            <a:r>
              <a:rPr lang="en-US" sz="3600" b="1" dirty="0">
                <a:solidFill>
                  <a:srgbClr val="3E4FE0"/>
                </a:solidFill>
                <a:latin typeface="Titillium Web" pitchFamily="34" charset="0"/>
                <a:ea typeface="Titillium Web" pitchFamily="34" charset="-122"/>
                <a:cs typeface="Titillium Web" pitchFamily="34" charset="-120"/>
              </a:rPr>
              <a:t>3</a:t>
            </a:r>
            <a:endParaRPr lang="en-US" sz="3600" dirty="0"/>
          </a:p>
        </p:txBody>
      </p:sp>
      <p:sp>
        <p:nvSpPr>
          <p:cNvPr id="13" name="Text 11"/>
          <p:cNvSpPr txBox="1"/>
          <p:nvPr/>
        </p:nvSpPr>
        <p:spPr>
          <a:xfrm>
            <a:off x="1417320" y="4206240"/>
            <a:ext cx="10177272" cy="1143000"/>
          </a:xfrm>
          <a:prstGeom prst="rect">
            <a:avLst/>
          </a:prstGeom>
          <a:noFill/>
          <a:ln/>
        </p:spPr>
        <p:txBody>
          <a:bodyPr wrap="square" lIns="0" tIns="0" rIns="0" bIns="0" rtlCol="0" anchor="t"/>
          <a:lstStyle/>
          <a:p>
            <a:pPr indent="0" marL="0">
              <a:buNone/>
            </a:pPr>
            <a:r>
              <a:rPr lang="en-US" sz="1500" b="1" dirty="0">
                <a:solidFill>
                  <a:srgbClr val="282A30"/>
                </a:solidFill>
                <a:latin typeface="Titillium Web" pitchFamily="34" charset="0"/>
                <a:ea typeface="Titillium Web" pitchFamily="34" charset="-122"/>
                <a:cs typeface="Titillium Web" pitchFamily="34" charset="-120"/>
              </a:rPr>
              <a:t>PayPlus scope.</a:t>
            </a:r>
            <a:endParaRPr lang="en-US" sz="1500" dirty="0"/>
          </a:p>
          <a:p>
            <a:pPr indent="0" marL="0">
              <a:buNone/>
            </a:pPr>
            <a:r>
              <a:rPr lang="en-US" sz="1200" dirty="0">
                <a:solidFill>
                  <a:srgbClr val="282A30"/>
                </a:solidFill>
                <a:latin typeface="Titillium Web" pitchFamily="34" charset="0"/>
                <a:ea typeface="Titillium Web" pitchFamily="34" charset="-122"/>
                <a:cs typeface="Titillium Web" pitchFamily="34" charset="-120"/>
              </a:rPr>
              <a:t>We align on PayPlus requirements and come back with a delivery plan.</a:t>
            </a:r>
            <a:endParaRPr lang="en-US" sz="1500" dirty="0"/>
          </a:p>
        </p:txBody>
      </p:sp>
      <p:sp>
        <p:nvSpPr>
          <p:cNvPr id="14" name="Text 12"/>
          <p:cNvSpPr txBox="1"/>
          <p:nvPr/>
        </p:nvSpPr>
        <p:spPr>
          <a:xfrm>
            <a:off x="548640" y="5486400"/>
            <a:ext cx="11091672" cy="320040"/>
          </a:xfrm>
          <a:prstGeom prst="rect">
            <a:avLst/>
          </a:prstGeom>
          <a:noFill/>
          <a:ln/>
        </p:spPr>
        <p:txBody>
          <a:bodyPr wrap="square" lIns="0" tIns="0" rIns="0" bIns="0" rtlCol="0" anchor="t"/>
          <a:lstStyle/>
          <a:p>
            <a:pPr indent="0" marL="0">
              <a:buNone/>
            </a:pPr>
            <a:r>
              <a:rPr lang="en-US" sz="1200" i="1" dirty="0">
                <a:solidFill>
                  <a:srgbClr val="616366"/>
                </a:solidFill>
                <a:latin typeface="Titillium Web" pitchFamily="34" charset="0"/>
                <a:ea typeface="Titillium Web" pitchFamily="34" charset="-122"/>
                <a:cs typeface="Titillium Web" pitchFamily="34" charset="-120"/>
              </a:rPr>
              <a:t>Contact: German Tatis · german.tatis@y.uno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Yuno x adidas</dc:title>
  <dc:subject>PptxGenJS Presentation</dc:subject>
  <dc:creator>Yuno</dc:creator>
  <cp:lastModifiedBy>Yuno</cp:lastModifiedBy>
  <cp:revision>1</cp:revision>
  <dcterms:created xsi:type="dcterms:W3CDTF">2026-10-14T16:28:20Z</dcterms:created>
  <dcterms:modified xsi:type="dcterms:W3CDTF">2026-10-14T16:28:20Z</dcterms:modified>
</cp:coreProperties>
</file>