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7" r:id="rId3"/>
    <p:sldId id="259" r:id="rId5"/>
    <p:sldId id="260" r:id="rId6"/>
    <p:sldId id="280" r:id="rId31"/>
    <p:sldId id="281" r:id="rId32"/>
    <p:sldId id="282" r:id="rId33"/>
    <p:sldId id="283" r:id="rId34"/>
    <p:sldId id="262" r:id="rId8"/>
    <p:sldId id="284" r:id="rId35"/>
    <p:sldId id="285" r:id="rId36"/>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8"/>
    <p:sldId id="278" r:id="rId29"/>
    <p:sldId id="279" r:id="rId30"/>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495300" y="190500"/>
            <a:ext cx="4095750" cy="685800"/>
          </a:xfrm>
          <a:prstGeom prst="rect">
            <a:avLst/>
          </a:prstGeom>
          <a:solidFill>
            <a:srgbClr val="000000"/>
          </a:solidFill>
          <a:ln/>
        </p:spPr>
      </p:sp>
      <p:pic>
        <p:nvPicPr>
          <p:cNvPr id="5" name="Image 1" descr="preencoded.png">    </p:cNvPr>
          <p:cNvPicPr>
            <a:picLocks noChangeAspect="1"/>
          </p:cNvPicPr>
          <p:nvPr/>
        </p:nvPicPr>
        <p:blipFill>
          <a:blip r:embed="rId2"/>
          <a:stretch>
            <a:fillRect/>
          </a:stretch>
        </p:blipFill>
        <p:spPr>
          <a:xfrm>
            <a:off x="514350" y="428625"/>
            <a:ext cx="903833" cy="247650"/>
          </a:xfrm>
          <a:prstGeom prst="rect">
            <a:avLst/>
          </a:prstGeom>
        </p:spPr>
      </p:pic>
      <p:sp>
        <p:nvSpPr>
          <p:cNvPr id="6" name="Shape 2"/>
          <p:cNvSpPr/>
          <p:nvPr/>
        </p:nvSpPr>
        <p:spPr>
          <a:xfrm>
            <a:off x="1627733" y="419100"/>
            <a:ext cx="9525" cy="266700"/>
          </a:xfrm>
          <a:prstGeom prst="rect">
            <a:avLst/>
          </a:prstGeom>
          <a:solidFill>
            <a:srgbClr val="FFFFFF">
              <a:alpha val="45000"/>
            </a:srgbClr>
          </a:solidFill>
          <a:ln/>
        </p:spPr>
      </p:sp>
      <p:pic>
        <p:nvPicPr>
          <p:cNvPr id="7" name="Image 2" descr="preencoded.png">    </p:cNvPr>
          <p:cNvPicPr>
            <a:picLocks noChangeAspect="1"/>
          </p:cNvPicPr>
          <p:nvPr/>
        </p:nvPicPr>
        <p:blipFill>
          <a:blip r:embed="rId3"/>
          <a:srcRect l="0" r="0" t="0" b="0"/>
          <a:stretch/>
        </p:blipFill>
        <p:spPr>
          <a:xfrm>
            <a:off x="1846808" y="390525"/>
            <a:ext cx="323850" cy="323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6057900" y="3905250"/>
            <a:ext cx="5905500" cy="2660904"/>
          </a:xfrm>
          <a:prstGeom prst="rect">
            <a:avLst/>
          </a:prstGeom>
          <a:solidFill>
            <a:srgbClr val="FFFFFF"/>
          </a:solidFill>
          <a:ln/>
        </p:spPr>
      </p:sp>
      <p:sp>
        <p:nvSpPr>
          <p:cNvPr id="5" name="Text 2"/>
          <p:cNvSpPr/>
          <p:nvPr/>
        </p:nvSpPr>
        <p:spPr>
          <a:xfrm>
            <a:off x="6315075" y="4162425"/>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01.</a:t>
            </a:r>
            <a:endParaRPr lang="en-US" sz="1500" dirty="0"/>
          </a:p>
        </p:txBody>
      </p:sp>
      <p:sp>
        <p:nvSpPr>
          <p:cNvPr id="6" name="Text 3"/>
          <p:cNvSpPr/>
          <p:nvPr/>
        </p:nvSpPr>
        <p:spPr>
          <a:xfrm>
            <a:off x="7019925" y="4162425"/>
            <a:ext cx="2075855"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EXECUTIVE SUMMARY</a:t>
            </a:r>
            <a:endParaRPr lang="en-US" sz="1500" dirty="0"/>
          </a:p>
        </p:txBody>
      </p:sp>
      <p:sp>
        <p:nvSpPr>
          <p:cNvPr id="7" name="Text 4"/>
          <p:cNvSpPr/>
          <p:nvPr/>
        </p:nvSpPr>
        <p:spPr>
          <a:xfrm>
            <a:off x="6315075" y="4533900"/>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02.</a:t>
            </a:r>
            <a:endParaRPr lang="en-US" sz="1500" dirty="0"/>
          </a:p>
        </p:txBody>
      </p:sp>
      <p:sp>
        <p:nvSpPr>
          <p:cNvPr id="8" name="Text 5"/>
          <p:cNvSpPr/>
          <p:nvPr/>
        </p:nvSpPr>
        <p:spPr>
          <a:xfrm>
            <a:off x="7019925" y="4533900"/>
            <a:ext cx="1115764"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WHY YUNO?</a:t>
            </a:r>
            <a:endParaRPr lang="en-US" sz="1500" dirty="0"/>
          </a:p>
        </p:txBody>
      </p:sp>
      <p:sp>
        <p:nvSpPr>
          <p:cNvPr id="9" name="Text 6"/>
          <p:cNvSpPr/>
          <p:nvPr/>
        </p:nvSpPr>
        <p:spPr>
          <a:xfrm>
            <a:off x="6315075" y="4905375"/>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03.</a:t>
            </a:r>
            <a:endParaRPr lang="en-US" sz="1500" dirty="0"/>
          </a:p>
        </p:txBody>
      </p:sp>
      <p:sp>
        <p:nvSpPr>
          <p:cNvPr id="10" name="Text 7"/>
          <p:cNvSpPr/>
          <p:nvPr/>
        </p:nvSpPr>
        <p:spPr>
          <a:xfrm>
            <a:off x="7019925" y="4905375"/>
            <a:ext cx="3702159"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EVENTBRITE &amp; THE MARKETPLACE GAP</a:t>
            </a:r>
            <a:endParaRPr lang="en-US" sz="1500" dirty="0"/>
          </a:p>
        </p:txBody>
      </p:sp>
      <p:sp>
        <p:nvSpPr>
          <p:cNvPr id="11" name="Text 8"/>
          <p:cNvSpPr/>
          <p:nvPr/>
        </p:nvSpPr>
        <p:spPr>
          <a:xfrm>
            <a:off x="6315075" y="5276850"/>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04.</a:t>
            </a:r>
            <a:endParaRPr lang="en-US" sz="1500" dirty="0"/>
          </a:p>
        </p:txBody>
      </p:sp>
      <p:sp>
        <p:nvSpPr>
          <p:cNvPr id="12" name="Text 9"/>
          <p:cNvSpPr/>
          <p:nvPr/>
        </p:nvSpPr>
        <p:spPr>
          <a:xfrm>
            <a:off x="7019925" y="5276850"/>
            <a:ext cx="2025104"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MODULAR BY DESIGN</a:t>
            </a:r>
            <a:endParaRPr lang="en-US" sz="1500" dirty="0"/>
          </a:p>
        </p:txBody>
      </p:sp>
      <p:sp>
        <p:nvSpPr>
          <p:cNvPr id="11" name="Text 8"/>
          <p:cNvSpPr/>
          <p:nvPr/>
        </p:nvSpPr>
        <p:spPr>
          <a:xfrm>
            <a:off x="6315075" y="5647182"/>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05.</a:t>
            </a:r>
            <a:endParaRPr lang="en-US" sz="1500" dirty="0"/>
          </a:p>
        </p:txBody>
      </p:sp>
      <p:sp>
        <p:nvSpPr>
          <p:cNvPr id="12" name="Text 9"/>
          <p:cNvSpPr/>
          <p:nvPr/>
        </p:nvSpPr>
        <p:spPr>
          <a:xfrm>
            <a:off x="7019925" y="5647182"/>
            <a:ext cx="237744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THE PATH FORWARD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381000"/>
            <a:ext cx="1385322"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EXECUTIVE SUMMARY</a:t>
            </a:r>
            <a:endParaRPr lang="en-US" sz="900" dirty="0"/>
          </a:p>
        </p:txBody>
      </p:sp>
      <p:pic>
        <p:nvPicPr>
          <p:cNvPr id="4" name="Image 0" descr="preencoded.png">    </p:cNvPr>
          <p:cNvPicPr>
            <a:picLocks noChangeAspect="1"/>
          </p:cNvPicPr>
          <p:nvPr/>
        </p:nvPicPr>
        <p:blipFill>
          <a:blip r:embed="rId1"/>
          <a:stretch>
            <a:fillRect/>
          </a:stretch>
        </p:blipFill>
        <p:spPr>
          <a:xfrm>
            <a:off x="10998101" y="381000"/>
            <a:ext cx="660499" cy="180975"/>
          </a:xfrm>
          <a:prstGeom prst="rect">
            <a:avLst/>
          </a:prstGeom>
        </p:spPr>
      </p:pic>
      <p:sp>
        <p:nvSpPr>
          <p:cNvPr id="5" name="Shape 2"/>
          <p:cNvSpPr/>
          <p:nvPr/>
        </p:nvSpPr>
        <p:spPr>
          <a:xfrm>
            <a:off x="333375" y="723900"/>
            <a:ext cx="57150" cy="228600"/>
          </a:xfrm>
          <a:prstGeom prst="roundRect">
            <a:avLst>
              <a:gd name="adj" fmla="val 50000"/>
            </a:avLst>
          </a:prstGeom>
          <a:solidFill>
            <a:srgbClr val="3E4FE0"/>
          </a:solidFill>
          <a:ln/>
        </p:spPr>
      </p:sp>
      <p:sp>
        <p:nvSpPr>
          <p:cNvPr id="6" name="Text 3"/>
          <p:cNvSpPr/>
          <p:nvPr/>
        </p:nvSpPr>
        <p:spPr>
          <a:xfrm>
            <a:off x="533400" y="657225"/>
            <a:ext cx="12237720" cy="514350"/>
          </a:xfrm>
          <a:prstGeom prst="rect">
            <a:avLst/>
          </a:prstGeom>
          <a:noFill/>
          <a:ln/>
        </p:spPr>
        <p:txBody>
          <a:bodyPr wrap="square" lIns="25400" tIns="25400" rIns="25400" bIns="25400" rtlCol="0" anchor="t">
            <a:normAutofit/>
          </a:bodyPr>
          <a:lstStyle/>
          <a:p>
            <a:pPr algn="l" indent="0" marL="0">
              <a:buNone/>
            </a:pPr>
            <a:r>
              <a:rPr lang="en-US" sz="2475" b="1" dirty="0">
                <a:solidFill>
                  <a:srgbClr val="3E4FE0"/>
                </a:solidFill>
                <a:latin typeface="Titillium Web" pitchFamily="34" charset="0"/>
                <a:ea typeface="Titillium Web" pitchFamily="34" charset="-122"/>
                <a:cs typeface="Titillium Web" pitchFamily="34" charset="-120"/>
              </a:rPr>
              <a:t>Executive summary</a:t>
            </a:r>
            <a:endParaRPr lang="en-US" sz="2475" dirty="0"/>
          </a:p>
        </p:txBody>
      </p:sp>
      <p:sp>
        <p:nvSpPr>
          <p:cNvPr id="7" name="Shape 4"/>
          <p:cNvSpPr/>
          <p:nvPr/>
        </p:nvSpPr>
        <p:spPr>
          <a:xfrm>
            <a:off x="533400" y="1581150"/>
            <a:ext cx="6085284" cy="19050"/>
          </a:xfrm>
          <a:prstGeom prst="rect">
            <a:avLst/>
          </a:prstGeom>
          <a:solidFill>
            <a:srgbClr val="3E4FE0"/>
          </a:solidFill>
          <a:ln/>
        </p:spPr>
      </p:sp>
      <p:sp>
        <p:nvSpPr>
          <p:cNvPr id="8" name="Text 5"/>
          <p:cNvSpPr/>
          <p:nvPr/>
        </p:nvSpPr>
        <p:spPr>
          <a:xfrm>
            <a:off x="533400" y="1323975"/>
            <a:ext cx="6267843"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WHERE EVENTBRITE STANDS TODAY</a:t>
            </a:r>
            <a:endParaRPr lang="en-US" sz="863" dirty="0"/>
          </a:p>
        </p:txBody>
      </p:sp>
      <p:sp>
        <p:nvSpPr>
          <p:cNvPr id="9" name="Shape 6"/>
          <p:cNvSpPr/>
          <p:nvPr/>
        </p:nvSpPr>
        <p:spPr>
          <a:xfrm>
            <a:off x="533400" y="2452688"/>
            <a:ext cx="6085284" cy="9525"/>
          </a:xfrm>
          <a:prstGeom prst="rect">
            <a:avLst/>
          </a:prstGeom>
          <a:solidFill>
            <a:srgbClr val="E3E5F0"/>
          </a:solidFill>
          <a:ln/>
        </p:spPr>
      </p:sp>
      <p:sp>
        <p:nvSpPr>
          <p:cNvPr id="10" name="Text 7"/>
          <p:cNvSpPr/>
          <p:nvPr/>
        </p:nvSpPr>
        <p:spPr>
          <a:xfrm>
            <a:off x="533400" y="1733550"/>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A new chapter</a:t>
            </a:r>
            <a:endParaRPr lang="en-US" sz="1050" dirty="0"/>
          </a:p>
        </p:txBody>
      </p:sp>
      <p:sp>
        <p:nvSpPr>
          <p:cNvPr id="11" name="Text 8"/>
          <p:cNvSpPr/>
          <p:nvPr/>
        </p:nvSpPr>
        <p:spPr>
          <a:xfrm>
            <a:off x="533400" y="1971675"/>
            <a:ext cx="6267843"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Eventbrite operates since March 2026 as part of Bending Spoons, with a lean operating model and a new commerce leadership team.</a:t>
            </a:r>
            <a:endParaRPr lang="en-US" sz="938" dirty="0"/>
          </a:p>
        </p:txBody>
      </p:sp>
      <p:sp>
        <p:nvSpPr>
          <p:cNvPr id="12" name="Shape 9"/>
          <p:cNvSpPr/>
          <p:nvPr/>
        </p:nvSpPr>
        <p:spPr>
          <a:xfrm>
            <a:off x="533400" y="3126581"/>
            <a:ext cx="6085284" cy="9525"/>
          </a:xfrm>
          <a:prstGeom prst="rect">
            <a:avLst/>
          </a:prstGeom>
          <a:solidFill>
            <a:srgbClr val="E3E5F0"/>
          </a:solidFill>
          <a:ln/>
        </p:spPr>
      </p:sp>
      <p:sp>
        <p:nvSpPr>
          <p:cNvPr id="13" name="Text 10"/>
          <p:cNvSpPr/>
          <p:nvPr/>
        </p:nvSpPr>
        <p:spPr>
          <a:xfrm>
            <a:off x="533400" y="2586038"/>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The decision on the table, now</a:t>
            </a:r>
            <a:endParaRPr lang="en-US" sz="1050" dirty="0"/>
          </a:p>
        </p:txBody>
      </p:sp>
      <p:sp>
        <p:nvSpPr>
          <p:cNvPr id="14" name="Text 11"/>
          <p:cNvSpPr/>
          <p:nvPr/>
        </p:nvSpPr>
        <p:spPr>
          <a:xfrm>
            <a:off x="533400" y="2824163"/>
            <a:ext cx="669381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Whether to bring in an orchestration layer, with an active evaluation of several orchestrators.</a:t>
            </a:r>
            <a:endParaRPr lang="en-US" sz="938" dirty="0"/>
          </a:p>
        </p:txBody>
      </p:sp>
      <p:sp>
        <p:nvSpPr>
          <p:cNvPr id="15" name="Shape 12"/>
          <p:cNvSpPr/>
          <p:nvPr/>
        </p:nvSpPr>
        <p:spPr>
          <a:xfrm>
            <a:off x="533400" y="3800475"/>
            <a:ext cx="6085284" cy="9525"/>
          </a:xfrm>
          <a:prstGeom prst="rect">
            <a:avLst/>
          </a:prstGeom>
          <a:solidFill>
            <a:srgbClr val="E3E5F0"/>
          </a:solidFill>
          <a:ln/>
        </p:spPr>
      </p:sp>
      <p:sp>
        <p:nvSpPr>
          <p:cNvPr id="16" name="Text 13"/>
          <p:cNvSpPr/>
          <p:nvPr/>
        </p:nvSpPr>
        <p:spPr>
          <a:xfrm>
            <a:off x="533400" y="3259931"/>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Direction already set</a:t>
            </a:r>
            <a:endParaRPr lang="en-US" sz="1050" dirty="0"/>
          </a:p>
        </p:txBody>
      </p:sp>
      <p:sp>
        <p:nvSpPr>
          <p:cNvPr id="17" name="Text 14"/>
          <p:cNvSpPr/>
          <p:nvPr/>
        </p:nvSpPr>
        <p:spPr>
          <a:xfrm>
            <a:off x="533400" y="3498056"/>
            <a:ext cx="669381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The team has aligned on a multi-PSP strategy over consolidating into a single processor.</a:t>
            </a:r>
            <a:endParaRPr lang="en-US" sz="938" dirty="0"/>
          </a:p>
        </p:txBody>
      </p:sp>
      <p:sp>
        <p:nvSpPr>
          <p:cNvPr id="18" name="Text 15"/>
          <p:cNvSpPr/>
          <p:nvPr/>
        </p:nvSpPr>
        <p:spPr>
          <a:xfrm>
            <a:off x="533400" y="3933825"/>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Open fronts the decision must resolve</a:t>
            </a:r>
            <a:endParaRPr lang="en-US" sz="1050" dirty="0"/>
          </a:p>
        </p:txBody>
      </p:sp>
      <p:sp>
        <p:nvSpPr>
          <p:cNvPr id="19" name="Text 16"/>
          <p:cNvSpPr/>
          <p:nvPr/>
        </p:nvSpPr>
        <p:spPr>
          <a:xfrm>
            <a:off x="533400" y="4171950"/>
            <a:ext cx="6267843"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Intelligent routing across the existing rails, including the ChaseNet economics offered by J.P. Morgan, the exit from own LatAm entities, getting out of the funds flow with PSD3 on the horizon, and running all of it with a small team.</a:t>
            </a:r>
            <a:endParaRPr lang="en-US" sz="938" dirty="0"/>
          </a:p>
        </p:txBody>
      </p:sp>
      <p:sp>
        <p:nvSpPr>
          <p:cNvPr id="20" name="Shape 17"/>
          <p:cNvSpPr/>
          <p:nvPr/>
        </p:nvSpPr>
        <p:spPr>
          <a:xfrm>
            <a:off x="6904434" y="1581150"/>
            <a:ext cx="4754166" cy="19050"/>
          </a:xfrm>
          <a:prstGeom prst="rect">
            <a:avLst/>
          </a:prstGeom>
          <a:solidFill>
            <a:srgbClr val="3E4FE0"/>
          </a:solidFill>
          <a:ln/>
        </p:spPr>
      </p:sp>
      <p:sp>
        <p:nvSpPr>
          <p:cNvPr id="21" name="Text 18"/>
          <p:cNvSpPr/>
          <p:nvPr/>
        </p:nvSpPr>
        <p:spPr>
          <a:xfrm>
            <a:off x="6904434" y="1323975"/>
            <a:ext cx="4896791"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WHAT EVENTBRITE GETS WITH YUNO</a:t>
            </a:r>
            <a:endParaRPr lang="en-US" sz="863" dirty="0"/>
          </a:p>
        </p:txBody>
      </p:sp>
      <p:sp>
        <p:nvSpPr>
          <p:cNvPr id="22" name="Shape 19"/>
          <p:cNvSpPr/>
          <p:nvPr/>
        </p:nvSpPr>
        <p:spPr>
          <a:xfrm>
            <a:off x="6904434" y="1733550"/>
            <a:ext cx="4754166" cy="1504950"/>
          </a:xfrm>
          <a:prstGeom prst="roundRect">
            <a:avLst>
              <a:gd name="adj" fmla="val 6329"/>
            </a:avLst>
          </a:prstGeom>
          <a:solidFill>
            <a:srgbClr val="3E4FE0"/>
          </a:solidFill>
          <a:ln/>
        </p:spPr>
      </p:sp>
      <p:sp>
        <p:nvSpPr>
          <p:cNvPr id="23" name="Text 20"/>
          <p:cNvSpPr/>
          <p:nvPr/>
        </p:nvSpPr>
        <p:spPr>
          <a:xfrm>
            <a:off x="7113984" y="1924050"/>
            <a:ext cx="4768572"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FFFFFF"/>
                </a:solidFill>
                <a:latin typeface="Titillium Web" pitchFamily="34" charset="0"/>
                <a:ea typeface="Titillium Web" pitchFamily="34" charset="-122"/>
                <a:cs typeface="Titillium Web" pitchFamily="34" charset="-120"/>
              </a:rPr>
              <a:t>PAY-IN AND PAYOUT ROUTING IN ONE LAYER</a:t>
            </a:r>
            <a:endParaRPr lang="en-US" sz="938" dirty="0"/>
          </a:p>
        </p:txBody>
      </p:sp>
      <p:sp>
        <p:nvSpPr>
          <p:cNvPr id="24" name="Text 21"/>
          <p:cNvSpPr/>
          <p:nvPr/>
        </p:nvSpPr>
        <p:spPr>
          <a:xfrm>
            <a:off x="7113984" y="2155031"/>
            <a:ext cx="4465118"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88000"/>
                  </a:srgbClr>
                </a:solidFill>
                <a:latin typeface="Titillium Web" pitchFamily="34" charset="0"/>
                <a:ea typeface="Titillium Web" pitchFamily="34" charset="-122"/>
                <a:cs typeface="Titillium Web" pitchFamily="34" charset="-120"/>
              </a:rPr>
              <a:t>Both sides of the marketplace orchestrated, with the ledger that links every pay-in to its payout.</a:t>
            </a:r>
            <a:endParaRPr lang="en-US" sz="938" dirty="0"/>
          </a:p>
        </p:txBody>
      </p:sp>
      <p:sp>
        <p:nvSpPr>
          <p:cNvPr id="25" name="Shape 22"/>
          <p:cNvSpPr/>
          <p:nvPr/>
        </p:nvSpPr>
        <p:spPr>
          <a:xfrm>
            <a:off x="6904434" y="3371850"/>
            <a:ext cx="4754166" cy="1504950"/>
          </a:xfrm>
          <a:prstGeom prst="roundRect">
            <a:avLst>
              <a:gd name="adj" fmla="val 6329"/>
            </a:avLst>
          </a:prstGeom>
          <a:solidFill>
            <a:srgbClr val="EEF0FB"/>
          </a:solidFill>
          <a:ln/>
        </p:spPr>
      </p:sp>
      <p:sp>
        <p:nvSpPr>
          <p:cNvPr id="26" name="Text 23"/>
          <p:cNvSpPr/>
          <p:nvPr/>
        </p:nvSpPr>
        <p:spPr>
          <a:xfrm>
            <a:off x="7113984" y="3562350"/>
            <a:ext cx="4768572"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17181C"/>
                </a:solidFill>
                <a:latin typeface="Titillium Web" pitchFamily="34" charset="0"/>
                <a:ea typeface="Titillium Web" pitchFamily="34" charset="-122"/>
                <a:cs typeface="Titillium Web" pitchFamily="34" charset="-120"/>
              </a:rPr>
              <a:t>MODULAR BY DESIGN</a:t>
            </a:r>
            <a:endParaRPr lang="en-US" sz="938" dirty="0"/>
          </a:p>
        </p:txBody>
      </p:sp>
      <p:sp>
        <p:nvSpPr>
          <p:cNvPr id="27" name="Text 24"/>
          <p:cNvSpPr/>
          <p:nvPr/>
        </p:nvSpPr>
        <p:spPr>
          <a:xfrm>
            <a:off x="7113984" y="3793331"/>
            <a:ext cx="4768572"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Activate only what you need. Every provider you run today stays.</a:t>
            </a:r>
            <a:endParaRPr lang="en-US" sz="938" dirty="0"/>
          </a:p>
        </p:txBody>
      </p:sp>
      <p:sp>
        <p:nvSpPr>
          <p:cNvPr id="28" name="Shape 25"/>
          <p:cNvSpPr/>
          <p:nvPr/>
        </p:nvSpPr>
        <p:spPr>
          <a:xfrm>
            <a:off x="6904434" y="5010150"/>
            <a:ext cx="4754166" cy="1524000"/>
          </a:xfrm>
          <a:prstGeom prst="roundRect">
            <a:avLst>
              <a:gd name="adj" fmla="val 6250"/>
            </a:avLst>
          </a:prstGeom>
          <a:solidFill>
            <a:srgbClr val="FFFFFF"/>
          </a:solidFill>
          <a:ln w="9525">
            <a:solidFill>
              <a:srgbClr val="E3E5F0"/>
            </a:solidFill>
            <a:prstDash val="solid"/>
          </a:ln>
        </p:spPr>
      </p:sp>
      <p:sp>
        <p:nvSpPr>
          <p:cNvPr id="29" name="Text 26"/>
          <p:cNvSpPr/>
          <p:nvPr/>
        </p:nvSpPr>
        <p:spPr>
          <a:xfrm>
            <a:off x="7123509" y="5210175"/>
            <a:ext cx="4747617"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17181C"/>
                </a:solidFill>
                <a:latin typeface="Titillium Web" pitchFamily="34" charset="0"/>
                <a:ea typeface="Titillium Web" pitchFamily="34" charset="-122"/>
                <a:cs typeface="Titillium Web" pitchFamily="34" charset="-120"/>
              </a:rPr>
              <a:t>ONE DASHBOARD</a:t>
            </a:r>
            <a:endParaRPr lang="en-US" sz="938" dirty="0"/>
          </a:p>
        </p:txBody>
      </p:sp>
      <p:sp>
        <p:nvSpPr>
          <p:cNvPr id="30" name="Text 27"/>
          <p:cNvSpPr/>
          <p:nvPr/>
        </p:nvSpPr>
        <p:spPr>
          <a:xfrm>
            <a:off x="7123509" y="5441156"/>
            <a:ext cx="4747617"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Normalized data and automatic reconciliation across every rail.</a:t>
            </a:r>
            <a:endParaRPr lang="en-US" sz="938" dirty="0"/>
          </a:p>
        </p:txBody>
      </p:sp>
      <p:sp>
        <p:nvSpPr>
          <p:cNvPr id="31" name="Text 28"/>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a:t>
            </a:r>
            <a:endParaRPr lang="en-US" sz="750" dirty="0"/>
          </a:p>
        </p:txBody>
      </p:sp>
      <p:sp>
        <p:nvSpPr>
          <p:cNvPr id="15" name="Shape 12"/>
          <p:cNvSpPr/>
          <p:nvPr/>
        </p:nvSpPr>
        <p:spPr>
          <a:xfrm>
            <a:off x="530352" y="4800600"/>
            <a:ext cx="6085284" cy="9525"/>
          </a:xfrm>
          <a:prstGeom prst="rect">
            <a:avLst/>
          </a:prstGeom>
          <a:solidFill>
            <a:srgbClr val="E3E5F0"/>
          </a:solidFill>
          <a:ln/>
        </p:spPr>
      </p:sp>
      <p:sp>
        <p:nvSpPr>
          <p:cNvPr id="8" name="Text 5"/>
          <p:cNvSpPr/>
          <p:nvPr/>
        </p:nvSpPr>
        <p:spPr>
          <a:xfrm>
            <a:off x="530352" y="4956048"/>
            <a:ext cx="6263640"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TOP 10 OPERATING COUNTRIES, OF 122 TOTAL</a:t>
            </a:r>
            <a:endParaRPr lang="en-US" sz="863" dirty="0"/>
          </a:p>
        </p:txBody>
      </p:sp>
      <p:sp>
        <p:nvSpPr>
          <p:cNvPr id="11" name="Text 8"/>
          <p:cNvSpPr/>
          <p:nvPr/>
        </p:nvSpPr>
        <p:spPr>
          <a:xfrm>
            <a:off x="530352" y="5212080"/>
            <a:ext cx="6263640" cy="548640"/>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United States, United Kingdom, Canada, Australia, Italy, Germany, Spain, Ireland, France and Mexico. The weight sits in the US and Europe, with Mexico as the only LatAm market in the top 10.</a:t>
            </a:r>
            <a:endParaRPr lang="en-US" sz="93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2461721"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Why Yuno?</a:t>
            </a:r>
            <a:endParaRPr lang="en-US" sz="3750" dirty="0"/>
          </a:p>
        </p:txBody>
      </p:sp>
      <p:sp>
        <p:nvSpPr>
          <p:cNvPr id="9" name="Text 6"/>
          <p:cNvSpPr/>
          <p:nvPr/>
        </p:nvSpPr>
        <p:spPr>
          <a:xfrm>
            <a:off x="742950" y="5095875"/>
            <a:ext cx="2461721"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114300" y="6553200"/>
            <a:ext cx="323850" cy="228600"/>
          </a:xfrm>
          <a:prstGeom prst="rect">
            <a:avLst/>
          </a:prstGeom>
          <a:solidFill>
            <a:srgbClr val="FFFFFF"/>
          </a:solidFill>
          <a:ln/>
        </p:spPr>
        <p:txBody>
          <a:bodyPr/>
          <a:p/>
        </p:txBody>
      </p:sp>
      <p:sp>
        <p:nvSpPr>
          <p:cNvPr id="5" name="Text 2"/>
          <p:cNvSpPr/>
          <p:nvPr/>
        </p:nvSpPr>
        <p:spPr>
          <a:xfrm>
            <a:off x="200025" y="6581775"/>
            <a:ext cx="292608" cy="219075"/>
          </a:xfrm>
          <a:prstGeom prst="rect">
            <a:avLst/>
          </a:prstGeom>
          <a:noFill/>
          <a:ln/>
        </p:spPr>
        <p:txBody>
          <a:bodyPr wrap="non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3810000" y="3800475"/>
            <a:ext cx="1762125" cy="1295400"/>
          </a:xfrm>
          <a:prstGeom prst="rect">
            <a:avLst/>
          </a:prstGeom>
          <a:solidFill>
            <a:srgbClr val="F2F2F2"/>
          </a:solidFill>
          <a:ln/>
        </p:spPr>
      </p:sp>
      <p:pic>
        <p:nvPicPr>
          <p:cNvPr id="5" name="Image 1" descr="preencoded.png">    </p:cNvPr>
          <p:cNvPicPr>
            <a:picLocks noChangeAspect="1"/>
          </p:cNvPicPr>
          <p:nvPr/>
        </p:nvPicPr>
        <p:blipFill>
          <a:blip r:embed="rId2"/>
          <a:srcRect l="-13" r="-13" t="0" b="0"/>
          <a:stretch/>
        </p:blipFill>
        <p:spPr>
          <a:xfrm>
            <a:off x="4129088" y="4275237"/>
            <a:ext cx="1123950" cy="345877"/>
          </a:xfrm>
          <a:prstGeom prst="rect">
            <a:avLst/>
          </a:prstGeom>
        </p:spPr>
      </p:pic>
      <p:sp>
        <p:nvSpPr>
          <p:cNvPr id="6" name="Shape 2"/>
          <p:cNvSpPr/>
          <p:nvPr/>
        </p:nvSpPr>
        <p:spPr>
          <a:xfrm>
            <a:off x="114300" y="6553200"/>
            <a:ext cx="323850" cy="228600"/>
          </a:xfrm>
          <a:prstGeom prst="rect">
            <a:avLst/>
          </a:prstGeom>
          <a:solidFill>
            <a:srgbClr val="FFFFFF"/>
          </a:solidFill>
          <a:ln/>
        </p:spPr>
      </p:sp>
      <p:sp>
        <p:nvSpPr>
          <p:cNvPr id="7" name="Text 3"/>
          <p:cNvSpPr/>
          <p:nvPr/>
        </p:nvSpPr>
        <p:spPr>
          <a:xfrm>
            <a:off x="200025" y="6581775"/>
            <a:ext cx="140345" cy="219075"/>
          </a:xfrm>
          <a:prstGeom prst="rect">
            <a:avLst/>
          </a:prstGeom>
          <a:noFill/>
          <a:ln/>
        </p:spPr>
        <p:txBody>
          <a:bodyPr wrap="squar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114300" y="6553200"/>
            <a:ext cx="323850" cy="228600"/>
          </a:xfrm>
          <a:prstGeom prst="rect">
            <a:avLst/>
          </a:prstGeom>
          <a:solidFill>
            <a:srgbClr val="FFFFFF"/>
          </a:solidFill>
          <a:ln/>
        </p:spPr>
        <p:txBody>
          <a:bodyPr/>
          <a:p/>
        </p:txBody>
      </p:sp>
      <p:sp>
        <p:nvSpPr>
          <p:cNvPr id="5" name="Text 2"/>
          <p:cNvSpPr/>
          <p:nvPr/>
        </p:nvSpPr>
        <p:spPr>
          <a:xfrm>
            <a:off x="200025" y="6581775"/>
            <a:ext cx="292608" cy="219075"/>
          </a:xfrm>
          <a:prstGeom prst="rect">
            <a:avLst/>
          </a:prstGeom>
          <a:noFill/>
          <a:ln/>
        </p:spPr>
        <p:txBody>
          <a:bodyPr wrap="non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7494687"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Eventbrite &amp; the marketplace gap</a:t>
            </a:r>
            <a:endParaRPr lang="en-US" sz="3750" dirty="0"/>
          </a:p>
        </p:txBody>
      </p:sp>
      <p:sp>
        <p:nvSpPr>
          <p:cNvPr id="9" name="Text 6"/>
          <p:cNvSpPr/>
          <p:nvPr/>
        </p:nvSpPr>
        <p:spPr>
          <a:xfrm>
            <a:off x="742950" y="5095875"/>
            <a:ext cx="7494687"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2472526"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EVENTBRITE &amp; THE MARKETPLACE GAP</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Eventbrite's payment stack today</a:t>
            </a:r>
            <a:endParaRPr lang="en-US" sz="2700" dirty="0"/>
          </a:p>
        </p:txBody>
      </p:sp>
      <p:sp>
        <p:nvSpPr>
          <p:cNvPr id="7" name="Shape 4"/>
          <p:cNvSpPr/>
          <p:nvPr/>
        </p:nvSpPr>
        <p:spPr>
          <a:xfrm>
            <a:off x="533400" y="1485900"/>
            <a:ext cx="4998393" cy="4953000"/>
          </a:xfrm>
          <a:prstGeom prst="roundRect">
            <a:avLst>
              <a:gd name="adj" fmla="val 1923"/>
            </a:avLst>
          </a:prstGeom>
          <a:solidFill>
            <a:srgbClr val="3E4FE0"/>
          </a:solidFill>
          <a:ln/>
        </p:spPr>
      </p:sp>
      <p:sp>
        <p:nvSpPr>
          <p:cNvPr id="8" name="Text 5"/>
          <p:cNvSpPr/>
          <p:nvPr/>
        </p:nvSpPr>
        <p:spPr>
          <a:xfrm>
            <a:off x="819150" y="1733550"/>
            <a:ext cx="4869582"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THE RAILS RUNNING TODAY</a:t>
            </a:r>
            <a:endParaRPr lang="en-US" sz="938" dirty="0"/>
          </a:p>
        </p:txBody>
      </p:sp>
      <p:sp>
        <p:nvSpPr>
          <p:cNvPr id="9" name="Text 6"/>
          <p:cNvSpPr/>
          <p:nvPr/>
        </p:nvSpPr>
        <p:spPr>
          <a:xfrm>
            <a:off x="819150" y="20859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0" name="Text 7"/>
          <p:cNvSpPr/>
          <p:nvPr/>
        </p:nvSpPr>
        <p:spPr>
          <a:xfrm>
            <a:off x="1066800" y="2085975"/>
            <a:ext cx="421184"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Stripe</a:t>
            </a:r>
            <a:endParaRPr lang="en-US" sz="1050" dirty="0"/>
          </a:p>
        </p:txBody>
      </p:sp>
      <p:sp>
        <p:nvSpPr>
          <p:cNvPr id="11" name="Text 8"/>
          <p:cNvSpPr/>
          <p:nvPr/>
        </p:nvSpPr>
        <p:spPr>
          <a:xfrm>
            <a:off x="819150" y="24098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2" name="Text 9"/>
          <p:cNvSpPr/>
          <p:nvPr/>
        </p:nvSpPr>
        <p:spPr>
          <a:xfrm>
            <a:off x="1066800" y="2409825"/>
            <a:ext cx="61748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Braintree</a:t>
            </a:r>
            <a:endParaRPr lang="en-US" sz="1050" dirty="0"/>
          </a:p>
        </p:txBody>
      </p:sp>
      <p:sp>
        <p:nvSpPr>
          <p:cNvPr id="13" name="Text 10"/>
          <p:cNvSpPr/>
          <p:nvPr/>
        </p:nvSpPr>
        <p:spPr>
          <a:xfrm>
            <a:off x="819150" y="27336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4" name="Text 11"/>
          <p:cNvSpPr/>
          <p:nvPr/>
        </p:nvSpPr>
        <p:spPr>
          <a:xfrm>
            <a:off x="1066800" y="2733675"/>
            <a:ext cx="110638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J.P. Morgan Chase</a:t>
            </a:r>
            <a:endParaRPr lang="en-US" sz="1050" dirty="0"/>
          </a:p>
        </p:txBody>
      </p:sp>
      <p:sp>
        <p:nvSpPr>
          <p:cNvPr id="15" name="Text 12"/>
          <p:cNvSpPr/>
          <p:nvPr/>
        </p:nvSpPr>
        <p:spPr>
          <a:xfrm>
            <a:off x="819150" y="30575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6" name="Text 13"/>
          <p:cNvSpPr/>
          <p:nvPr/>
        </p:nvSpPr>
        <p:spPr>
          <a:xfrm>
            <a:off x="1066800" y="3057525"/>
            <a:ext cx="75842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Wells Fargo</a:t>
            </a:r>
            <a:endParaRPr lang="en-US" sz="1050" dirty="0"/>
          </a:p>
        </p:txBody>
      </p:sp>
      <p:sp>
        <p:nvSpPr>
          <p:cNvPr id="17" name="Text 14"/>
          <p:cNvSpPr/>
          <p:nvPr/>
        </p:nvSpPr>
        <p:spPr>
          <a:xfrm>
            <a:off x="819150" y="33813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8" name="Text 15"/>
          <p:cNvSpPr/>
          <p:nvPr/>
        </p:nvSpPr>
        <p:spPr>
          <a:xfrm>
            <a:off x="1066800" y="3381375"/>
            <a:ext cx="89683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Mercado Pago</a:t>
            </a:r>
            <a:endParaRPr lang="en-US" sz="1050" dirty="0"/>
          </a:p>
        </p:txBody>
      </p:sp>
      <p:sp>
        <p:nvSpPr>
          <p:cNvPr id="19" name="Text 16"/>
          <p:cNvSpPr/>
          <p:nvPr/>
        </p:nvSpPr>
        <p:spPr>
          <a:xfrm>
            <a:off x="819150" y="37052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0" name="Text 17"/>
          <p:cNvSpPr/>
          <p:nvPr/>
        </p:nvSpPr>
        <p:spPr>
          <a:xfrm>
            <a:off x="1066800" y="3705225"/>
            <a:ext cx="436513"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Adyen</a:t>
            </a:r>
            <a:endParaRPr lang="en-US" sz="1050" dirty="0"/>
          </a:p>
        </p:txBody>
      </p:sp>
      <p:sp>
        <p:nvSpPr>
          <p:cNvPr id="21" name="Shape 18"/>
          <p:cNvSpPr/>
          <p:nvPr/>
        </p:nvSpPr>
        <p:spPr>
          <a:xfrm>
            <a:off x="819150" y="5572125"/>
            <a:ext cx="4426893" cy="9525"/>
          </a:xfrm>
          <a:prstGeom prst="rect">
            <a:avLst/>
          </a:prstGeom>
          <a:solidFill>
            <a:srgbClr val="FFFFFF">
              <a:alpha val="28000"/>
            </a:srgbClr>
          </a:solidFill>
          <a:ln/>
        </p:spPr>
      </p:sp>
      <p:sp>
        <p:nvSpPr>
          <p:cNvPr id="22" name="Text 19"/>
          <p:cNvSpPr/>
          <p:nvPr/>
        </p:nvSpPr>
        <p:spPr>
          <a:xfrm>
            <a:off x="819150" y="5734050"/>
            <a:ext cx="332333" cy="495300"/>
          </a:xfrm>
          <a:prstGeom prst="rect">
            <a:avLst/>
          </a:prstGeom>
          <a:noFill/>
          <a:ln/>
        </p:spPr>
        <p:txBody>
          <a:bodyPr wrap="square" lIns="25400" tIns="25400" rIns="25400" bIns="25400" rtlCol="0" anchor="t">
            <a:normAutofit/>
          </a:bodyPr>
          <a:lstStyle/>
          <a:p>
            <a:pPr algn="l" indent="0" marL="0">
              <a:lnSpc>
                <a:spcPct val="65753"/>
              </a:lnSpc>
              <a:buNone/>
            </a:pPr>
            <a:r>
              <a:rPr lang="en-US" sz="3600" b="1" dirty="0">
                <a:solidFill>
                  <a:srgbClr val="FFFFFF"/>
                </a:solidFill>
                <a:latin typeface="Titillium Web" pitchFamily="34" charset="0"/>
                <a:ea typeface="Titillium Web" pitchFamily="34" charset="-122"/>
                <a:cs typeface="Titillium Web" pitchFamily="34" charset="-120"/>
              </a:rPr>
              <a:t>6</a:t>
            </a:r>
            <a:endParaRPr lang="en-US" sz="3600" dirty="0"/>
          </a:p>
        </p:txBody>
      </p:sp>
      <p:sp>
        <p:nvSpPr>
          <p:cNvPr id="23" name="Text 20"/>
          <p:cNvSpPr/>
          <p:nvPr/>
        </p:nvSpPr>
        <p:spPr>
          <a:xfrm>
            <a:off x="1208633" y="5991225"/>
            <a:ext cx="3795802"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88000"/>
                  </a:srgbClr>
                </a:solidFill>
                <a:latin typeface="Titillium Web" pitchFamily="34" charset="0"/>
                <a:ea typeface="Titillium Web" pitchFamily="34" charset="-122"/>
                <a:cs typeface="Titillium Web" pitchFamily="34" charset="-120"/>
              </a:rPr>
              <a:t>rails integrated point to point, with no routing layer between them.</a:t>
            </a:r>
            <a:endParaRPr lang="en-US" sz="975" dirty="0"/>
          </a:p>
        </p:txBody>
      </p:sp>
      <p:sp>
        <p:nvSpPr>
          <p:cNvPr id="24" name="Shape 21"/>
          <p:cNvSpPr/>
          <p:nvPr/>
        </p:nvSpPr>
        <p:spPr>
          <a:xfrm>
            <a:off x="5760393" y="1743075"/>
            <a:ext cx="5898207" cy="19050"/>
          </a:xfrm>
          <a:prstGeom prst="rect">
            <a:avLst/>
          </a:prstGeom>
          <a:solidFill>
            <a:srgbClr val="3E4FE0"/>
          </a:solidFill>
          <a:ln/>
        </p:spPr>
      </p:sp>
      <p:sp>
        <p:nvSpPr>
          <p:cNvPr id="25" name="Text 22"/>
          <p:cNvSpPr/>
          <p:nvPr/>
        </p:nvSpPr>
        <p:spPr>
          <a:xfrm>
            <a:off x="5760393" y="1485900"/>
            <a:ext cx="6075154"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IN THE TEAM'S OWN WORDS</a:t>
            </a:r>
            <a:endParaRPr lang="en-US" sz="863" dirty="0"/>
          </a:p>
        </p:txBody>
      </p:sp>
      <p:sp>
        <p:nvSpPr>
          <p:cNvPr id="26" name="Shape 23"/>
          <p:cNvSpPr/>
          <p:nvPr/>
        </p:nvSpPr>
        <p:spPr>
          <a:xfrm>
            <a:off x="5760393" y="2490788"/>
            <a:ext cx="5898207" cy="9525"/>
          </a:xfrm>
          <a:prstGeom prst="rect">
            <a:avLst/>
          </a:prstGeom>
          <a:solidFill>
            <a:srgbClr val="E3E5F0"/>
          </a:solidFill>
          <a:ln/>
        </p:spPr>
      </p:sp>
      <p:sp>
        <p:nvSpPr>
          <p:cNvPr id="27" name="Text 24"/>
          <p:cNvSpPr/>
          <p:nvPr/>
        </p:nvSpPr>
        <p:spPr>
          <a:xfrm>
            <a:off x="5760393" y="1914525"/>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No routing between rails</a:t>
            </a:r>
            <a:endParaRPr lang="en-US" sz="1050" dirty="0"/>
          </a:p>
        </p:txBody>
      </p:sp>
      <p:sp>
        <p:nvSpPr>
          <p:cNvPr id="28" name="Text 25"/>
          <p:cNvSpPr/>
          <p:nvPr/>
        </p:nvSpPr>
        <p:spPr>
          <a:xfrm>
            <a:off x="5760393" y="2162175"/>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No cross-processor failover, no BIN-based routing, no least-cost debit routing running today.</a:t>
            </a:r>
            <a:endParaRPr lang="en-US" sz="975" dirty="0"/>
          </a:p>
        </p:txBody>
      </p:sp>
      <p:sp>
        <p:nvSpPr>
          <p:cNvPr id="29" name="Shape 26"/>
          <p:cNvSpPr/>
          <p:nvPr/>
        </p:nvSpPr>
        <p:spPr>
          <a:xfrm>
            <a:off x="5760393" y="3219450"/>
            <a:ext cx="5898207" cy="9525"/>
          </a:xfrm>
          <a:prstGeom prst="rect">
            <a:avLst/>
          </a:prstGeom>
          <a:solidFill>
            <a:srgbClr val="E3E5F0"/>
          </a:solidFill>
          <a:ln/>
        </p:spPr>
      </p:sp>
      <p:sp>
        <p:nvSpPr>
          <p:cNvPr id="30" name="Text 27"/>
          <p:cNvSpPr/>
          <p:nvPr/>
        </p:nvSpPr>
        <p:spPr>
          <a:xfrm>
            <a:off x="5760393" y="2643188"/>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One portal per provider</a:t>
            </a:r>
            <a:endParaRPr lang="en-US" sz="1050" dirty="0"/>
          </a:p>
        </p:txBody>
      </p:sp>
      <p:sp>
        <p:nvSpPr>
          <p:cNvPr id="31" name="Text 28"/>
          <p:cNvSpPr/>
          <p:nvPr/>
        </p:nvSpPr>
        <p:spPr>
          <a:xfrm>
            <a:off x="5760393" y="2890838"/>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Reporting lives in each provider's own dashboard.</a:t>
            </a:r>
            <a:endParaRPr lang="en-US" sz="975" dirty="0"/>
          </a:p>
        </p:txBody>
      </p:sp>
      <p:sp>
        <p:nvSpPr>
          <p:cNvPr id="32" name="Shape 29"/>
          <p:cNvSpPr/>
          <p:nvPr/>
        </p:nvSpPr>
        <p:spPr>
          <a:xfrm>
            <a:off x="5760393" y="3948112"/>
            <a:ext cx="5898207" cy="9525"/>
          </a:xfrm>
          <a:prstGeom prst="rect">
            <a:avLst/>
          </a:prstGeom>
          <a:solidFill>
            <a:srgbClr val="E3E5F0"/>
          </a:solidFill>
          <a:ln/>
        </p:spPr>
      </p:sp>
      <p:sp>
        <p:nvSpPr>
          <p:cNvPr id="33" name="Text 30"/>
          <p:cNvSpPr/>
          <p:nvPr/>
        </p:nvSpPr>
        <p:spPr>
          <a:xfrm>
            <a:off x="5760393" y="3371850"/>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Creators coupled to one rail</a:t>
            </a:r>
            <a:endParaRPr lang="en-US" sz="1050" dirty="0"/>
          </a:p>
        </p:txBody>
      </p:sp>
      <p:sp>
        <p:nvSpPr>
          <p:cNvPr id="34" name="Text 31"/>
          <p:cNvSpPr/>
          <p:nvPr/>
        </p:nvSpPr>
        <p:spPr>
          <a:xfrm>
            <a:off x="5760393" y="3619500"/>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Onboarding is tied to the processor; cross-currency events can trigger double FX and re-onboarding.</a:t>
            </a:r>
            <a:endParaRPr lang="en-US" sz="975" dirty="0"/>
          </a:p>
        </p:txBody>
      </p:sp>
      <p:sp>
        <p:nvSpPr>
          <p:cNvPr id="35" name="Text 32"/>
          <p:cNvSpPr/>
          <p:nvPr/>
        </p:nvSpPr>
        <p:spPr>
          <a:xfrm>
            <a:off x="5760393" y="4100513"/>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Entities under review</a:t>
            </a:r>
            <a:endParaRPr lang="en-US" sz="1050" dirty="0"/>
          </a:p>
        </p:txBody>
      </p:sp>
      <p:sp>
        <p:nvSpPr>
          <p:cNvPr id="36" name="Text 33"/>
          <p:cNvSpPr/>
          <p:nvPr/>
        </p:nvSpPr>
        <p:spPr>
          <a:xfrm>
            <a:off x="5760393" y="4348163"/>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Own entities operate Brazil, Argentina, Mexico and Colombia; the team is evaluating an exit from the funds flow.</a:t>
            </a:r>
            <a:endParaRPr lang="en-US" sz="975" dirty="0"/>
          </a:p>
        </p:txBody>
      </p:sp>
      <p:sp>
        <p:nvSpPr>
          <p:cNvPr id="37" name="Text 34"/>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14</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2472526"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EVENTBRITE &amp; THE MARKETPLACE GAP</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The gap nobody closes</a:t>
            </a:r>
            <a:endParaRPr lang="en-US" sz="2700" dirty="0"/>
          </a:p>
        </p:txBody>
      </p:sp>
      <p:sp>
        <p:nvSpPr>
          <p:cNvPr id="7" name="Shape 4"/>
          <p:cNvSpPr/>
          <p:nvPr/>
        </p:nvSpPr>
        <p:spPr>
          <a:xfrm>
            <a:off x="533400" y="1390650"/>
            <a:ext cx="11125200" cy="735211"/>
          </a:xfrm>
          <a:prstGeom prst="roundRect">
            <a:avLst>
              <a:gd name="adj" fmla="val 12955"/>
            </a:avLst>
          </a:prstGeom>
          <a:solidFill>
            <a:srgbClr val="EEF0FB"/>
          </a:solidFill>
          <a:ln/>
        </p:spPr>
      </p:sp>
      <p:sp>
        <p:nvSpPr>
          <p:cNvPr id="8" name="Text 5"/>
          <p:cNvSpPr/>
          <p:nvPr/>
        </p:nvSpPr>
        <p:spPr>
          <a:xfrm>
            <a:off x="762000" y="1543050"/>
            <a:ext cx="11734800" cy="258961"/>
          </a:xfrm>
          <a:prstGeom prst="rect">
            <a:avLst/>
          </a:prstGeom>
          <a:noFill/>
          <a:ln/>
        </p:spPr>
        <p:txBody>
          <a:bodyPr wrap="square" lIns="25400" tIns="25400" rIns="25400" bIns="25400" rtlCol="0" anchor="t">
            <a:normAutofit/>
          </a:bodyPr>
          <a:lstStyle/>
          <a:p>
            <a:pPr algn="l" indent="0" marL="0">
              <a:lnSpc>
                <a:spcPct val="96667"/>
              </a:lnSpc>
              <a:buNone/>
            </a:pPr>
            <a:r>
              <a:rPr lang="en-US" sz="1200" i="1" dirty="0">
                <a:solidFill>
                  <a:srgbClr val="17181C"/>
                </a:solidFill>
                <a:latin typeface="Titillium Web" pitchFamily="34" charset="0"/>
                <a:ea typeface="Titillium Web" pitchFamily="34" charset="-122"/>
                <a:cs typeface="Titillium Web" pitchFamily="34" charset="-120"/>
              </a:rPr>
              <a:t>"There are great orchestrators for pay-ins, decent ones for payouts, and no one has tied the two together."</a:t>
            </a:r>
            <a:endParaRPr lang="en-US" sz="1200" dirty="0"/>
          </a:p>
        </p:txBody>
      </p:sp>
      <p:sp>
        <p:nvSpPr>
          <p:cNvPr id="9" name="Text 6"/>
          <p:cNvSpPr/>
          <p:nvPr/>
        </p:nvSpPr>
        <p:spPr>
          <a:xfrm>
            <a:off x="762000" y="1821061"/>
            <a:ext cx="11734800" cy="190500"/>
          </a:xfrm>
          <a:prstGeom prst="rect">
            <a:avLst/>
          </a:prstGeom>
          <a:noFill/>
          <a:ln/>
        </p:spPr>
        <p:txBody>
          <a:bodyPr wrap="square" lIns="25400" tIns="25400" rIns="25400" bIns="25400" rtlCol="0" anchor="t">
            <a:normAutofit/>
          </a:bodyPr>
          <a:lstStyle/>
          <a:p>
            <a:pPr algn="l" indent="0" marL="0">
              <a:buNone/>
            </a:pPr>
            <a:r>
              <a:rPr lang="en-US" sz="825" dirty="0">
                <a:solidFill>
                  <a:srgbClr val="8C8F9E"/>
                </a:solidFill>
                <a:latin typeface="Titillium Web" pitchFamily="34" charset="0"/>
                <a:ea typeface="Titillium Web" pitchFamily="34" charset="-122"/>
                <a:cs typeface="Titillium Web" pitchFamily="34" charset="-120"/>
              </a:rPr>
              <a:t>Heard repeatedly across the industry</a:t>
            </a:r>
            <a:endParaRPr lang="en-US" sz="825" dirty="0"/>
          </a:p>
        </p:txBody>
      </p:sp>
      <p:sp>
        <p:nvSpPr>
          <p:cNvPr id="10" name="Shape 7"/>
          <p:cNvSpPr/>
          <p:nvPr/>
        </p:nvSpPr>
        <p:spPr>
          <a:xfrm>
            <a:off x="533400" y="2335411"/>
            <a:ext cx="3255764" cy="3246239"/>
          </a:xfrm>
          <a:prstGeom prst="roundRect">
            <a:avLst>
              <a:gd name="adj" fmla="val 2934"/>
            </a:avLst>
          </a:prstGeom>
          <a:solidFill>
            <a:srgbClr val="FFFFFF"/>
          </a:solidFill>
          <a:ln w="9525">
            <a:solidFill>
              <a:srgbClr val="E3E5F0"/>
            </a:solidFill>
            <a:prstDash val="solid"/>
          </a:ln>
        </p:spPr>
      </p:sp>
      <p:sp>
        <p:nvSpPr>
          <p:cNvPr id="11" name="Text 8"/>
          <p:cNvSpPr/>
          <p:nvPr/>
        </p:nvSpPr>
        <p:spPr>
          <a:xfrm>
            <a:off x="790575" y="2573536"/>
            <a:ext cx="301555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MATURE CATEGORY</a:t>
            </a:r>
            <a:endParaRPr lang="en-US" sz="788" dirty="0"/>
          </a:p>
        </p:txBody>
      </p:sp>
      <p:sp>
        <p:nvSpPr>
          <p:cNvPr id="12" name="Text 9"/>
          <p:cNvSpPr/>
          <p:nvPr/>
        </p:nvSpPr>
        <p:spPr>
          <a:xfrm>
            <a:off x="790575" y="2802136"/>
            <a:ext cx="3015555" cy="273248"/>
          </a:xfrm>
          <a:prstGeom prst="rect">
            <a:avLst/>
          </a:prstGeom>
          <a:noFill/>
          <a:ln/>
        </p:spPr>
        <p:txBody>
          <a:bodyPr wrap="square" lIns="25400" tIns="25400" rIns="25400" bIns="25400" rtlCol="0" anchor="t">
            <a:normAutofit/>
          </a:bodyPr>
          <a:lstStyle/>
          <a:p>
            <a:pPr algn="l" indent="0" marL="0">
              <a:lnSpc>
                <a:spcPct val="85172"/>
              </a:lnSpc>
              <a:buNone/>
            </a:pPr>
            <a:r>
              <a:rPr lang="en-US" sz="1425" b="1" dirty="0">
                <a:solidFill>
                  <a:srgbClr val="17181C"/>
                </a:solidFill>
                <a:latin typeface="Titillium Web" pitchFamily="34" charset="0"/>
                <a:ea typeface="Titillium Web" pitchFamily="34" charset="-122"/>
                <a:cs typeface="Titillium Web" pitchFamily="34" charset="-120"/>
              </a:rPr>
              <a:t>Pay-in orchestration</a:t>
            </a:r>
            <a:endParaRPr lang="en-US" sz="1425" dirty="0"/>
          </a:p>
        </p:txBody>
      </p:sp>
      <p:sp>
        <p:nvSpPr>
          <p:cNvPr id="13" name="Text 10"/>
          <p:cNvSpPr/>
          <p:nvPr/>
        </p:nvSpPr>
        <p:spPr>
          <a:xfrm>
            <a:off x="790575" y="3151584"/>
            <a:ext cx="2823656"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Routing, retries, tokenization, checkout. A crowded field.</a:t>
            </a:r>
            <a:endParaRPr lang="en-US" sz="975" dirty="0"/>
          </a:p>
        </p:txBody>
      </p:sp>
      <p:sp>
        <p:nvSpPr>
          <p:cNvPr id="14" name="Shape 11"/>
          <p:cNvSpPr/>
          <p:nvPr/>
        </p:nvSpPr>
        <p:spPr>
          <a:xfrm>
            <a:off x="790575" y="5010150"/>
            <a:ext cx="2741414" cy="9525"/>
          </a:xfrm>
          <a:prstGeom prst="rect">
            <a:avLst/>
          </a:prstGeom>
          <a:solidFill>
            <a:srgbClr val="E3E5F0"/>
          </a:solidFill>
          <a:ln/>
        </p:spPr>
      </p:sp>
      <p:sp>
        <p:nvSpPr>
          <p:cNvPr id="15" name="Text 12"/>
          <p:cNvSpPr/>
          <p:nvPr/>
        </p:nvSpPr>
        <p:spPr>
          <a:xfrm>
            <a:off x="790575" y="5153025"/>
            <a:ext cx="2823656" cy="228600"/>
          </a:xfrm>
          <a:prstGeom prst="rect">
            <a:avLst/>
          </a:prstGeom>
          <a:noFill/>
          <a:ln/>
        </p:spPr>
        <p:txBody>
          <a:bodyPr wrap="square" lIns="25400" tIns="25400" rIns="25400" bIns="25400" rtlCol="0" anchor="t">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Attendee side only.</a:t>
            </a:r>
            <a:endParaRPr lang="en-US" sz="975" dirty="0"/>
          </a:p>
        </p:txBody>
      </p:sp>
      <p:sp>
        <p:nvSpPr>
          <p:cNvPr id="16" name="Shape 13"/>
          <p:cNvSpPr/>
          <p:nvPr/>
        </p:nvSpPr>
        <p:spPr>
          <a:xfrm>
            <a:off x="3979664" y="2335411"/>
            <a:ext cx="4232523" cy="3246239"/>
          </a:xfrm>
          <a:prstGeom prst="roundRect">
            <a:avLst>
              <a:gd name="adj" fmla="val 2934"/>
            </a:avLst>
          </a:prstGeom>
          <a:solidFill>
            <a:srgbClr val="3E4FE0"/>
          </a:solidFill>
          <a:ln/>
        </p:spPr>
      </p:sp>
      <p:sp>
        <p:nvSpPr>
          <p:cNvPr id="17" name="Text 14"/>
          <p:cNvSpPr/>
          <p:nvPr/>
        </p:nvSpPr>
        <p:spPr>
          <a:xfrm>
            <a:off x="4246364" y="2564011"/>
            <a:ext cx="406903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FFFFFF">
                    <a:alpha val="70000"/>
                  </a:srgbClr>
                </a:solidFill>
                <a:latin typeface="Titillium Web" pitchFamily="34" charset="0"/>
                <a:ea typeface="Titillium Web" pitchFamily="34" charset="-122"/>
                <a:cs typeface="Titillium Web" pitchFamily="34" charset="-120"/>
              </a:rPr>
              <a:t>THE GAP</a:t>
            </a:r>
            <a:endParaRPr lang="en-US" sz="788" dirty="0"/>
          </a:p>
        </p:txBody>
      </p:sp>
      <p:sp>
        <p:nvSpPr>
          <p:cNvPr id="18" name="Text 15"/>
          <p:cNvSpPr/>
          <p:nvPr/>
        </p:nvSpPr>
        <p:spPr>
          <a:xfrm>
            <a:off x="4246364" y="2792611"/>
            <a:ext cx="4069035" cy="288131"/>
          </a:xfrm>
          <a:prstGeom prst="rect">
            <a:avLst/>
          </a:prstGeom>
          <a:noFill/>
          <a:ln/>
        </p:spPr>
        <p:txBody>
          <a:bodyPr wrap="square" lIns="25400" tIns="25400" rIns="25400" bIns="25400" rtlCol="0" anchor="t">
            <a:normAutofit/>
          </a:bodyPr>
          <a:lstStyle/>
          <a:p>
            <a:pPr algn="l" indent="0" marL="0">
              <a:lnSpc>
                <a:spcPct val="82031"/>
              </a:lnSpc>
              <a:buNone/>
            </a:pPr>
            <a:r>
              <a:rPr lang="en-US" sz="1575" b="1" dirty="0">
                <a:solidFill>
                  <a:srgbClr val="FFFFFF"/>
                </a:solidFill>
                <a:latin typeface="Titillium Web" pitchFamily="34" charset="0"/>
                <a:ea typeface="Titillium Web" pitchFamily="34" charset="-122"/>
                <a:cs typeface="Titillium Web" pitchFamily="34" charset="-120"/>
              </a:rPr>
              <a:t>The connecting layer</a:t>
            </a:r>
            <a:endParaRPr lang="en-US" sz="1575" dirty="0"/>
          </a:p>
        </p:txBody>
      </p:sp>
      <p:sp>
        <p:nvSpPr>
          <p:cNvPr id="19" name="Text 16"/>
          <p:cNvSpPr/>
          <p:nvPr/>
        </p:nvSpPr>
        <p:spPr>
          <a:xfrm>
            <a:off x="4246364" y="3195042"/>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0" name="Text 17"/>
          <p:cNvSpPr/>
          <p:nvPr/>
        </p:nvSpPr>
        <p:spPr>
          <a:xfrm>
            <a:off x="4494014" y="3195042"/>
            <a:ext cx="135569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KYC &amp; KYB of creators</a:t>
            </a:r>
            <a:endParaRPr lang="en-US" sz="1050" dirty="0"/>
          </a:p>
        </p:txBody>
      </p:sp>
      <p:sp>
        <p:nvSpPr>
          <p:cNvPr id="21" name="Text 18"/>
          <p:cNvSpPr/>
          <p:nvPr/>
        </p:nvSpPr>
        <p:spPr>
          <a:xfrm>
            <a:off x="4246364" y="3493145"/>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2" name="Text 19"/>
          <p:cNvSpPr/>
          <p:nvPr/>
        </p:nvSpPr>
        <p:spPr>
          <a:xfrm>
            <a:off x="4494014" y="3493145"/>
            <a:ext cx="1650206"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Funds, ledger and reserves</a:t>
            </a:r>
            <a:endParaRPr lang="en-US" sz="1050" dirty="0"/>
          </a:p>
        </p:txBody>
      </p:sp>
      <p:sp>
        <p:nvSpPr>
          <p:cNvPr id="23" name="Text 20"/>
          <p:cNvSpPr/>
          <p:nvPr/>
        </p:nvSpPr>
        <p:spPr>
          <a:xfrm>
            <a:off x="4246364" y="3791248"/>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4" name="Text 21"/>
          <p:cNvSpPr/>
          <p:nvPr/>
        </p:nvSpPr>
        <p:spPr>
          <a:xfrm>
            <a:off x="4494014" y="3791248"/>
            <a:ext cx="1222028"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FX across both sides</a:t>
            </a:r>
            <a:endParaRPr lang="en-US" sz="1050" dirty="0"/>
          </a:p>
        </p:txBody>
      </p:sp>
      <p:sp>
        <p:nvSpPr>
          <p:cNvPr id="25" name="Text 22"/>
          <p:cNvSpPr/>
          <p:nvPr/>
        </p:nvSpPr>
        <p:spPr>
          <a:xfrm>
            <a:off x="4246364" y="4089350"/>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6" name="Text 23"/>
          <p:cNvSpPr/>
          <p:nvPr/>
        </p:nvSpPr>
        <p:spPr>
          <a:xfrm>
            <a:off x="4494014" y="4089350"/>
            <a:ext cx="1544449"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Reconciliation end to end</a:t>
            </a:r>
            <a:endParaRPr lang="en-US" sz="1050" dirty="0"/>
          </a:p>
        </p:txBody>
      </p:sp>
      <p:sp>
        <p:nvSpPr>
          <p:cNvPr id="27" name="Text 24"/>
          <p:cNvSpPr/>
          <p:nvPr/>
        </p:nvSpPr>
        <p:spPr>
          <a:xfrm>
            <a:off x="4246364" y="4387453"/>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8" name="Text 25"/>
          <p:cNvSpPr/>
          <p:nvPr/>
        </p:nvSpPr>
        <p:spPr>
          <a:xfrm>
            <a:off x="4494014" y="4387453"/>
            <a:ext cx="2558475"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Fraud signals spanning pay-in and payout</a:t>
            </a:r>
            <a:endParaRPr lang="en-US" sz="1050" dirty="0"/>
          </a:p>
        </p:txBody>
      </p:sp>
      <p:sp>
        <p:nvSpPr>
          <p:cNvPr id="29" name="Shape 26"/>
          <p:cNvSpPr/>
          <p:nvPr/>
        </p:nvSpPr>
        <p:spPr>
          <a:xfrm>
            <a:off x="4246364" y="5010150"/>
            <a:ext cx="3699123" cy="9525"/>
          </a:xfrm>
          <a:prstGeom prst="rect">
            <a:avLst/>
          </a:prstGeom>
          <a:solidFill>
            <a:srgbClr val="FFFFFF">
              <a:alpha val="28000"/>
            </a:srgbClr>
          </a:solidFill>
          <a:ln/>
        </p:spPr>
      </p:sp>
      <p:sp>
        <p:nvSpPr>
          <p:cNvPr id="30" name="Text 27"/>
          <p:cNvSpPr/>
          <p:nvPr/>
        </p:nvSpPr>
        <p:spPr>
          <a:xfrm>
            <a:off x="4246364" y="5153025"/>
            <a:ext cx="3810097" cy="238125"/>
          </a:xfrm>
          <a:prstGeom prst="rect">
            <a:avLst/>
          </a:prstGeom>
          <a:noFill/>
          <a:ln/>
        </p:spPr>
        <p:txBody>
          <a:bodyPr wrap="square" lIns="25400" tIns="25400" rIns="25400" bIns="25400" rtlCol="0" anchor="t">
            <a:normAutofit/>
          </a:bodyPr>
          <a:lstStyle/>
          <a:p>
            <a:pPr algn="l" indent="0" marL="0">
              <a:buNone/>
            </a:pPr>
            <a:r>
              <a:rPr lang="en-US" sz="1050" b="1" i="1" dirty="0">
                <a:solidFill>
                  <a:srgbClr val="FFFFFF"/>
                </a:solidFill>
                <a:latin typeface="Titillium Web" pitchFamily="34" charset="0"/>
                <a:ea typeface="Titillium Web" pitchFamily="34" charset="-122"/>
                <a:cs typeface="Titillium Web" pitchFamily="34" charset="-120"/>
              </a:rPr>
              <a:t>This is where marketplaces live.</a:t>
            </a:r>
            <a:endParaRPr lang="en-US" sz="1050" dirty="0"/>
          </a:p>
        </p:txBody>
      </p:sp>
      <p:sp>
        <p:nvSpPr>
          <p:cNvPr id="31" name="Shape 28"/>
          <p:cNvSpPr/>
          <p:nvPr/>
        </p:nvSpPr>
        <p:spPr>
          <a:xfrm>
            <a:off x="8402687" y="2335411"/>
            <a:ext cx="3255764" cy="3246239"/>
          </a:xfrm>
          <a:prstGeom prst="roundRect">
            <a:avLst>
              <a:gd name="adj" fmla="val 2934"/>
            </a:avLst>
          </a:prstGeom>
          <a:solidFill>
            <a:srgbClr val="FFFFFF"/>
          </a:solidFill>
          <a:ln w="9525">
            <a:solidFill>
              <a:srgbClr val="E3E5F0"/>
            </a:solidFill>
            <a:prstDash val="solid"/>
          </a:ln>
        </p:spPr>
      </p:sp>
      <p:sp>
        <p:nvSpPr>
          <p:cNvPr id="32" name="Text 29"/>
          <p:cNvSpPr/>
          <p:nvPr/>
        </p:nvSpPr>
        <p:spPr>
          <a:xfrm>
            <a:off x="8659862" y="2573536"/>
            <a:ext cx="301555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CAPABLE, BUT BLIND</a:t>
            </a:r>
            <a:endParaRPr lang="en-US" sz="788" dirty="0"/>
          </a:p>
        </p:txBody>
      </p:sp>
      <p:sp>
        <p:nvSpPr>
          <p:cNvPr id="33" name="Text 30"/>
          <p:cNvSpPr/>
          <p:nvPr/>
        </p:nvSpPr>
        <p:spPr>
          <a:xfrm>
            <a:off x="8659862" y="2802136"/>
            <a:ext cx="3015555" cy="273248"/>
          </a:xfrm>
          <a:prstGeom prst="rect">
            <a:avLst/>
          </a:prstGeom>
          <a:noFill/>
          <a:ln/>
        </p:spPr>
        <p:txBody>
          <a:bodyPr wrap="square" lIns="25400" tIns="25400" rIns="25400" bIns="25400" rtlCol="0" anchor="t">
            <a:normAutofit/>
          </a:bodyPr>
          <a:lstStyle/>
          <a:p>
            <a:pPr algn="l" indent="0" marL="0">
              <a:lnSpc>
                <a:spcPct val="85172"/>
              </a:lnSpc>
              <a:buNone/>
            </a:pPr>
            <a:r>
              <a:rPr lang="en-US" sz="1425" b="1" dirty="0">
                <a:solidFill>
                  <a:srgbClr val="17181C"/>
                </a:solidFill>
                <a:latin typeface="Titillium Web" pitchFamily="34" charset="0"/>
                <a:ea typeface="Titillium Web" pitchFamily="34" charset="-122"/>
                <a:cs typeface="Titillium Web" pitchFamily="34" charset="-120"/>
              </a:rPr>
              <a:t>Payout providers</a:t>
            </a:r>
            <a:endParaRPr lang="en-US" sz="1425" dirty="0"/>
          </a:p>
        </p:txBody>
      </p:sp>
      <p:sp>
        <p:nvSpPr>
          <p:cNvPr id="34" name="Text 31"/>
          <p:cNvSpPr/>
          <p:nvPr/>
        </p:nvSpPr>
        <p:spPr>
          <a:xfrm>
            <a:off x="8659862" y="3151584"/>
            <a:ext cx="2823656"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Strong rails, disconnected from the money coming in.</a:t>
            </a:r>
            <a:endParaRPr lang="en-US" sz="975" dirty="0"/>
          </a:p>
        </p:txBody>
      </p:sp>
      <p:sp>
        <p:nvSpPr>
          <p:cNvPr id="35" name="Shape 32"/>
          <p:cNvSpPr/>
          <p:nvPr/>
        </p:nvSpPr>
        <p:spPr>
          <a:xfrm>
            <a:off x="8659862" y="5010150"/>
            <a:ext cx="2741414" cy="9525"/>
          </a:xfrm>
          <a:prstGeom prst="rect">
            <a:avLst/>
          </a:prstGeom>
          <a:solidFill>
            <a:srgbClr val="E3E5F0"/>
          </a:solidFill>
          <a:ln/>
        </p:spPr>
      </p:sp>
      <p:sp>
        <p:nvSpPr>
          <p:cNvPr id="36" name="Text 33"/>
          <p:cNvSpPr/>
          <p:nvPr/>
        </p:nvSpPr>
        <p:spPr>
          <a:xfrm>
            <a:off x="8659862" y="5153025"/>
            <a:ext cx="2823656" cy="228600"/>
          </a:xfrm>
          <a:prstGeom prst="rect">
            <a:avLst/>
          </a:prstGeom>
          <a:noFill/>
          <a:ln/>
        </p:spPr>
        <p:txBody>
          <a:bodyPr wrap="square" lIns="25400" tIns="25400" rIns="25400" bIns="25400" rtlCol="0" anchor="t">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No view of the pay-in side.</a:t>
            </a:r>
            <a:endParaRPr lang="en-US" sz="975" dirty="0"/>
          </a:p>
        </p:txBody>
      </p:sp>
      <p:sp>
        <p:nvSpPr>
          <p:cNvPr id="37" name="Shape 34"/>
          <p:cNvSpPr/>
          <p:nvPr/>
        </p:nvSpPr>
        <p:spPr>
          <a:xfrm>
            <a:off x="533400" y="5772150"/>
            <a:ext cx="11125200" cy="666750"/>
          </a:xfrm>
          <a:prstGeom prst="roundRect">
            <a:avLst>
              <a:gd name="adj" fmla="val 14286"/>
            </a:avLst>
          </a:prstGeom>
          <a:solidFill>
            <a:srgbClr val="17181C"/>
          </a:solidFill>
          <a:ln/>
        </p:spPr>
      </p:sp>
      <p:sp>
        <p:nvSpPr>
          <p:cNvPr id="38" name="Text 35"/>
          <p:cNvSpPr/>
          <p:nvPr/>
        </p:nvSpPr>
        <p:spPr>
          <a:xfrm>
            <a:off x="762000" y="5943600"/>
            <a:ext cx="773162"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8A94EE"/>
                </a:solidFill>
                <a:latin typeface="Titillium Web" pitchFamily="34" charset="0"/>
                <a:ea typeface="Titillium Web" pitchFamily="34" charset="-122"/>
                <a:cs typeface="Titillium Web" pitchFamily="34" charset="-120"/>
              </a:rPr>
              <a:t>100s</a:t>
            </a:r>
            <a:endParaRPr lang="en-US" sz="2550" dirty="0"/>
          </a:p>
        </p:txBody>
      </p:sp>
      <p:sp>
        <p:nvSpPr>
          <p:cNvPr id="39" name="Text 36"/>
          <p:cNvSpPr/>
          <p:nvPr/>
        </p:nvSpPr>
        <p:spPr>
          <a:xfrm>
            <a:off x="1668512" y="6009084"/>
            <a:ext cx="7991549"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of payments engineers run this middle layer at Uber and Amazon.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A company built to operate lean needs it as a service, not as an org.</a:t>
            </a:r>
            <a:endParaRPr lang="en-US" sz="1013" dirty="0"/>
          </a:p>
        </p:txBody>
      </p:sp>
      <p:sp>
        <p:nvSpPr>
          <p:cNvPr id="40" name="Text 37"/>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15</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4121423"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Modular by design</a:t>
            </a:r>
            <a:endParaRPr lang="en-US" sz="3750" dirty="0"/>
          </a:p>
        </p:txBody>
      </p:sp>
      <p:sp>
        <p:nvSpPr>
          <p:cNvPr id="9" name="Text 6"/>
          <p:cNvSpPr/>
          <p:nvPr/>
        </p:nvSpPr>
        <p:spPr>
          <a:xfrm>
            <a:off x="742950" y="5095875"/>
            <a:ext cx="4121423"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A modular operating system for payments</a:t>
            </a:r>
            <a:endParaRPr lang="en-US" sz="2700" dirty="0"/>
          </a:p>
        </p:txBody>
      </p:sp>
      <p:sp>
        <p:nvSpPr>
          <p:cNvPr id="7" name="Shape 4"/>
          <p:cNvSpPr/>
          <p:nvPr/>
        </p:nvSpPr>
        <p:spPr>
          <a:xfrm>
            <a:off x="533400" y="1466850"/>
            <a:ext cx="11125200" cy="485775"/>
          </a:xfrm>
          <a:prstGeom prst="roundRect">
            <a:avLst>
              <a:gd name="adj" fmla="val 19608"/>
            </a:avLst>
          </a:prstGeom>
          <a:solidFill>
            <a:srgbClr val="17181C"/>
          </a:solidFill>
          <a:ln/>
        </p:spPr>
      </p:sp>
      <p:sp>
        <p:nvSpPr>
          <p:cNvPr id="8" name="Text 5"/>
          <p:cNvSpPr/>
          <p:nvPr/>
        </p:nvSpPr>
        <p:spPr>
          <a:xfrm>
            <a:off x="781050" y="1600200"/>
            <a:ext cx="922734" cy="257175"/>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solidFill>
                <a:latin typeface="Titillium Web" pitchFamily="34" charset="0"/>
                <a:ea typeface="Titillium Web" pitchFamily="34" charset="-122"/>
                <a:cs typeface="Titillium Web" pitchFamily="34" charset="-120"/>
              </a:rPr>
              <a:t>EVENTBRITE</a:t>
            </a:r>
            <a:endParaRPr lang="en-US" sz="1125" dirty="0"/>
          </a:p>
        </p:txBody>
      </p:sp>
      <p:sp>
        <p:nvSpPr>
          <p:cNvPr id="9" name="Text 6"/>
          <p:cNvSpPr/>
          <p:nvPr/>
        </p:nvSpPr>
        <p:spPr>
          <a:xfrm>
            <a:off x="9029254" y="1628775"/>
            <a:ext cx="2619866"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FFFFFF">
                    <a:alpha val="65000"/>
                  </a:srgbClr>
                </a:solidFill>
                <a:latin typeface="Titillium Web" pitchFamily="34" charset="0"/>
                <a:ea typeface="Titillium Web" pitchFamily="34" charset="-122"/>
                <a:cs typeface="Titillium Web" pitchFamily="34" charset="-120"/>
              </a:rPr>
              <a:t>ONE API · ONE CONTRACT · ONE DASHBOARD</a:t>
            </a:r>
            <a:endParaRPr lang="en-US" sz="863" dirty="0"/>
          </a:p>
        </p:txBody>
      </p:sp>
      <p:sp>
        <p:nvSpPr>
          <p:cNvPr id="10" name="Shape 7"/>
          <p:cNvSpPr/>
          <p:nvPr/>
        </p:nvSpPr>
        <p:spPr>
          <a:xfrm>
            <a:off x="533400" y="2085975"/>
            <a:ext cx="11125200" cy="2912269"/>
          </a:xfrm>
          <a:prstGeom prst="roundRect">
            <a:avLst>
              <a:gd name="adj" fmla="val 3271"/>
            </a:avLst>
          </a:prstGeom>
          <a:solidFill>
            <a:srgbClr val="3E4FE0"/>
          </a:solidFill>
          <a:ln/>
        </p:spPr>
      </p:sp>
      <p:sp>
        <p:nvSpPr>
          <p:cNvPr id="11" name="Text 8"/>
          <p:cNvSpPr/>
          <p:nvPr/>
        </p:nvSpPr>
        <p:spPr>
          <a:xfrm>
            <a:off x="781050" y="2295525"/>
            <a:ext cx="1688842"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YUNO OPERATING SYSTEM</a:t>
            </a:r>
            <a:endParaRPr lang="en-US" sz="938" dirty="0"/>
          </a:p>
        </p:txBody>
      </p:sp>
      <p:sp>
        <p:nvSpPr>
          <p:cNvPr id="12" name="Text 9"/>
          <p:cNvSpPr/>
          <p:nvPr/>
        </p:nvSpPr>
        <p:spPr>
          <a:xfrm>
            <a:off x="7836396" y="2305050"/>
            <a:ext cx="3932009" cy="200025"/>
          </a:xfrm>
          <a:prstGeom prst="rect">
            <a:avLst/>
          </a:prstGeom>
          <a:noFill/>
          <a:ln/>
        </p:spPr>
        <p:txBody>
          <a:bodyPr wrap="square" lIns="25400" tIns="25400" rIns="25400" bIns="25400" rtlCol="0" anchor="t">
            <a:normAutofit/>
          </a:bodyPr>
          <a:lstStyle/>
          <a:p>
            <a:pPr algn="l" indent="0" marL="0">
              <a:buNone/>
            </a:pPr>
            <a:r>
              <a:rPr lang="en-US" sz="863" i="1" dirty="0">
                <a:solidFill>
                  <a:srgbClr val="FFFFFF">
                    <a:alpha val="82000"/>
                  </a:srgbClr>
                </a:solidFill>
                <a:latin typeface="Titillium Web" pitchFamily="34" charset="0"/>
                <a:ea typeface="Titillium Web" pitchFamily="34" charset="-122"/>
                <a:cs typeface="Titillium Web" pitchFamily="34" charset="-120"/>
              </a:rPr>
              <a:t>Every module activates standalone. Every module works with every provider below.</a:t>
            </a:r>
            <a:endParaRPr lang="en-US" sz="863" dirty="0"/>
          </a:p>
        </p:txBody>
      </p:sp>
      <p:sp>
        <p:nvSpPr>
          <p:cNvPr id="13" name="Shape 10"/>
          <p:cNvSpPr/>
          <p:nvPr/>
        </p:nvSpPr>
        <p:spPr>
          <a:xfrm>
            <a:off x="781050" y="2628900"/>
            <a:ext cx="2586038" cy="612130"/>
          </a:xfrm>
          <a:prstGeom prst="roundRect">
            <a:avLst>
              <a:gd name="adj" fmla="val 12448"/>
            </a:avLst>
          </a:prstGeom>
          <a:solidFill>
            <a:srgbClr val="FFFFFF"/>
          </a:solidFill>
          <a:ln/>
        </p:spPr>
      </p:sp>
      <p:sp>
        <p:nvSpPr>
          <p:cNvPr id="14" name="Text 11"/>
          <p:cNvSpPr/>
          <p:nvPr/>
        </p:nvSpPr>
        <p:spPr>
          <a:xfrm>
            <a:off x="933450"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Pay-in orchestration</a:t>
            </a:r>
            <a:endParaRPr lang="en-US" sz="1013" dirty="0"/>
          </a:p>
        </p:txBody>
      </p:sp>
      <p:sp>
        <p:nvSpPr>
          <p:cNvPr id="15" name="Text 12"/>
          <p:cNvSpPr/>
          <p:nvPr/>
        </p:nvSpPr>
        <p:spPr>
          <a:xfrm>
            <a:off x="933450"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Routing and retries</a:t>
            </a:r>
            <a:endParaRPr lang="en-US" sz="825" dirty="0"/>
          </a:p>
        </p:txBody>
      </p:sp>
      <p:sp>
        <p:nvSpPr>
          <p:cNvPr id="16" name="Shape 13"/>
          <p:cNvSpPr/>
          <p:nvPr/>
        </p:nvSpPr>
        <p:spPr>
          <a:xfrm>
            <a:off x="3462338" y="2628900"/>
            <a:ext cx="2586038" cy="612130"/>
          </a:xfrm>
          <a:prstGeom prst="roundRect">
            <a:avLst>
              <a:gd name="adj" fmla="val 12448"/>
            </a:avLst>
          </a:prstGeom>
          <a:solidFill>
            <a:srgbClr val="FFFFFF"/>
          </a:solidFill>
          <a:ln/>
        </p:spPr>
      </p:sp>
      <p:sp>
        <p:nvSpPr>
          <p:cNvPr id="17" name="Text 14"/>
          <p:cNvSpPr/>
          <p:nvPr/>
        </p:nvSpPr>
        <p:spPr>
          <a:xfrm>
            <a:off x="3614738"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Payouts</a:t>
            </a:r>
            <a:endParaRPr lang="en-US" sz="1013" dirty="0"/>
          </a:p>
        </p:txBody>
      </p:sp>
      <p:sp>
        <p:nvSpPr>
          <p:cNvPr id="18" name="Text 15"/>
          <p:cNvSpPr/>
          <p:nvPr/>
        </p:nvSpPr>
        <p:spPr>
          <a:xfrm>
            <a:off x="3614738"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Creator disbursement</a:t>
            </a:r>
            <a:endParaRPr lang="en-US" sz="825" dirty="0"/>
          </a:p>
        </p:txBody>
      </p:sp>
      <p:sp>
        <p:nvSpPr>
          <p:cNvPr id="19" name="Shape 16"/>
          <p:cNvSpPr/>
          <p:nvPr/>
        </p:nvSpPr>
        <p:spPr>
          <a:xfrm>
            <a:off x="6143625" y="2628900"/>
            <a:ext cx="2586038" cy="612130"/>
          </a:xfrm>
          <a:prstGeom prst="roundRect">
            <a:avLst>
              <a:gd name="adj" fmla="val 12448"/>
            </a:avLst>
          </a:prstGeom>
          <a:solidFill>
            <a:srgbClr val="FFFFFF"/>
          </a:solidFill>
          <a:ln/>
        </p:spPr>
      </p:sp>
      <p:sp>
        <p:nvSpPr>
          <p:cNvPr id="20" name="Text 17"/>
          <p:cNvSpPr/>
          <p:nvPr/>
        </p:nvSpPr>
        <p:spPr>
          <a:xfrm>
            <a:off x="6296025"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KYC &amp; KYB</a:t>
            </a:r>
            <a:endParaRPr lang="en-US" sz="1013" dirty="0"/>
          </a:p>
        </p:txBody>
      </p:sp>
      <p:sp>
        <p:nvSpPr>
          <p:cNvPr id="21" name="Text 18"/>
          <p:cNvSpPr/>
          <p:nvPr/>
        </p:nvSpPr>
        <p:spPr>
          <a:xfrm>
            <a:off x="6296025"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Portable onboarding</a:t>
            </a:r>
            <a:endParaRPr lang="en-US" sz="825" dirty="0"/>
          </a:p>
        </p:txBody>
      </p:sp>
      <p:sp>
        <p:nvSpPr>
          <p:cNvPr id="22" name="Shape 19"/>
          <p:cNvSpPr/>
          <p:nvPr/>
        </p:nvSpPr>
        <p:spPr>
          <a:xfrm>
            <a:off x="8824913" y="2628900"/>
            <a:ext cx="2586038" cy="612130"/>
          </a:xfrm>
          <a:prstGeom prst="roundRect">
            <a:avLst>
              <a:gd name="adj" fmla="val 12448"/>
            </a:avLst>
          </a:prstGeom>
          <a:solidFill>
            <a:srgbClr val="FFFFFF"/>
          </a:solidFill>
          <a:ln/>
        </p:spPr>
      </p:sp>
      <p:sp>
        <p:nvSpPr>
          <p:cNvPr id="23" name="Text 20"/>
          <p:cNvSpPr/>
          <p:nvPr/>
        </p:nvSpPr>
        <p:spPr>
          <a:xfrm>
            <a:off x="8977313"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Fraud</a:t>
            </a:r>
            <a:endParaRPr lang="en-US" sz="1013" dirty="0"/>
          </a:p>
        </p:txBody>
      </p:sp>
      <p:sp>
        <p:nvSpPr>
          <p:cNvPr id="24" name="Text 21"/>
          <p:cNvSpPr/>
          <p:nvPr/>
        </p:nvSpPr>
        <p:spPr>
          <a:xfrm>
            <a:off x="8977313"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Both sides of the loop</a:t>
            </a:r>
            <a:endParaRPr lang="en-US" sz="825" dirty="0"/>
          </a:p>
        </p:txBody>
      </p:sp>
      <p:sp>
        <p:nvSpPr>
          <p:cNvPr id="25" name="Shape 22"/>
          <p:cNvSpPr/>
          <p:nvPr/>
        </p:nvSpPr>
        <p:spPr>
          <a:xfrm>
            <a:off x="781050" y="3336280"/>
            <a:ext cx="3479750" cy="612130"/>
          </a:xfrm>
          <a:prstGeom prst="roundRect">
            <a:avLst>
              <a:gd name="adj" fmla="val 12448"/>
            </a:avLst>
          </a:prstGeom>
          <a:solidFill>
            <a:srgbClr val="FFFFFF"/>
          </a:solidFill>
          <a:ln/>
        </p:spPr>
      </p:sp>
      <p:sp>
        <p:nvSpPr>
          <p:cNvPr id="26" name="Text 23"/>
          <p:cNvSpPr/>
          <p:nvPr/>
        </p:nvSpPr>
        <p:spPr>
          <a:xfrm>
            <a:off x="933450" y="3469630"/>
            <a:ext cx="3492445"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Reconciliation</a:t>
            </a:r>
            <a:endParaRPr lang="en-US" sz="1013" dirty="0"/>
          </a:p>
        </p:txBody>
      </p:sp>
      <p:sp>
        <p:nvSpPr>
          <p:cNvPr id="27" name="Text 24"/>
          <p:cNvSpPr/>
          <p:nvPr/>
        </p:nvSpPr>
        <p:spPr>
          <a:xfrm>
            <a:off x="933450" y="3668464"/>
            <a:ext cx="3492445"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One ledger across rails</a:t>
            </a:r>
            <a:endParaRPr lang="en-US" sz="825" dirty="0"/>
          </a:p>
        </p:txBody>
      </p:sp>
      <p:sp>
        <p:nvSpPr>
          <p:cNvPr id="28" name="Shape 25"/>
          <p:cNvSpPr/>
          <p:nvPr/>
        </p:nvSpPr>
        <p:spPr>
          <a:xfrm>
            <a:off x="4356050" y="3336280"/>
            <a:ext cx="3479750" cy="612130"/>
          </a:xfrm>
          <a:prstGeom prst="roundRect">
            <a:avLst>
              <a:gd name="adj" fmla="val 12448"/>
            </a:avLst>
          </a:prstGeom>
          <a:solidFill>
            <a:srgbClr val="FFFFFF"/>
          </a:solidFill>
          <a:ln/>
        </p:spPr>
      </p:sp>
      <p:sp>
        <p:nvSpPr>
          <p:cNvPr id="29" name="Text 26"/>
          <p:cNvSpPr/>
          <p:nvPr/>
        </p:nvSpPr>
        <p:spPr>
          <a:xfrm>
            <a:off x="4508450" y="3469630"/>
            <a:ext cx="3492445"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Tokenization</a:t>
            </a:r>
            <a:endParaRPr lang="en-US" sz="1013" dirty="0"/>
          </a:p>
        </p:txBody>
      </p:sp>
      <p:sp>
        <p:nvSpPr>
          <p:cNvPr id="30" name="Text 27"/>
          <p:cNvSpPr/>
          <p:nvPr/>
        </p:nvSpPr>
        <p:spPr>
          <a:xfrm>
            <a:off x="4508450" y="3668464"/>
            <a:ext cx="3492445"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PSP-agnostic vault</a:t>
            </a:r>
            <a:endParaRPr lang="en-US" sz="825" dirty="0"/>
          </a:p>
        </p:txBody>
      </p:sp>
      <p:sp>
        <p:nvSpPr>
          <p:cNvPr id="31" name="Shape 28"/>
          <p:cNvSpPr/>
          <p:nvPr/>
        </p:nvSpPr>
        <p:spPr>
          <a:xfrm>
            <a:off x="7931051" y="3336280"/>
            <a:ext cx="3479899" cy="612130"/>
          </a:xfrm>
          <a:prstGeom prst="roundRect">
            <a:avLst>
              <a:gd name="adj" fmla="val 12448"/>
            </a:avLst>
          </a:prstGeom>
          <a:solidFill>
            <a:srgbClr val="FFFFFF"/>
          </a:solidFill>
          <a:ln/>
        </p:spPr>
      </p:sp>
      <p:sp>
        <p:nvSpPr>
          <p:cNvPr id="32" name="Text 29"/>
          <p:cNvSpPr/>
          <p:nvPr/>
        </p:nvSpPr>
        <p:spPr>
          <a:xfrm>
            <a:off x="8083451" y="3469630"/>
            <a:ext cx="3492609"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MoR partner network</a:t>
            </a:r>
            <a:endParaRPr lang="en-US" sz="1013" dirty="0"/>
          </a:p>
        </p:txBody>
      </p:sp>
      <p:sp>
        <p:nvSpPr>
          <p:cNvPr id="33" name="Text 30"/>
          <p:cNvSpPr/>
          <p:nvPr/>
        </p:nvSpPr>
        <p:spPr>
          <a:xfrm>
            <a:off x="8083451" y="3668464"/>
            <a:ext cx="3492609"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Local entities on tap</a:t>
            </a:r>
            <a:endParaRPr lang="en-US" sz="825" dirty="0"/>
          </a:p>
        </p:txBody>
      </p:sp>
      <p:sp>
        <p:nvSpPr>
          <p:cNvPr id="34" name="Shape 31"/>
          <p:cNvSpPr/>
          <p:nvPr/>
        </p:nvSpPr>
        <p:spPr>
          <a:xfrm>
            <a:off x="533400" y="5131594"/>
            <a:ext cx="11125200" cy="657225"/>
          </a:xfrm>
          <a:prstGeom prst="roundRect">
            <a:avLst>
              <a:gd name="adj" fmla="val 14493"/>
            </a:avLst>
          </a:prstGeom>
          <a:solidFill>
            <a:srgbClr val="F7F8FC"/>
          </a:solidFill>
          <a:ln w="9525">
            <a:solidFill>
              <a:srgbClr val="E3E5F0"/>
            </a:solidFill>
            <a:prstDash val="solid"/>
          </a:ln>
        </p:spPr>
      </p:sp>
      <p:sp>
        <p:nvSpPr>
          <p:cNvPr id="35" name="Text 32"/>
          <p:cNvSpPr/>
          <p:nvPr/>
        </p:nvSpPr>
        <p:spPr>
          <a:xfrm>
            <a:off x="790575" y="5384006"/>
            <a:ext cx="952649" cy="190500"/>
          </a:xfrm>
          <a:prstGeom prst="rect">
            <a:avLst/>
          </a:prstGeom>
          <a:noFill/>
          <a:ln/>
        </p:spPr>
        <p:txBody>
          <a:bodyPr wrap="non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PROVIDER LAYER</a:t>
            </a:r>
            <a:endParaRPr lang="en-US" sz="825" dirty="0"/>
          </a:p>
        </p:txBody>
      </p:sp>
      <p:sp>
        <p:nvSpPr>
          <p:cNvPr id="36" name="Shape 33"/>
          <p:cNvSpPr/>
          <p:nvPr/>
        </p:nvSpPr>
        <p:spPr>
          <a:xfrm>
            <a:off x="2940844" y="5293519"/>
            <a:ext cx="607368" cy="333375"/>
          </a:xfrm>
          <a:prstGeom prst="roundRect">
            <a:avLst>
              <a:gd name="adj" fmla="val 17143"/>
            </a:avLst>
          </a:prstGeom>
          <a:solidFill>
            <a:srgbClr val="FFFFFF"/>
          </a:solidFill>
          <a:ln w="9525">
            <a:solidFill>
              <a:srgbClr val="DDE0F0"/>
            </a:solidFill>
            <a:prstDash val="solid"/>
          </a:ln>
        </p:spPr>
      </p:sp>
      <p:sp>
        <p:nvSpPr>
          <p:cNvPr id="37" name="Text 34"/>
          <p:cNvSpPr/>
          <p:nvPr/>
        </p:nvSpPr>
        <p:spPr>
          <a:xfrm>
            <a:off x="3093244" y="5369719"/>
            <a:ext cx="37876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Stripe</a:t>
            </a:r>
            <a:endParaRPr lang="en-US" sz="938" dirty="0"/>
          </a:p>
        </p:txBody>
      </p:sp>
      <p:sp>
        <p:nvSpPr>
          <p:cNvPr id="38" name="Shape 35"/>
          <p:cNvSpPr/>
          <p:nvPr/>
        </p:nvSpPr>
        <p:spPr>
          <a:xfrm>
            <a:off x="3633936" y="5293519"/>
            <a:ext cx="780901" cy="333375"/>
          </a:xfrm>
          <a:prstGeom prst="roundRect">
            <a:avLst>
              <a:gd name="adj" fmla="val 17143"/>
            </a:avLst>
          </a:prstGeom>
          <a:solidFill>
            <a:srgbClr val="FFFFFF"/>
          </a:solidFill>
          <a:ln w="9525">
            <a:solidFill>
              <a:srgbClr val="DDE0F0"/>
            </a:solidFill>
            <a:prstDash val="solid"/>
          </a:ln>
        </p:spPr>
      </p:sp>
      <p:sp>
        <p:nvSpPr>
          <p:cNvPr id="39" name="Text 36"/>
          <p:cNvSpPr/>
          <p:nvPr/>
        </p:nvSpPr>
        <p:spPr>
          <a:xfrm>
            <a:off x="3786336" y="5369719"/>
            <a:ext cx="552301"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Braintree</a:t>
            </a:r>
            <a:endParaRPr lang="en-US" sz="938" dirty="0"/>
          </a:p>
        </p:txBody>
      </p:sp>
      <p:sp>
        <p:nvSpPr>
          <p:cNvPr id="40" name="Shape 37"/>
          <p:cNvSpPr/>
          <p:nvPr/>
        </p:nvSpPr>
        <p:spPr>
          <a:xfrm>
            <a:off x="4500563" y="5293519"/>
            <a:ext cx="879277" cy="333375"/>
          </a:xfrm>
          <a:prstGeom prst="roundRect">
            <a:avLst>
              <a:gd name="adj" fmla="val 17143"/>
            </a:avLst>
          </a:prstGeom>
          <a:solidFill>
            <a:srgbClr val="FFFFFF"/>
          </a:solidFill>
          <a:ln w="9525">
            <a:solidFill>
              <a:srgbClr val="DDE0F0"/>
            </a:solidFill>
            <a:prstDash val="solid"/>
          </a:ln>
        </p:spPr>
      </p:sp>
      <p:sp>
        <p:nvSpPr>
          <p:cNvPr id="41" name="Text 38"/>
          <p:cNvSpPr/>
          <p:nvPr/>
        </p:nvSpPr>
        <p:spPr>
          <a:xfrm>
            <a:off x="4652963" y="5369719"/>
            <a:ext cx="650677"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J.P. Morgan</a:t>
            </a:r>
            <a:endParaRPr lang="en-US" sz="938" dirty="0"/>
          </a:p>
        </p:txBody>
      </p:sp>
      <p:sp>
        <p:nvSpPr>
          <p:cNvPr id="42" name="Shape 39"/>
          <p:cNvSpPr/>
          <p:nvPr/>
        </p:nvSpPr>
        <p:spPr>
          <a:xfrm>
            <a:off x="5465564" y="5293519"/>
            <a:ext cx="622846" cy="333375"/>
          </a:xfrm>
          <a:prstGeom prst="roundRect">
            <a:avLst>
              <a:gd name="adj" fmla="val 17143"/>
            </a:avLst>
          </a:prstGeom>
          <a:solidFill>
            <a:srgbClr val="FFFFFF"/>
          </a:solidFill>
          <a:ln w="9525">
            <a:solidFill>
              <a:srgbClr val="DDE0F0"/>
            </a:solidFill>
            <a:prstDash val="solid"/>
          </a:ln>
        </p:spPr>
      </p:sp>
      <p:sp>
        <p:nvSpPr>
          <p:cNvPr id="43" name="Text 40"/>
          <p:cNvSpPr/>
          <p:nvPr/>
        </p:nvSpPr>
        <p:spPr>
          <a:xfrm>
            <a:off x="5617964" y="5369719"/>
            <a:ext cx="394246"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Adyen</a:t>
            </a:r>
            <a:endParaRPr lang="en-US" sz="938" dirty="0"/>
          </a:p>
        </p:txBody>
      </p:sp>
      <p:sp>
        <p:nvSpPr>
          <p:cNvPr id="44" name="Shape 41"/>
          <p:cNvSpPr/>
          <p:nvPr/>
        </p:nvSpPr>
        <p:spPr>
          <a:xfrm>
            <a:off x="6174135" y="5293519"/>
            <a:ext cx="1030635" cy="333375"/>
          </a:xfrm>
          <a:prstGeom prst="roundRect">
            <a:avLst>
              <a:gd name="adj" fmla="val 17143"/>
            </a:avLst>
          </a:prstGeom>
          <a:solidFill>
            <a:srgbClr val="FFFFFF"/>
          </a:solidFill>
          <a:ln w="9525">
            <a:solidFill>
              <a:srgbClr val="DDE0F0"/>
            </a:solidFill>
            <a:prstDash val="solid"/>
          </a:ln>
        </p:spPr>
      </p:sp>
      <p:sp>
        <p:nvSpPr>
          <p:cNvPr id="45" name="Text 42"/>
          <p:cNvSpPr/>
          <p:nvPr/>
        </p:nvSpPr>
        <p:spPr>
          <a:xfrm>
            <a:off x="6326535" y="5369719"/>
            <a:ext cx="802035"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Mercado Pago</a:t>
            </a:r>
            <a:endParaRPr lang="en-US" sz="938" dirty="0"/>
          </a:p>
        </p:txBody>
      </p:sp>
      <p:sp>
        <p:nvSpPr>
          <p:cNvPr id="46" name="Shape 43"/>
          <p:cNvSpPr/>
          <p:nvPr/>
        </p:nvSpPr>
        <p:spPr>
          <a:xfrm>
            <a:off x="7290495" y="5293519"/>
            <a:ext cx="631924" cy="333375"/>
          </a:xfrm>
          <a:prstGeom prst="roundRect">
            <a:avLst>
              <a:gd name="adj" fmla="val 17143"/>
            </a:avLst>
          </a:prstGeom>
          <a:solidFill>
            <a:srgbClr val="FFFFFF"/>
          </a:solidFill>
          <a:ln w="9525">
            <a:solidFill>
              <a:srgbClr val="DDE0F0"/>
            </a:solidFill>
            <a:prstDash val="solid"/>
          </a:ln>
        </p:spPr>
      </p:sp>
      <p:sp>
        <p:nvSpPr>
          <p:cNvPr id="47" name="Text 44"/>
          <p:cNvSpPr/>
          <p:nvPr/>
        </p:nvSpPr>
        <p:spPr>
          <a:xfrm>
            <a:off x="7442895" y="5369719"/>
            <a:ext cx="403324"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dLocal</a:t>
            </a:r>
            <a:endParaRPr lang="en-US" sz="938" dirty="0"/>
          </a:p>
        </p:txBody>
      </p:sp>
      <p:sp>
        <p:nvSpPr>
          <p:cNvPr id="48" name="Shape 45"/>
          <p:cNvSpPr/>
          <p:nvPr/>
        </p:nvSpPr>
        <p:spPr>
          <a:xfrm>
            <a:off x="8008144" y="5293519"/>
            <a:ext cx="933004" cy="333375"/>
          </a:xfrm>
          <a:prstGeom prst="roundRect">
            <a:avLst>
              <a:gd name="adj" fmla="val 17143"/>
            </a:avLst>
          </a:prstGeom>
          <a:solidFill>
            <a:srgbClr val="FFFFFF"/>
          </a:solidFill>
          <a:ln w="9525">
            <a:solidFill>
              <a:srgbClr val="DDE0F0"/>
            </a:solidFill>
            <a:prstDash val="solid"/>
          </a:ln>
        </p:spPr>
      </p:sp>
      <p:sp>
        <p:nvSpPr>
          <p:cNvPr id="49" name="Text 46"/>
          <p:cNvSpPr/>
          <p:nvPr/>
        </p:nvSpPr>
        <p:spPr>
          <a:xfrm>
            <a:off x="8160544" y="5369719"/>
            <a:ext cx="704404"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Cybersource</a:t>
            </a:r>
            <a:endParaRPr lang="en-US" sz="938" dirty="0"/>
          </a:p>
        </p:txBody>
      </p:sp>
      <p:sp>
        <p:nvSpPr>
          <p:cNvPr id="50" name="Text 47"/>
          <p:cNvSpPr/>
          <p:nvPr/>
        </p:nvSpPr>
        <p:spPr>
          <a:xfrm>
            <a:off x="10214967" y="5336381"/>
            <a:ext cx="631031" cy="285750"/>
          </a:xfrm>
          <a:prstGeom prst="rect">
            <a:avLst/>
          </a:prstGeom>
          <a:noFill/>
          <a:ln/>
        </p:spPr>
        <p:txBody>
          <a:bodyPr wrap="none" lIns="25400" tIns="25400" rIns="25400" bIns="25400" rtlCol="0" anchor="t">
            <a:normAutofit/>
          </a:bodyPr>
          <a:lstStyle/>
          <a:p>
            <a:pPr algn="l" indent="0" marL="0">
              <a:lnSpc>
                <a:spcPct val="66667"/>
              </a:lnSpc>
              <a:buNone/>
            </a:pPr>
            <a:r>
              <a:rPr lang="en-US" sz="1950" b="1" dirty="0">
                <a:solidFill>
                  <a:srgbClr val="3E4FE0"/>
                </a:solidFill>
                <a:latin typeface="Titillium Web" pitchFamily="34" charset="0"/>
                <a:ea typeface="Titillium Web" pitchFamily="34" charset="-122"/>
                <a:cs typeface="Titillium Web" pitchFamily="34" charset="-120"/>
              </a:rPr>
              <a:t>460+</a:t>
            </a:r>
            <a:endParaRPr lang="en-US" sz="1950" dirty="0"/>
          </a:p>
        </p:txBody>
      </p:sp>
      <p:sp>
        <p:nvSpPr>
          <p:cNvPr id="51" name="Text 48"/>
          <p:cNvSpPr/>
          <p:nvPr/>
        </p:nvSpPr>
        <p:spPr>
          <a:xfrm>
            <a:off x="10845998" y="5422106"/>
            <a:ext cx="631627" cy="200025"/>
          </a:xfrm>
          <a:prstGeom prst="rect">
            <a:avLst/>
          </a:prstGeom>
          <a:noFill/>
          <a:ln/>
        </p:spPr>
        <p:txBody>
          <a:bodyPr wrap="none" lIns="25400" tIns="25400" rIns="25400" bIns="25400" rtlCol="0" anchor="t">
            <a:normAutofit/>
          </a:bodyPr>
          <a:lstStyle/>
          <a:p>
            <a:pPr algn="l" indent="0" marL="0">
              <a:buNone/>
            </a:pPr>
            <a:r>
              <a:rPr lang="en-US" sz="863" dirty="0">
                <a:solidFill>
                  <a:srgbClr val="5B5E6B"/>
                </a:solidFill>
                <a:latin typeface="Titillium Web" pitchFamily="34" charset="0"/>
                <a:ea typeface="Titillium Web" pitchFamily="34" charset="-122"/>
                <a:cs typeface="Titillium Web" pitchFamily="34" charset="-120"/>
              </a:rPr>
              <a:t>integrations</a:t>
            </a:r>
            <a:endParaRPr lang="en-US" sz="863" dirty="0"/>
          </a:p>
        </p:txBody>
      </p:sp>
      <p:sp>
        <p:nvSpPr>
          <p:cNvPr id="52" name="Shape 49"/>
          <p:cNvSpPr/>
          <p:nvPr/>
        </p:nvSpPr>
        <p:spPr>
          <a:xfrm>
            <a:off x="533400" y="5941219"/>
            <a:ext cx="11125200" cy="497681"/>
          </a:xfrm>
          <a:prstGeom prst="roundRect">
            <a:avLst>
              <a:gd name="adj" fmla="val 19139"/>
            </a:avLst>
          </a:prstGeom>
          <a:solidFill>
            <a:srgbClr val="EEF0FB"/>
          </a:solidFill>
          <a:ln/>
        </p:spPr>
      </p:sp>
      <p:sp>
        <p:nvSpPr>
          <p:cNvPr id="53" name="Text 50"/>
          <p:cNvSpPr/>
          <p:nvPr/>
        </p:nvSpPr>
        <p:spPr>
          <a:xfrm>
            <a:off x="762000" y="6093619"/>
            <a:ext cx="110017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Adding or swapping a provider is </a:t>
            </a:r>
            <a:pPr algn="l" indent="0" marL="0">
              <a:lnSpc>
                <a:spcPct val="101250"/>
              </a:lnSpc>
              <a:buNone/>
            </a:pPr>
            <a:r>
              <a:rPr lang="en-US" sz="1013" b="1" dirty="0">
                <a:solidFill>
                  <a:srgbClr val="17181C"/>
                </a:solidFill>
                <a:latin typeface="Titillium Web" pitchFamily="34" charset="0"/>
                <a:ea typeface="Titillium Web" pitchFamily="34" charset="-122"/>
                <a:cs typeface="Titillium Web" pitchFamily="34" charset="-120"/>
              </a:rPr>
              <a:t>configuration, not a build</a:t>
            </a:r>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 Nothing obliges you to take the bundle.</a:t>
            </a:r>
            <a:endParaRPr lang="en-US" sz="1013" dirty="0"/>
          </a:p>
        </p:txBody>
      </p:sp>
      <p:sp>
        <p:nvSpPr>
          <p:cNvPr id="54" name="Text 51"/>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17</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Bundle lock-in vs modular freedom</a:t>
            </a:r>
            <a:endParaRPr lang="en-US" sz="2700" dirty="0"/>
          </a:p>
        </p:txBody>
      </p:sp>
      <p:sp>
        <p:nvSpPr>
          <p:cNvPr id="7" name="Shape 4"/>
          <p:cNvSpPr/>
          <p:nvPr/>
        </p:nvSpPr>
        <p:spPr>
          <a:xfrm>
            <a:off x="533400" y="1485900"/>
            <a:ext cx="2224980" cy="361950"/>
          </a:xfrm>
          <a:prstGeom prst="rect">
            <a:avLst/>
          </a:prstGeom>
          <a:solidFill>
            <a:srgbClr val="FFFFFF"/>
          </a:solidFill>
          <a:ln/>
        </p:spPr>
      </p:sp>
      <p:sp>
        <p:nvSpPr>
          <p:cNvPr id="8" name="Shape 5"/>
          <p:cNvSpPr/>
          <p:nvPr/>
        </p:nvSpPr>
        <p:spPr>
          <a:xfrm>
            <a:off x="2758380" y="1485900"/>
            <a:ext cx="4449961" cy="361950"/>
          </a:xfrm>
          <a:prstGeom prst="rect">
            <a:avLst/>
          </a:prstGeom>
          <a:solidFill>
            <a:srgbClr val="17181C"/>
          </a:solidFill>
          <a:ln/>
        </p:spPr>
      </p:sp>
      <p:sp>
        <p:nvSpPr>
          <p:cNvPr id="9" name="Text 6"/>
          <p:cNvSpPr/>
          <p:nvPr/>
        </p:nvSpPr>
        <p:spPr>
          <a:xfrm>
            <a:off x="2929830" y="1590675"/>
            <a:ext cx="4240560"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THE BUNDLE MODEL</a:t>
            </a:r>
            <a:endParaRPr lang="en-US" sz="825" dirty="0"/>
          </a:p>
        </p:txBody>
      </p:sp>
      <p:sp>
        <p:nvSpPr>
          <p:cNvPr id="10" name="Shape 7"/>
          <p:cNvSpPr/>
          <p:nvPr/>
        </p:nvSpPr>
        <p:spPr>
          <a:xfrm>
            <a:off x="7208341" y="1485900"/>
            <a:ext cx="4450259" cy="361950"/>
          </a:xfrm>
          <a:prstGeom prst="rect">
            <a:avLst/>
          </a:prstGeom>
          <a:solidFill>
            <a:srgbClr val="3E4FE0"/>
          </a:solidFill>
          <a:ln/>
        </p:spPr>
      </p:sp>
      <p:sp>
        <p:nvSpPr>
          <p:cNvPr id="11" name="Text 8"/>
          <p:cNvSpPr/>
          <p:nvPr/>
        </p:nvSpPr>
        <p:spPr>
          <a:xfrm>
            <a:off x="7379791" y="1590675"/>
            <a:ext cx="4240866"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THE MODULAR MODEL</a:t>
            </a:r>
            <a:endParaRPr lang="en-US" sz="825" dirty="0"/>
          </a:p>
        </p:txBody>
      </p:sp>
      <p:sp>
        <p:nvSpPr>
          <p:cNvPr id="12" name="Shape 9"/>
          <p:cNvSpPr/>
          <p:nvPr/>
        </p:nvSpPr>
        <p:spPr>
          <a:xfrm>
            <a:off x="533400" y="2319338"/>
            <a:ext cx="2224980" cy="9525"/>
          </a:xfrm>
          <a:prstGeom prst="rect">
            <a:avLst/>
          </a:prstGeom>
          <a:solidFill>
            <a:srgbClr val="E3E5F0"/>
          </a:solidFill>
          <a:ln/>
        </p:spPr>
      </p:sp>
      <p:sp>
        <p:nvSpPr>
          <p:cNvPr id="13" name="Text 10"/>
          <p:cNvSpPr/>
          <p:nvPr/>
        </p:nvSpPr>
        <p:spPr>
          <a:xfrm>
            <a:off x="685800" y="1990725"/>
            <a:ext cx="1996380" cy="223837"/>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CREATOR ONBOARDING</a:t>
            </a:r>
            <a:endParaRPr lang="en-US" sz="788" dirty="0"/>
          </a:p>
        </p:txBody>
      </p:sp>
      <p:sp>
        <p:nvSpPr>
          <p:cNvPr id="14" name="Shape 11"/>
          <p:cNvSpPr/>
          <p:nvPr/>
        </p:nvSpPr>
        <p:spPr>
          <a:xfrm>
            <a:off x="2758380" y="2319338"/>
            <a:ext cx="4449961" cy="9525"/>
          </a:xfrm>
          <a:prstGeom prst="rect">
            <a:avLst/>
          </a:prstGeom>
          <a:solidFill>
            <a:srgbClr val="E3E5F0"/>
          </a:solidFill>
          <a:ln/>
        </p:spPr>
      </p:sp>
      <p:sp>
        <p:nvSpPr>
          <p:cNvPr id="15" name="Text 12"/>
          <p:cNvSpPr/>
          <p:nvPr/>
        </p:nvSpPr>
        <p:spPr>
          <a:xfrm>
            <a:off x="2929830" y="1990725"/>
            <a:ext cx="4240560" cy="223837"/>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KYC locked to the platform account</a:t>
            </a:r>
            <a:endParaRPr lang="en-US" sz="975" dirty="0"/>
          </a:p>
        </p:txBody>
      </p:sp>
      <p:sp>
        <p:nvSpPr>
          <p:cNvPr id="16" name="Shape 13"/>
          <p:cNvSpPr/>
          <p:nvPr/>
        </p:nvSpPr>
        <p:spPr>
          <a:xfrm>
            <a:off x="7208341" y="1847850"/>
            <a:ext cx="4450259" cy="481012"/>
          </a:xfrm>
          <a:prstGeom prst="rect">
            <a:avLst/>
          </a:prstGeom>
          <a:solidFill>
            <a:srgbClr val="F7F8FC"/>
          </a:solidFill>
          <a:ln/>
        </p:spPr>
      </p:sp>
      <p:sp>
        <p:nvSpPr>
          <p:cNvPr id="17" name="Shape 14"/>
          <p:cNvSpPr/>
          <p:nvPr/>
        </p:nvSpPr>
        <p:spPr>
          <a:xfrm>
            <a:off x="7208341" y="2319338"/>
            <a:ext cx="4450259" cy="9525"/>
          </a:xfrm>
          <a:prstGeom prst="rect">
            <a:avLst/>
          </a:prstGeom>
          <a:solidFill>
            <a:srgbClr val="E3E5F0"/>
          </a:solidFill>
          <a:ln/>
        </p:spPr>
      </p:sp>
      <p:sp>
        <p:nvSpPr>
          <p:cNvPr id="18" name="Text 15"/>
          <p:cNvSpPr/>
          <p:nvPr/>
        </p:nvSpPr>
        <p:spPr>
          <a:xfrm>
            <a:off x="7379791" y="1990725"/>
            <a:ext cx="4240866" cy="223837"/>
          </a:xfrm>
          <a:prstGeom prst="rect">
            <a:avLst/>
          </a:prstGeom>
          <a:noFill/>
          <a:ln/>
        </p:spPr>
        <p:txBody>
          <a:bodyPr wrap="square" lIns="25400" tIns="25400" rIns="25400" bIns="25400" rtlCol="0" anchor="ctr">
            <a:normAutofit/>
          </a:bodyPr>
          <a:lstStyle/>
          <a:p>
            <a:pPr algn="l" indent="0" marL="0">
              <a:buNone/>
            </a:pPr>
            <a:r>
              <a:rPr lang="en-US" sz="975" b="1" dirty="0">
                <a:solidFill>
                  <a:srgbClr val="3E4FE0"/>
                </a:solidFill>
                <a:latin typeface="Titillium Web" pitchFamily="34" charset="0"/>
                <a:ea typeface="Titillium Web" pitchFamily="34" charset="-122"/>
                <a:cs typeface="Titillium Web" pitchFamily="34" charset="-120"/>
              </a:rPr>
              <a:t>Onboarded once</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 portable KYC &amp; KYB owned by you</a:t>
            </a:r>
            <a:endParaRPr lang="en-US" sz="975" dirty="0"/>
          </a:p>
        </p:txBody>
      </p:sp>
      <p:sp>
        <p:nvSpPr>
          <p:cNvPr id="19" name="Shape 16"/>
          <p:cNvSpPr/>
          <p:nvPr/>
        </p:nvSpPr>
        <p:spPr>
          <a:xfrm>
            <a:off x="533400" y="2805113"/>
            <a:ext cx="2224980" cy="9525"/>
          </a:xfrm>
          <a:prstGeom prst="rect">
            <a:avLst/>
          </a:prstGeom>
          <a:solidFill>
            <a:srgbClr val="E3E5F0"/>
          </a:solidFill>
          <a:ln/>
        </p:spPr>
      </p:sp>
      <p:sp>
        <p:nvSpPr>
          <p:cNvPr id="20" name="Text 17"/>
          <p:cNvSpPr/>
          <p:nvPr/>
        </p:nvSpPr>
        <p:spPr>
          <a:xfrm>
            <a:off x="685800" y="2471738"/>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PROCESSING</a:t>
            </a:r>
            <a:endParaRPr lang="en-US" sz="788" dirty="0"/>
          </a:p>
        </p:txBody>
      </p:sp>
      <p:sp>
        <p:nvSpPr>
          <p:cNvPr id="21" name="Shape 18"/>
          <p:cNvSpPr/>
          <p:nvPr/>
        </p:nvSpPr>
        <p:spPr>
          <a:xfrm>
            <a:off x="2758380" y="2805113"/>
            <a:ext cx="4449961" cy="9525"/>
          </a:xfrm>
          <a:prstGeom prst="rect">
            <a:avLst/>
          </a:prstGeom>
          <a:solidFill>
            <a:srgbClr val="E3E5F0"/>
          </a:solidFill>
          <a:ln/>
        </p:spPr>
      </p:sp>
      <p:sp>
        <p:nvSpPr>
          <p:cNvPr id="22" name="Text 19"/>
          <p:cNvSpPr/>
          <p:nvPr/>
        </p:nvSpPr>
        <p:spPr>
          <a:xfrm>
            <a:off x="2929830" y="2471738"/>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Same rail only, no alternative route</a:t>
            </a:r>
            <a:endParaRPr lang="en-US" sz="975" dirty="0"/>
          </a:p>
        </p:txBody>
      </p:sp>
      <p:sp>
        <p:nvSpPr>
          <p:cNvPr id="23" name="Shape 20"/>
          <p:cNvSpPr/>
          <p:nvPr/>
        </p:nvSpPr>
        <p:spPr>
          <a:xfrm>
            <a:off x="7208341" y="2328863"/>
            <a:ext cx="4450259" cy="485775"/>
          </a:xfrm>
          <a:prstGeom prst="rect">
            <a:avLst/>
          </a:prstGeom>
          <a:solidFill>
            <a:srgbClr val="F7F8FC"/>
          </a:solidFill>
          <a:ln/>
        </p:spPr>
      </p:sp>
      <p:sp>
        <p:nvSpPr>
          <p:cNvPr id="24" name="Shape 21"/>
          <p:cNvSpPr/>
          <p:nvPr/>
        </p:nvSpPr>
        <p:spPr>
          <a:xfrm>
            <a:off x="7208341" y="2805113"/>
            <a:ext cx="4450259" cy="9525"/>
          </a:xfrm>
          <a:prstGeom prst="rect">
            <a:avLst/>
          </a:prstGeom>
          <a:solidFill>
            <a:srgbClr val="E3E5F0"/>
          </a:solidFill>
          <a:ln/>
        </p:spPr>
      </p:sp>
      <p:sp>
        <p:nvSpPr>
          <p:cNvPr id="25" name="Text 22"/>
          <p:cNvSpPr/>
          <p:nvPr/>
        </p:nvSpPr>
        <p:spPr>
          <a:xfrm>
            <a:off x="7379791" y="2471738"/>
            <a:ext cx="4240866" cy="228600"/>
          </a:xfrm>
          <a:prstGeom prst="rect">
            <a:avLst/>
          </a:prstGeom>
          <a:noFill/>
          <a:ln/>
        </p:spPr>
        <p:txBody>
          <a:bodyPr wrap="square" lIns="25400" tIns="25400" rIns="25400" bIns="25400" rtlCol="0" anchor="ctr">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Best route per transaction </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across every connected provider</a:t>
            </a:r>
            <a:endParaRPr lang="en-US" sz="975" dirty="0"/>
          </a:p>
        </p:txBody>
      </p:sp>
      <p:sp>
        <p:nvSpPr>
          <p:cNvPr id="26" name="Shape 23"/>
          <p:cNvSpPr/>
          <p:nvPr/>
        </p:nvSpPr>
        <p:spPr>
          <a:xfrm>
            <a:off x="533400" y="3290888"/>
            <a:ext cx="2224980" cy="9525"/>
          </a:xfrm>
          <a:prstGeom prst="rect">
            <a:avLst/>
          </a:prstGeom>
          <a:solidFill>
            <a:srgbClr val="E3E5F0"/>
          </a:solidFill>
          <a:ln/>
        </p:spPr>
      </p:sp>
      <p:sp>
        <p:nvSpPr>
          <p:cNvPr id="27" name="Text 24"/>
          <p:cNvSpPr/>
          <p:nvPr/>
        </p:nvSpPr>
        <p:spPr>
          <a:xfrm>
            <a:off x="685800" y="2957513"/>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PAYOUT</a:t>
            </a:r>
            <a:endParaRPr lang="en-US" sz="788" dirty="0"/>
          </a:p>
        </p:txBody>
      </p:sp>
      <p:sp>
        <p:nvSpPr>
          <p:cNvPr id="28" name="Shape 25"/>
          <p:cNvSpPr/>
          <p:nvPr/>
        </p:nvSpPr>
        <p:spPr>
          <a:xfrm>
            <a:off x="2758380" y="3290888"/>
            <a:ext cx="4449961" cy="9525"/>
          </a:xfrm>
          <a:prstGeom prst="rect">
            <a:avLst/>
          </a:prstGeom>
          <a:solidFill>
            <a:srgbClr val="E3E5F0"/>
          </a:solidFill>
          <a:ln/>
        </p:spPr>
      </p:sp>
      <p:sp>
        <p:nvSpPr>
          <p:cNvPr id="29" name="Text 26"/>
          <p:cNvSpPr/>
          <p:nvPr/>
        </p:nvSpPr>
        <p:spPr>
          <a:xfrm>
            <a:off x="2929830" y="2957513"/>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Bound to country and currency</a:t>
            </a:r>
            <a:endParaRPr lang="en-US" sz="975" dirty="0"/>
          </a:p>
        </p:txBody>
      </p:sp>
      <p:sp>
        <p:nvSpPr>
          <p:cNvPr id="30" name="Shape 27"/>
          <p:cNvSpPr/>
          <p:nvPr/>
        </p:nvSpPr>
        <p:spPr>
          <a:xfrm>
            <a:off x="7208341" y="2814638"/>
            <a:ext cx="4450259" cy="485775"/>
          </a:xfrm>
          <a:prstGeom prst="rect">
            <a:avLst/>
          </a:prstGeom>
          <a:solidFill>
            <a:srgbClr val="F7F8FC"/>
          </a:solidFill>
          <a:ln/>
        </p:spPr>
      </p:sp>
      <p:sp>
        <p:nvSpPr>
          <p:cNvPr id="31" name="Shape 28"/>
          <p:cNvSpPr/>
          <p:nvPr/>
        </p:nvSpPr>
        <p:spPr>
          <a:xfrm>
            <a:off x="7208341" y="3290888"/>
            <a:ext cx="4450259" cy="9525"/>
          </a:xfrm>
          <a:prstGeom prst="rect">
            <a:avLst/>
          </a:prstGeom>
          <a:solidFill>
            <a:srgbClr val="E3E5F0"/>
          </a:solidFill>
          <a:ln/>
        </p:spPr>
      </p:sp>
      <p:sp>
        <p:nvSpPr>
          <p:cNvPr id="32" name="Text 29"/>
          <p:cNvSpPr/>
          <p:nvPr/>
        </p:nvSpPr>
        <p:spPr>
          <a:xfrm>
            <a:off x="7379791" y="2957513"/>
            <a:ext cx="4240866" cy="228600"/>
          </a:xfrm>
          <a:prstGeom prst="rect">
            <a:avLst/>
          </a:prstGeom>
          <a:noFill/>
          <a:ln/>
        </p:spPr>
        <p:txBody>
          <a:bodyPr wrap="square" lIns="25400" tIns="25400" rIns="25400" bIns="25400" rtlCol="0" anchor="ctr">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Best provider per payout</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 one ledger as source of truth</a:t>
            </a:r>
            <a:endParaRPr lang="en-US" sz="975" dirty="0"/>
          </a:p>
        </p:txBody>
      </p:sp>
      <p:sp>
        <p:nvSpPr>
          <p:cNvPr id="33" name="Shape 30"/>
          <p:cNvSpPr/>
          <p:nvPr/>
        </p:nvSpPr>
        <p:spPr>
          <a:xfrm>
            <a:off x="533400" y="3776662"/>
            <a:ext cx="2224980" cy="9525"/>
          </a:xfrm>
          <a:prstGeom prst="rect">
            <a:avLst/>
          </a:prstGeom>
          <a:solidFill>
            <a:srgbClr val="E3E5F0"/>
          </a:solidFill>
          <a:ln/>
        </p:spPr>
      </p:sp>
      <p:sp>
        <p:nvSpPr>
          <p:cNvPr id="34" name="Text 31"/>
          <p:cNvSpPr/>
          <p:nvPr/>
        </p:nvSpPr>
        <p:spPr>
          <a:xfrm>
            <a:off x="685800" y="3443288"/>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CROSS-CURRENCY EVENTS</a:t>
            </a:r>
            <a:endParaRPr lang="en-US" sz="788" dirty="0"/>
          </a:p>
        </p:txBody>
      </p:sp>
      <p:sp>
        <p:nvSpPr>
          <p:cNvPr id="35" name="Shape 32"/>
          <p:cNvSpPr/>
          <p:nvPr/>
        </p:nvSpPr>
        <p:spPr>
          <a:xfrm>
            <a:off x="2758380" y="3776662"/>
            <a:ext cx="4449961" cy="9525"/>
          </a:xfrm>
          <a:prstGeom prst="rect">
            <a:avLst/>
          </a:prstGeom>
          <a:solidFill>
            <a:srgbClr val="E3E5F0"/>
          </a:solidFill>
          <a:ln/>
        </p:spPr>
      </p:sp>
      <p:sp>
        <p:nvSpPr>
          <p:cNvPr id="36" name="Text 33"/>
          <p:cNvSpPr/>
          <p:nvPr/>
        </p:nvSpPr>
        <p:spPr>
          <a:xfrm>
            <a:off x="2929830" y="3443288"/>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FX paid twice</a:t>
            </a:r>
            <a:endParaRPr lang="en-US" sz="975" dirty="0"/>
          </a:p>
        </p:txBody>
      </p:sp>
      <p:sp>
        <p:nvSpPr>
          <p:cNvPr id="37" name="Shape 34"/>
          <p:cNvSpPr/>
          <p:nvPr/>
        </p:nvSpPr>
        <p:spPr>
          <a:xfrm>
            <a:off x="7208341" y="3300413"/>
            <a:ext cx="4450259" cy="485775"/>
          </a:xfrm>
          <a:prstGeom prst="rect">
            <a:avLst/>
          </a:prstGeom>
          <a:solidFill>
            <a:srgbClr val="F7F8FC"/>
          </a:solidFill>
          <a:ln/>
        </p:spPr>
      </p:sp>
      <p:sp>
        <p:nvSpPr>
          <p:cNvPr id="38" name="Shape 35"/>
          <p:cNvSpPr/>
          <p:nvPr/>
        </p:nvSpPr>
        <p:spPr>
          <a:xfrm>
            <a:off x="7208341" y="3776662"/>
            <a:ext cx="4450259" cy="9525"/>
          </a:xfrm>
          <a:prstGeom prst="rect">
            <a:avLst/>
          </a:prstGeom>
          <a:solidFill>
            <a:srgbClr val="E3E5F0"/>
          </a:solidFill>
          <a:ln/>
        </p:spPr>
      </p:sp>
      <p:sp>
        <p:nvSpPr>
          <p:cNvPr id="39" name="Text 36"/>
          <p:cNvSpPr/>
          <p:nvPr/>
        </p:nvSpPr>
        <p:spPr>
          <a:xfrm>
            <a:off x="7379791" y="3443288"/>
            <a:ext cx="4240866"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17181C"/>
                </a:solidFill>
                <a:latin typeface="Titillium Web" pitchFamily="34" charset="0"/>
                <a:ea typeface="Titillium Web" pitchFamily="34" charset="-122"/>
                <a:cs typeface="Titillium Web" pitchFamily="34" charset="-120"/>
              </a:rPr>
              <a:t>FX quoted once, on the winning rail</a:t>
            </a:r>
            <a:endParaRPr lang="en-US" sz="975" dirty="0"/>
          </a:p>
        </p:txBody>
      </p:sp>
      <p:sp>
        <p:nvSpPr>
          <p:cNvPr id="40" name="Text 37"/>
          <p:cNvSpPr/>
          <p:nvPr/>
        </p:nvSpPr>
        <p:spPr>
          <a:xfrm>
            <a:off x="685800" y="3929063"/>
            <a:ext cx="1996380" cy="233362"/>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COST OF SWITCHING</a:t>
            </a:r>
            <a:endParaRPr lang="en-US" sz="788" dirty="0"/>
          </a:p>
        </p:txBody>
      </p:sp>
      <p:sp>
        <p:nvSpPr>
          <p:cNvPr id="41" name="Text 38"/>
          <p:cNvSpPr/>
          <p:nvPr/>
        </p:nvSpPr>
        <p:spPr>
          <a:xfrm>
            <a:off x="2929830" y="3929063"/>
            <a:ext cx="4240560" cy="233362"/>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Leaving means </a:t>
            </a:r>
            <a:pPr algn="l" indent="0" marL="0">
              <a:buNone/>
            </a:pPr>
            <a:r>
              <a:rPr lang="en-US" sz="975" b="1" dirty="0">
                <a:solidFill>
                  <a:srgbClr val="17181C"/>
                </a:solidFill>
                <a:latin typeface="Titillium Web" pitchFamily="34" charset="0"/>
                <a:ea typeface="Titillium Web" pitchFamily="34" charset="-122"/>
                <a:cs typeface="Titillium Web" pitchFamily="34" charset="-120"/>
              </a:rPr>
              <a:t>re-onboarding every creator</a:t>
            </a:r>
            <a:endParaRPr lang="en-US" sz="975" dirty="0"/>
          </a:p>
        </p:txBody>
      </p:sp>
      <p:sp>
        <p:nvSpPr>
          <p:cNvPr id="42" name="Shape 39"/>
          <p:cNvSpPr/>
          <p:nvPr/>
        </p:nvSpPr>
        <p:spPr>
          <a:xfrm>
            <a:off x="7208341" y="3786188"/>
            <a:ext cx="4450259" cy="481012"/>
          </a:xfrm>
          <a:prstGeom prst="rect">
            <a:avLst/>
          </a:prstGeom>
          <a:solidFill>
            <a:srgbClr val="F7F8FC"/>
          </a:solidFill>
          <a:ln/>
        </p:spPr>
      </p:sp>
      <p:sp>
        <p:nvSpPr>
          <p:cNvPr id="43" name="Text 40"/>
          <p:cNvSpPr/>
          <p:nvPr/>
        </p:nvSpPr>
        <p:spPr>
          <a:xfrm>
            <a:off x="7379791" y="3929063"/>
            <a:ext cx="4240866" cy="233362"/>
          </a:xfrm>
          <a:prstGeom prst="rect">
            <a:avLst/>
          </a:prstGeom>
          <a:noFill/>
          <a:ln/>
        </p:spPr>
        <p:txBody>
          <a:bodyPr wrap="square" lIns="25400" tIns="25400" rIns="25400" bIns="25400" rtlCol="0" anchor="ctr">
            <a:normAutofit/>
          </a:bodyPr>
          <a:lstStyle/>
          <a:p>
            <a:pPr algn="l" indent="0" marL="0">
              <a:buNone/>
            </a:pPr>
            <a:r>
              <a:rPr lang="en-US" sz="975" dirty="0">
                <a:solidFill>
                  <a:srgbClr val="17181C"/>
                </a:solidFill>
                <a:latin typeface="Titillium Web" pitchFamily="34" charset="0"/>
                <a:ea typeface="Titillium Web" pitchFamily="34" charset="-122"/>
                <a:cs typeface="Titillium Web" pitchFamily="34" charset="-120"/>
              </a:rPr>
              <a:t>Swap any piece without touching the creator</a:t>
            </a:r>
            <a:endParaRPr lang="en-US" sz="975" dirty="0"/>
          </a:p>
        </p:txBody>
      </p:sp>
      <p:sp>
        <p:nvSpPr>
          <p:cNvPr id="44" name="Shape 41"/>
          <p:cNvSpPr/>
          <p:nvPr/>
        </p:nvSpPr>
        <p:spPr>
          <a:xfrm>
            <a:off x="533400" y="4438650"/>
            <a:ext cx="11125200" cy="535781"/>
          </a:xfrm>
          <a:prstGeom prst="roundRect">
            <a:avLst>
              <a:gd name="adj" fmla="val 17778"/>
            </a:avLst>
          </a:prstGeom>
          <a:solidFill>
            <a:srgbClr val="EEF0FB"/>
          </a:solidFill>
          <a:ln/>
        </p:spPr>
      </p:sp>
      <p:sp>
        <p:nvSpPr>
          <p:cNvPr id="45" name="Text 42"/>
          <p:cNvSpPr/>
          <p:nvPr/>
        </p:nvSpPr>
        <p:spPr>
          <a:xfrm>
            <a:off x="762000" y="4610100"/>
            <a:ext cx="110017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The platform products use </a:t>
            </a:r>
            <a:pPr algn="l" indent="0" marL="0">
              <a:lnSpc>
                <a:spcPct val="101250"/>
              </a:lnSpc>
              <a:buNone/>
            </a:pPr>
            <a:r>
              <a:rPr lang="en-US" sz="1013" b="1" dirty="0">
                <a:solidFill>
                  <a:srgbClr val="17181C"/>
                </a:solidFill>
                <a:latin typeface="Titillium Web" pitchFamily="34" charset="0"/>
                <a:ea typeface="Titillium Web" pitchFamily="34" charset="-122"/>
                <a:cs typeface="Titillium Web" pitchFamily="34" charset="-120"/>
              </a:rPr>
              <a:t>the same underlying KYC and payout providers </a:t>
            </a:r>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you can use standalone. Modularity returns that choice, and its economics, to you.</a:t>
            </a:r>
            <a:endParaRPr lang="en-US" sz="1013" dirty="0"/>
          </a:p>
        </p:txBody>
      </p:sp>
      <p:sp>
        <p:nvSpPr>
          <p:cNvPr id="46" name="Text 43"/>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18</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Pay-in routing, as deep as you want it</a:t>
            </a:r>
            <a:endParaRPr lang="en-US" sz="2700" dirty="0"/>
          </a:p>
        </p:txBody>
      </p:sp>
      <p:sp>
        <p:nvSpPr>
          <p:cNvPr id="7" name="Shape 4"/>
          <p:cNvSpPr/>
          <p:nvPr/>
        </p:nvSpPr>
        <p:spPr>
          <a:xfrm>
            <a:off x="533400" y="1466850"/>
            <a:ext cx="6199733" cy="4695825"/>
          </a:xfrm>
          <a:prstGeom prst="roundRect">
            <a:avLst>
              <a:gd name="adj" fmla="val 2028"/>
            </a:avLst>
          </a:prstGeom>
          <a:solidFill>
            <a:srgbClr val="3E4FE0"/>
          </a:solidFill>
          <a:ln/>
        </p:spPr>
      </p:sp>
      <p:sp>
        <p:nvSpPr>
          <p:cNvPr id="8" name="Text 5"/>
          <p:cNvSpPr/>
          <p:nvPr/>
        </p:nvSpPr>
        <p:spPr>
          <a:xfrm>
            <a:off x="800100" y="1695450"/>
            <a:ext cx="1371898"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THE ROUTE DECISION</a:t>
            </a:r>
            <a:endParaRPr lang="en-US" sz="938" dirty="0"/>
          </a:p>
        </p:txBody>
      </p:sp>
      <p:sp>
        <p:nvSpPr>
          <p:cNvPr id="9" name="Text 6"/>
          <p:cNvSpPr/>
          <p:nvPr/>
        </p:nvSpPr>
        <p:spPr>
          <a:xfrm>
            <a:off x="5091261" y="1704975"/>
            <a:ext cx="1512689" cy="200025"/>
          </a:xfrm>
          <a:prstGeom prst="rect">
            <a:avLst/>
          </a:prstGeom>
          <a:noFill/>
          <a:ln/>
        </p:spPr>
        <p:txBody>
          <a:bodyPr wrap="square" lIns="25400" tIns="25400" rIns="25400" bIns="25400" rtlCol="0" anchor="t">
            <a:normAutofit/>
          </a:bodyPr>
          <a:lstStyle/>
          <a:p>
            <a:pPr algn="l" indent="0" marL="0">
              <a:buNone/>
            </a:pPr>
            <a:r>
              <a:rPr lang="en-US" sz="863" i="1" dirty="0">
                <a:solidFill>
                  <a:srgbClr val="FFFFFF">
                    <a:alpha val="80000"/>
                  </a:srgbClr>
                </a:solidFill>
                <a:latin typeface="Titillium Web" pitchFamily="34" charset="0"/>
                <a:ea typeface="Titillium Web" pitchFamily="34" charset="-122"/>
                <a:cs typeface="Titillium Web" pitchFamily="34" charset="-120"/>
              </a:rPr>
              <a:t>BIN lookup on every transaction</a:t>
            </a:r>
            <a:endParaRPr lang="en-US" sz="863" dirty="0"/>
          </a:p>
        </p:txBody>
      </p:sp>
      <p:sp>
        <p:nvSpPr>
          <p:cNvPr id="10" name="Shape 7"/>
          <p:cNvSpPr/>
          <p:nvPr/>
        </p:nvSpPr>
        <p:spPr>
          <a:xfrm>
            <a:off x="800100" y="2047875"/>
            <a:ext cx="5666333" cy="695325"/>
          </a:xfrm>
          <a:prstGeom prst="roundRect">
            <a:avLst>
              <a:gd name="adj" fmla="val 10959"/>
            </a:avLst>
          </a:prstGeom>
          <a:solidFill>
            <a:srgbClr val="FFFFFF">
              <a:alpha val="12000"/>
            </a:srgbClr>
          </a:solidFill>
          <a:ln/>
        </p:spPr>
      </p:sp>
      <p:sp>
        <p:nvSpPr>
          <p:cNvPr id="11" name="Text 8"/>
          <p:cNvSpPr/>
          <p:nvPr/>
        </p:nvSpPr>
        <p:spPr>
          <a:xfrm>
            <a:off x="952500" y="2181225"/>
            <a:ext cx="2050971"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FFFFFF"/>
                </a:solidFill>
                <a:latin typeface="Titillium Web" pitchFamily="34" charset="0"/>
                <a:ea typeface="Titillium Web" pitchFamily="34" charset="-122"/>
                <a:cs typeface="Titillium Web" pitchFamily="34" charset="-120"/>
              </a:rPr>
              <a:t>Chase-issued card → ChaseNet</a:t>
            </a:r>
            <a:endParaRPr lang="en-US" sz="1088" dirty="0"/>
          </a:p>
        </p:txBody>
      </p:sp>
      <p:sp>
        <p:nvSpPr>
          <p:cNvPr id="12" name="Shape 9"/>
          <p:cNvSpPr/>
          <p:nvPr/>
        </p:nvSpPr>
        <p:spPr>
          <a:xfrm>
            <a:off x="5778401" y="2181225"/>
            <a:ext cx="535632" cy="171450"/>
          </a:xfrm>
          <a:prstGeom prst="roundRect">
            <a:avLst>
              <a:gd name="adj" fmla="val 22222"/>
            </a:avLst>
          </a:prstGeom>
          <a:solidFill>
            <a:srgbClr val="FFF4E0"/>
          </a:solidFill>
          <a:ln w="9525">
            <a:solidFill>
              <a:srgbClr val="F5D9A6"/>
            </a:solidFill>
            <a:prstDash val="solid"/>
          </a:ln>
        </p:spPr>
      </p:sp>
      <p:sp>
        <p:nvSpPr>
          <p:cNvPr id="13" name="Text 10"/>
          <p:cNvSpPr/>
          <p:nvPr/>
        </p:nvSpPr>
        <p:spPr>
          <a:xfrm>
            <a:off x="5845076" y="2200275"/>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14" name="Text 11"/>
          <p:cNvSpPr/>
          <p:nvPr/>
        </p:nvSpPr>
        <p:spPr>
          <a:xfrm>
            <a:off x="952500" y="2428875"/>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82000"/>
                  </a:srgbClr>
                </a:solidFill>
                <a:latin typeface="Titillium Web" pitchFamily="34" charset="0"/>
                <a:ea typeface="Titillium Web" pitchFamily="34" charset="-122"/>
                <a:cs typeface="Titillium Web" pitchFamily="34" charset="-120"/>
              </a:rPr>
              <a:t>On-us acquiring, discounted economics.</a:t>
            </a:r>
            <a:endParaRPr lang="en-US" sz="900" dirty="0"/>
          </a:p>
        </p:txBody>
      </p:sp>
      <p:sp>
        <p:nvSpPr>
          <p:cNvPr id="15" name="Shape 12"/>
          <p:cNvSpPr/>
          <p:nvPr/>
        </p:nvSpPr>
        <p:spPr>
          <a:xfrm>
            <a:off x="800100" y="2857500"/>
            <a:ext cx="5666333" cy="695325"/>
          </a:xfrm>
          <a:prstGeom prst="roundRect">
            <a:avLst>
              <a:gd name="adj" fmla="val 10959"/>
            </a:avLst>
          </a:prstGeom>
          <a:solidFill>
            <a:srgbClr val="FFFFFF">
              <a:alpha val="12000"/>
            </a:srgbClr>
          </a:solidFill>
          <a:ln/>
        </p:spPr>
      </p:sp>
      <p:sp>
        <p:nvSpPr>
          <p:cNvPr id="16" name="Text 13"/>
          <p:cNvSpPr/>
          <p:nvPr/>
        </p:nvSpPr>
        <p:spPr>
          <a:xfrm>
            <a:off x="952500" y="2990850"/>
            <a:ext cx="2123331"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FFFFFF"/>
                </a:solidFill>
                <a:latin typeface="Titillium Web" pitchFamily="34" charset="0"/>
                <a:ea typeface="Titillium Web" pitchFamily="34" charset="-122"/>
                <a:cs typeface="Titillium Web" pitchFamily="34" charset="-120"/>
              </a:rPr>
              <a:t>US debit → least-cost debit rails</a:t>
            </a:r>
            <a:endParaRPr lang="en-US" sz="1088" dirty="0"/>
          </a:p>
        </p:txBody>
      </p:sp>
      <p:sp>
        <p:nvSpPr>
          <p:cNvPr id="17" name="Shape 14"/>
          <p:cNvSpPr/>
          <p:nvPr/>
        </p:nvSpPr>
        <p:spPr>
          <a:xfrm>
            <a:off x="5778401" y="2990850"/>
            <a:ext cx="535632" cy="171450"/>
          </a:xfrm>
          <a:prstGeom prst="roundRect">
            <a:avLst>
              <a:gd name="adj" fmla="val 22222"/>
            </a:avLst>
          </a:prstGeom>
          <a:solidFill>
            <a:srgbClr val="FFF4E0"/>
          </a:solidFill>
          <a:ln w="9525">
            <a:solidFill>
              <a:srgbClr val="F5D9A6"/>
            </a:solidFill>
            <a:prstDash val="solid"/>
          </a:ln>
        </p:spPr>
      </p:sp>
      <p:sp>
        <p:nvSpPr>
          <p:cNvPr id="18" name="Text 15"/>
          <p:cNvSpPr/>
          <p:nvPr/>
        </p:nvSpPr>
        <p:spPr>
          <a:xfrm>
            <a:off x="5845076" y="3009900"/>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19" name="Text 16"/>
          <p:cNvSpPr/>
          <p:nvPr/>
        </p:nvSpPr>
        <p:spPr>
          <a:xfrm>
            <a:off x="952500" y="3238500"/>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82000"/>
                  </a:srgbClr>
                </a:solidFill>
                <a:latin typeface="Titillium Web" pitchFamily="34" charset="0"/>
                <a:ea typeface="Titillium Web" pitchFamily="34" charset="-122"/>
                <a:cs typeface="Titillium Web" pitchFamily="34" charset="-120"/>
              </a:rPr>
              <a:t>Star, Pulse, NYCE.</a:t>
            </a:r>
            <a:endParaRPr lang="en-US" sz="900" dirty="0"/>
          </a:p>
        </p:txBody>
      </p:sp>
      <p:sp>
        <p:nvSpPr>
          <p:cNvPr id="20" name="Shape 17"/>
          <p:cNvSpPr/>
          <p:nvPr/>
        </p:nvSpPr>
        <p:spPr>
          <a:xfrm>
            <a:off x="800100" y="3667125"/>
            <a:ext cx="5666333" cy="695325"/>
          </a:xfrm>
          <a:prstGeom prst="roundRect">
            <a:avLst>
              <a:gd name="adj" fmla="val 10959"/>
            </a:avLst>
          </a:prstGeom>
          <a:solidFill>
            <a:srgbClr val="FFFFFF"/>
          </a:solidFill>
          <a:ln/>
        </p:spPr>
      </p:sp>
      <p:sp>
        <p:nvSpPr>
          <p:cNvPr id="21" name="Text 18"/>
          <p:cNvSpPr/>
          <p:nvPr/>
        </p:nvSpPr>
        <p:spPr>
          <a:xfrm>
            <a:off x="952500" y="3800475"/>
            <a:ext cx="5897687"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3E4FE0"/>
                </a:solidFill>
                <a:latin typeface="Titillium Web" pitchFamily="34" charset="0"/>
                <a:ea typeface="Titillium Web" pitchFamily="34" charset="-122"/>
                <a:cs typeface="Titillium Web" pitchFamily="34" charset="-120"/>
              </a:rPr>
              <a:t>Everything else → best route by cost and auth rate</a:t>
            </a:r>
            <a:endParaRPr lang="en-US" sz="1088" dirty="0"/>
          </a:p>
        </p:txBody>
      </p:sp>
      <p:sp>
        <p:nvSpPr>
          <p:cNvPr id="22" name="Text 19"/>
          <p:cNvSpPr/>
          <p:nvPr/>
        </p:nvSpPr>
        <p:spPr>
          <a:xfrm>
            <a:off x="952500" y="4048125"/>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5B5E6B"/>
                </a:solidFill>
                <a:latin typeface="Titillium Web" pitchFamily="34" charset="0"/>
                <a:ea typeface="Titillium Web" pitchFamily="34" charset="-122"/>
                <a:cs typeface="Titillium Web" pitchFamily="34" charset="-120"/>
              </a:rPr>
              <a:t>On decline, cascading by outcome: chained steps for Succeeded, Pending, Declined and Error.</a:t>
            </a:r>
            <a:endParaRPr lang="en-US" sz="900" dirty="0"/>
          </a:p>
        </p:txBody>
      </p:sp>
      <p:sp>
        <p:nvSpPr>
          <p:cNvPr id="23" name="Shape 20"/>
          <p:cNvSpPr/>
          <p:nvPr/>
        </p:nvSpPr>
        <p:spPr>
          <a:xfrm>
            <a:off x="800100" y="5400675"/>
            <a:ext cx="5666333" cy="9525"/>
          </a:xfrm>
          <a:prstGeom prst="rect">
            <a:avLst/>
          </a:prstGeom>
          <a:solidFill>
            <a:srgbClr val="FFFFFF">
              <a:alpha val="28000"/>
            </a:srgbClr>
          </a:solidFill>
          <a:ln/>
        </p:spPr>
      </p:sp>
      <p:sp>
        <p:nvSpPr>
          <p:cNvPr id="24" name="Text 21"/>
          <p:cNvSpPr/>
          <p:nvPr/>
        </p:nvSpPr>
        <p:spPr>
          <a:xfrm>
            <a:off x="800100" y="5562600"/>
            <a:ext cx="5836323" cy="409575"/>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90000"/>
                  </a:srgbClr>
                </a:solidFill>
                <a:latin typeface="Titillium Web" pitchFamily="34" charset="0"/>
                <a:ea typeface="Titillium Web" pitchFamily="34" charset="-122"/>
                <a:cs typeface="Titillium Web" pitchFamily="34" charset="-120"/>
              </a:rPr>
              <a:t>Start with a simple cost-and-auth route across the six rails you run today, then add BIN-level logic market by market. </a:t>
            </a:r>
            <a:pPr algn="l" indent="0" marL="0">
              <a:lnSpc>
                <a:spcPct val="97500"/>
              </a:lnSpc>
              <a:buNone/>
            </a:pPr>
            <a:r>
              <a:rPr lang="en-US" sz="975" b="1" dirty="0">
                <a:solidFill>
                  <a:srgbClr val="FFFFFF"/>
                </a:solidFill>
                <a:latin typeface="Titillium Web" pitchFamily="34" charset="0"/>
                <a:ea typeface="Titillium Web" pitchFamily="34" charset="-122"/>
                <a:cs typeface="Titillium Web" pitchFamily="34" charset="-120"/>
              </a:rPr>
              <a:t>Depth is optional.</a:t>
            </a:r>
            <a:endParaRPr lang="en-US" sz="975" dirty="0"/>
          </a:p>
        </p:txBody>
      </p:sp>
      <p:sp>
        <p:nvSpPr>
          <p:cNvPr id="25" name="Shape 22"/>
          <p:cNvSpPr/>
          <p:nvPr/>
        </p:nvSpPr>
        <p:spPr>
          <a:xfrm>
            <a:off x="6961733" y="1466850"/>
            <a:ext cx="4696718" cy="1040904"/>
          </a:xfrm>
          <a:prstGeom prst="roundRect">
            <a:avLst>
              <a:gd name="adj" fmla="val 9151"/>
            </a:avLst>
          </a:prstGeom>
          <a:solidFill>
            <a:srgbClr val="EEF0FB"/>
          </a:solidFill>
          <a:ln/>
        </p:spPr>
      </p:sp>
      <p:sp>
        <p:nvSpPr>
          <p:cNvPr id="26" name="Text 23"/>
          <p:cNvSpPr/>
          <p:nvPr/>
        </p:nvSpPr>
        <p:spPr>
          <a:xfrm>
            <a:off x="7190333" y="1676400"/>
            <a:ext cx="4663470"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SMART RETRY ECONOMICS</a:t>
            </a:r>
            <a:endParaRPr lang="en-US" sz="863" dirty="0"/>
          </a:p>
        </p:txBody>
      </p:sp>
      <p:sp>
        <p:nvSpPr>
          <p:cNvPr id="27" name="Text 24"/>
          <p:cNvSpPr/>
          <p:nvPr/>
        </p:nvSpPr>
        <p:spPr>
          <a:xfrm>
            <a:off x="7190333" y="1914525"/>
            <a:ext cx="4366704"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Retry only when the expected recovery beats the scheme fees, rule based per decline code and market.</a:t>
            </a:r>
            <a:endParaRPr lang="en-US" sz="975" dirty="0"/>
          </a:p>
        </p:txBody>
      </p:sp>
      <p:sp>
        <p:nvSpPr>
          <p:cNvPr id="28" name="Shape 25"/>
          <p:cNvSpPr/>
          <p:nvPr/>
        </p:nvSpPr>
        <p:spPr>
          <a:xfrm>
            <a:off x="6961733" y="2660154"/>
            <a:ext cx="4696718" cy="868114"/>
          </a:xfrm>
          <a:prstGeom prst="roundRect">
            <a:avLst>
              <a:gd name="adj" fmla="val 10972"/>
            </a:avLst>
          </a:prstGeom>
          <a:solidFill>
            <a:srgbClr val="FFFFFF"/>
          </a:solidFill>
          <a:ln w="9525">
            <a:solidFill>
              <a:srgbClr val="E3E5F0"/>
            </a:solidFill>
            <a:prstDash val="solid"/>
          </a:ln>
        </p:spPr>
      </p:sp>
      <p:sp>
        <p:nvSpPr>
          <p:cNvPr id="29" name="Text 26"/>
          <p:cNvSpPr/>
          <p:nvPr/>
        </p:nvSpPr>
        <p:spPr>
          <a:xfrm>
            <a:off x="7199858" y="2879229"/>
            <a:ext cx="4642515"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INTERCHANGE+ VISIBILITY</a:t>
            </a:r>
            <a:endParaRPr lang="en-US" sz="863" dirty="0"/>
          </a:p>
        </p:txBody>
      </p:sp>
      <p:sp>
        <p:nvSpPr>
          <p:cNvPr id="30" name="Text 27"/>
          <p:cNvSpPr/>
          <p:nvPr/>
        </p:nvSpPr>
        <p:spPr>
          <a:xfrm>
            <a:off x="7199858" y="3117354"/>
            <a:ext cx="4642515" cy="22993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Transaction-level data surfaces downgrades and downgrade patterns.</a:t>
            </a:r>
            <a:endParaRPr lang="en-US" sz="975" dirty="0"/>
          </a:p>
        </p:txBody>
      </p:sp>
      <p:sp>
        <p:nvSpPr>
          <p:cNvPr id="31" name="Shape 28"/>
          <p:cNvSpPr/>
          <p:nvPr/>
        </p:nvSpPr>
        <p:spPr>
          <a:xfrm>
            <a:off x="6961733" y="3680668"/>
            <a:ext cx="4696718" cy="2482007"/>
          </a:xfrm>
          <a:prstGeom prst="roundRect">
            <a:avLst>
              <a:gd name="adj" fmla="val 3838"/>
            </a:avLst>
          </a:prstGeom>
          <a:solidFill>
            <a:srgbClr val="F7F8FC"/>
          </a:solidFill>
          <a:ln w="9525">
            <a:solidFill>
              <a:srgbClr val="E3E5F0"/>
            </a:solidFill>
            <a:prstDash val="solid"/>
          </a:ln>
        </p:spPr>
      </p:sp>
      <p:sp>
        <p:nvSpPr>
          <p:cNvPr id="32" name="Text 29"/>
          <p:cNvSpPr/>
          <p:nvPr/>
        </p:nvSpPr>
        <p:spPr>
          <a:xfrm>
            <a:off x="7199858" y="3880693"/>
            <a:ext cx="464251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DOCUMENTED TODAY</a:t>
            </a:r>
            <a:endParaRPr lang="en-US" sz="788" dirty="0"/>
          </a:p>
        </p:txBody>
      </p:sp>
      <p:sp>
        <p:nvSpPr>
          <p:cNvPr id="33" name="Text 30"/>
          <p:cNvSpPr/>
          <p:nvPr/>
        </p:nvSpPr>
        <p:spPr>
          <a:xfrm>
            <a:off x="7199858" y="4147393"/>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4" name="Text 31"/>
          <p:cNvSpPr/>
          <p:nvPr/>
        </p:nvSpPr>
        <p:spPr>
          <a:xfrm>
            <a:off x="7324427" y="4147393"/>
            <a:ext cx="4187726"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Condition-based routes: card type, amount, currency, payment origin, BIN range</a:t>
            </a:r>
            <a:endParaRPr lang="en-US" sz="900" dirty="0"/>
          </a:p>
        </p:txBody>
      </p:sp>
      <p:sp>
        <p:nvSpPr>
          <p:cNvPr id="35" name="Text 32"/>
          <p:cNvSpPr/>
          <p:nvPr/>
        </p:nvSpPr>
        <p:spPr>
          <a:xfrm>
            <a:off x="7199858" y="4398764"/>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6" name="Text 33"/>
          <p:cNvSpPr/>
          <p:nvPr/>
        </p:nvSpPr>
        <p:spPr>
          <a:xfrm>
            <a:off x="7324427" y="4398764"/>
            <a:ext cx="4500086"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Smart Routing AI optimizing conversion rate and costs, or conversion rate and latency</a:t>
            </a:r>
            <a:endParaRPr lang="en-US" sz="900" dirty="0"/>
          </a:p>
        </p:txBody>
      </p:sp>
      <p:sp>
        <p:nvSpPr>
          <p:cNvPr id="37" name="Text 34"/>
          <p:cNvSpPr/>
          <p:nvPr/>
        </p:nvSpPr>
        <p:spPr>
          <a:xfrm>
            <a:off x="7199858" y="4650135"/>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8" name="Text 35"/>
          <p:cNvSpPr/>
          <p:nvPr/>
        </p:nvSpPr>
        <p:spPr>
          <a:xfrm>
            <a:off x="7324427" y="4650135"/>
            <a:ext cx="3309089"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Percentage splits across connections for partial manual control</a:t>
            </a:r>
            <a:endParaRPr lang="en-US" sz="900" dirty="0"/>
          </a:p>
        </p:txBody>
      </p:sp>
      <p:sp>
        <p:nvSpPr>
          <p:cNvPr id="39" name="Text 36"/>
          <p:cNvSpPr/>
          <p:nvPr/>
        </p:nvSpPr>
        <p:spPr>
          <a:xfrm>
            <a:off x="7199858" y="4901505"/>
            <a:ext cx="114300" cy="369391"/>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40" name="Text 37"/>
          <p:cNvSpPr/>
          <p:nvPr/>
        </p:nvSpPr>
        <p:spPr>
          <a:xfrm>
            <a:off x="7324427" y="4901505"/>
            <a:ext cx="4218776" cy="369391"/>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Risk profiles as gates inside the route: fraud screening, 3DS, authentication, block and allow lists, velocity rules</a:t>
            </a:r>
            <a:endParaRPr lang="en-US" sz="900" dirty="0"/>
          </a:p>
        </p:txBody>
      </p:sp>
      <p:sp>
        <p:nvSpPr>
          <p:cNvPr id="41" name="Text 38"/>
          <p:cNvSpPr/>
          <p:nvPr/>
        </p:nvSpPr>
        <p:spPr>
          <a:xfrm>
            <a:off x="7199858" y="5318522"/>
            <a:ext cx="114300" cy="369391"/>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42" name="Text 39"/>
          <p:cNvSpPr/>
          <p:nvPr/>
        </p:nvSpPr>
        <p:spPr>
          <a:xfrm>
            <a:off x="7324427" y="5318522"/>
            <a:ext cx="4218776" cy="369391"/>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Post-authorization steps for risk review or settlement, plus no-code rule editing on published routes</a:t>
            </a:r>
            <a:endParaRPr lang="en-US" sz="900" dirty="0"/>
          </a:p>
        </p:txBody>
      </p:sp>
      <p:sp>
        <p:nvSpPr>
          <p:cNvPr id="43" name="Text 40"/>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44" name="Text 41"/>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19</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33400"/>
          </a:xfrm>
          <a:prstGeom prst="rect">
            <a:avLst/>
          </a:prstGeom>
          <a:noFill/>
          <a:ln/>
        </p:spPr>
        <p:txBody>
          <a:bodyPr wrap="square" lIns="25400" tIns="25400" rIns="25400" bIns="25400" rtlCol="0" anchor="t">
            <a:normAutofit/>
          </a:bodyPr>
          <a:lstStyle/>
          <a:p>
            <a:pPr algn="l" indent="0" marL="0">
              <a:buNone/>
            </a:pPr>
            <a:r>
              <a:rPr lang="en-US" sz="2550" b="1" dirty="0">
                <a:solidFill>
                  <a:srgbClr val="3E4FE0"/>
                </a:solidFill>
                <a:latin typeface="Titillium Web" pitchFamily="34" charset="0"/>
                <a:ea typeface="Titillium Web" pitchFamily="34" charset="-122"/>
                <a:cs typeface="Titillium Web" pitchFamily="34" charset="-120"/>
              </a:rPr>
              <a:t>Payout routing, the same discipline on the other side</a:t>
            </a:r>
            <a:endParaRPr lang="en-US" sz="2550" dirty="0"/>
          </a:p>
        </p:txBody>
      </p:sp>
      <p:sp>
        <p:nvSpPr>
          <p:cNvPr id="7" name="Shape 4"/>
          <p:cNvSpPr/>
          <p:nvPr/>
        </p:nvSpPr>
        <p:spPr>
          <a:xfrm>
            <a:off x="533400" y="1438275"/>
            <a:ext cx="3381375" cy="1421606"/>
          </a:xfrm>
          <a:prstGeom prst="roundRect">
            <a:avLst>
              <a:gd name="adj" fmla="val 6700"/>
            </a:avLst>
          </a:prstGeom>
          <a:solidFill>
            <a:srgbClr val="FFFFFF"/>
          </a:solidFill>
          <a:ln w="9525">
            <a:solidFill>
              <a:srgbClr val="E3E5F0"/>
            </a:solidFill>
            <a:prstDash val="solid"/>
          </a:ln>
        </p:spPr>
      </p:sp>
      <p:sp>
        <p:nvSpPr>
          <p:cNvPr id="8" name="Text 5"/>
          <p:cNvSpPr/>
          <p:nvPr/>
        </p:nvSpPr>
        <p:spPr>
          <a:xfrm>
            <a:off x="771525" y="1752600"/>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STEP</a:t>
            </a:r>
            <a:endParaRPr lang="en-US" sz="825" dirty="0"/>
          </a:p>
        </p:txBody>
      </p:sp>
      <p:sp>
        <p:nvSpPr>
          <p:cNvPr id="9" name="Text 6"/>
          <p:cNvSpPr/>
          <p:nvPr/>
        </p:nvSpPr>
        <p:spPr>
          <a:xfrm>
            <a:off x="3399234" y="165735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01</a:t>
            </a:r>
            <a:endParaRPr lang="en-US" sz="1950" dirty="0"/>
          </a:p>
        </p:txBody>
      </p:sp>
      <p:sp>
        <p:nvSpPr>
          <p:cNvPr id="10" name="Text 7"/>
          <p:cNvSpPr/>
          <p:nvPr/>
        </p:nvSpPr>
        <p:spPr>
          <a:xfrm>
            <a:off x="771525" y="2000250"/>
            <a:ext cx="3195638"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Payout request</a:t>
            </a:r>
            <a:endParaRPr lang="en-US" sz="1275" dirty="0"/>
          </a:p>
        </p:txBody>
      </p:sp>
      <p:sp>
        <p:nvSpPr>
          <p:cNvPr id="11" name="Text 8"/>
          <p:cNvSpPr/>
          <p:nvPr/>
        </p:nvSpPr>
        <p:spPr>
          <a:xfrm>
            <a:off x="771525" y="2283619"/>
            <a:ext cx="2992279"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Raised the moment the event settles, or on the creator schedule.</a:t>
            </a:r>
            <a:endParaRPr lang="en-US" sz="938" dirty="0"/>
          </a:p>
        </p:txBody>
      </p:sp>
      <p:sp>
        <p:nvSpPr>
          <p:cNvPr id="12" name="Shape 9"/>
          <p:cNvSpPr/>
          <p:nvPr/>
        </p:nvSpPr>
        <p:spPr>
          <a:xfrm>
            <a:off x="4067175" y="1438275"/>
            <a:ext cx="3381375" cy="1421606"/>
          </a:xfrm>
          <a:prstGeom prst="roundRect">
            <a:avLst>
              <a:gd name="adj" fmla="val 6700"/>
            </a:avLst>
          </a:prstGeom>
          <a:solidFill>
            <a:srgbClr val="EEF0FB"/>
          </a:solidFill>
          <a:ln/>
        </p:spPr>
      </p:sp>
      <p:sp>
        <p:nvSpPr>
          <p:cNvPr id="13" name="Text 10"/>
          <p:cNvSpPr/>
          <p:nvPr/>
        </p:nvSpPr>
        <p:spPr>
          <a:xfrm>
            <a:off x="4295775" y="1743075"/>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STEP</a:t>
            </a:r>
            <a:endParaRPr lang="en-US" sz="825" dirty="0"/>
          </a:p>
        </p:txBody>
      </p:sp>
      <p:sp>
        <p:nvSpPr>
          <p:cNvPr id="14" name="Text 11"/>
          <p:cNvSpPr/>
          <p:nvPr/>
        </p:nvSpPr>
        <p:spPr>
          <a:xfrm>
            <a:off x="6942534" y="16478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02</a:t>
            </a:r>
            <a:endParaRPr lang="en-US" sz="1950" dirty="0"/>
          </a:p>
        </p:txBody>
      </p:sp>
      <p:sp>
        <p:nvSpPr>
          <p:cNvPr id="15" name="Text 12"/>
          <p:cNvSpPr/>
          <p:nvPr/>
        </p:nvSpPr>
        <p:spPr>
          <a:xfrm>
            <a:off x="4295775" y="1990725"/>
            <a:ext cx="3216593"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KYC &amp; KYB gate</a:t>
            </a:r>
            <a:endParaRPr lang="en-US" sz="1275" dirty="0"/>
          </a:p>
        </p:txBody>
      </p:sp>
      <p:sp>
        <p:nvSpPr>
          <p:cNvPr id="16" name="Text 13"/>
          <p:cNvSpPr/>
          <p:nvPr/>
        </p:nvSpPr>
        <p:spPr>
          <a:xfrm>
            <a:off x="4295775" y="2274094"/>
            <a:ext cx="321659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Beneficiary verified once, then reused across every payout.</a:t>
            </a:r>
            <a:endParaRPr lang="en-US" sz="938" dirty="0"/>
          </a:p>
        </p:txBody>
      </p:sp>
      <p:sp>
        <p:nvSpPr>
          <p:cNvPr id="17" name="Shape 14"/>
          <p:cNvSpPr/>
          <p:nvPr/>
        </p:nvSpPr>
        <p:spPr>
          <a:xfrm>
            <a:off x="7600950" y="1438275"/>
            <a:ext cx="4057650" cy="1421606"/>
          </a:xfrm>
          <a:prstGeom prst="roundRect">
            <a:avLst>
              <a:gd name="adj" fmla="val 6700"/>
            </a:avLst>
          </a:prstGeom>
          <a:solidFill>
            <a:srgbClr val="3E4FE0"/>
          </a:solidFill>
          <a:ln/>
        </p:spPr>
      </p:sp>
      <p:sp>
        <p:nvSpPr>
          <p:cNvPr id="18" name="Text 15"/>
          <p:cNvSpPr/>
          <p:nvPr/>
        </p:nvSpPr>
        <p:spPr>
          <a:xfrm>
            <a:off x="7829550" y="1743075"/>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STEP</a:t>
            </a:r>
            <a:endParaRPr lang="en-US" sz="825" dirty="0"/>
          </a:p>
        </p:txBody>
      </p:sp>
      <p:sp>
        <p:nvSpPr>
          <p:cNvPr id="19" name="Text 16"/>
          <p:cNvSpPr/>
          <p:nvPr/>
        </p:nvSpPr>
        <p:spPr>
          <a:xfrm>
            <a:off x="11152584" y="16478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FFFFFF">
                    <a:alpha val="55000"/>
                  </a:srgbClr>
                </a:solidFill>
                <a:latin typeface="Titillium Web" pitchFamily="34" charset="0"/>
                <a:ea typeface="Titillium Web" pitchFamily="34" charset="-122"/>
                <a:cs typeface="Titillium Web" pitchFamily="34" charset="-120"/>
              </a:rPr>
              <a:t>03</a:t>
            </a:r>
            <a:endParaRPr lang="en-US" sz="1950" dirty="0"/>
          </a:p>
        </p:txBody>
      </p:sp>
      <p:sp>
        <p:nvSpPr>
          <p:cNvPr id="20" name="Text 17"/>
          <p:cNvSpPr/>
          <p:nvPr/>
        </p:nvSpPr>
        <p:spPr>
          <a:xfrm>
            <a:off x="7829550" y="1990725"/>
            <a:ext cx="396049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FFFFFF"/>
                </a:solidFill>
                <a:latin typeface="Titillium Web" pitchFamily="34" charset="0"/>
                <a:ea typeface="Titillium Web" pitchFamily="34" charset="-122"/>
                <a:cs typeface="Titillium Web" pitchFamily="34" charset="-120"/>
              </a:rPr>
              <a:t>Provider selection per payout</a:t>
            </a:r>
            <a:endParaRPr lang="en-US" sz="1275" dirty="0"/>
          </a:p>
        </p:txBody>
      </p:sp>
      <p:sp>
        <p:nvSpPr>
          <p:cNvPr id="21" name="Text 18"/>
          <p:cNvSpPr/>
          <p:nvPr/>
        </p:nvSpPr>
        <p:spPr>
          <a:xfrm>
            <a:off x="7829550" y="2274094"/>
            <a:ext cx="3708464"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90000"/>
                  </a:srgbClr>
                </a:solidFill>
                <a:latin typeface="Titillium Web" pitchFamily="34" charset="0"/>
                <a:ea typeface="Titillium Web" pitchFamily="34" charset="-122"/>
                <a:cs typeface="Titillium Web" pitchFamily="34" charset="-120"/>
              </a:rPr>
              <a:t>Payout routing selects the provider per market and method, with no limit on the number of records in a request.</a:t>
            </a:r>
            <a:endParaRPr lang="en-US" sz="938" dirty="0"/>
          </a:p>
        </p:txBody>
      </p:sp>
      <p:sp>
        <p:nvSpPr>
          <p:cNvPr id="22" name="Text 19"/>
          <p:cNvSpPr/>
          <p:nvPr/>
        </p:nvSpPr>
        <p:spPr>
          <a:xfrm>
            <a:off x="533400" y="3069431"/>
            <a:ext cx="653653"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EXIT RAILS</a:t>
            </a:r>
            <a:endParaRPr lang="en-US" sz="863" dirty="0"/>
          </a:p>
        </p:txBody>
      </p:sp>
      <p:sp>
        <p:nvSpPr>
          <p:cNvPr id="23" name="Shape 20"/>
          <p:cNvSpPr/>
          <p:nvPr/>
        </p:nvSpPr>
        <p:spPr>
          <a:xfrm>
            <a:off x="1244203" y="3183731"/>
            <a:ext cx="10414397" cy="9525"/>
          </a:xfrm>
          <a:prstGeom prst="rect">
            <a:avLst/>
          </a:prstGeom>
          <a:solidFill>
            <a:srgbClr val="E3E5F0"/>
          </a:solidFill>
          <a:ln/>
        </p:spPr>
      </p:sp>
      <p:sp>
        <p:nvSpPr>
          <p:cNvPr id="24" name="Shape 21"/>
          <p:cNvSpPr/>
          <p:nvPr/>
        </p:nvSpPr>
        <p:spPr>
          <a:xfrm>
            <a:off x="533400" y="3402806"/>
            <a:ext cx="3606701" cy="2369344"/>
          </a:xfrm>
          <a:prstGeom prst="roundRect">
            <a:avLst>
              <a:gd name="adj" fmla="val 4020"/>
            </a:avLst>
          </a:prstGeom>
          <a:solidFill>
            <a:srgbClr val="FFFFFF"/>
          </a:solidFill>
          <a:ln w="9525">
            <a:solidFill>
              <a:srgbClr val="E3E5F0"/>
            </a:solidFill>
            <a:prstDash val="solid"/>
          </a:ln>
        </p:spPr>
      </p:sp>
      <p:sp>
        <p:nvSpPr>
          <p:cNvPr id="25" name="Text 22"/>
          <p:cNvSpPr/>
          <p:nvPr/>
        </p:nvSpPr>
        <p:spPr>
          <a:xfrm>
            <a:off x="771525" y="3688556"/>
            <a:ext cx="406747"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A</a:t>
            </a:r>
            <a:endParaRPr lang="en-US" sz="825" dirty="0"/>
          </a:p>
        </p:txBody>
      </p:sp>
      <p:sp>
        <p:nvSpPr>
          <p:cNvPr id="26" name="Text 23"/>
          <p:cNvSpPr/>
          <p:nvPr/>
        </p:nvSpPr>
        <p:spPr>
          <a:xfrm>
            <a:off x="3775770" y="3621881"/>
            <a:ext cx="202406"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A</a:t>
            </a:r>
            <a:endParaRPr lang="en-US" sz="1650" dirty="0"/>
          </a:p>
        </p:txBody>
      </p:sp>
      <p:sp>
        <p:nvSpPr>
          <p:cNvPr id="27" name="Text 24"/>
          <p:cNvSpPr/>
          <p:nvPr/>
        </p:nvSpPr>
        <p:spPr>
          <a:xfrm>
            <a:off x="771525" y="3936206"/>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Local bank transfer</a:t>
            </a:r>
            <a:endParaRPr lang="en-US" sz="1275" dirty="0"/>
          </a:p>
        </p:txBody>
      </p:sp>
      <p:sp>
        <p:nvSpPr>
          <p:cNvPr id="28" name="Text 25"/>
          <p:cNvSpPr/>
          <p:nvPr/>
        </p:nvSpPr>
        <p:spPr>
          <a:xfrm>
            <a:off x="771525" y="4219575"/>
            <a:ext cx="344349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Directly into local bank accounts in the preferred currency.</a:t>
            </a:r>
            <a:endParaRPr lang="en-US" sz="938" dirty="0"/>
          </a:p>
        </p:txBody>
      </p:sp>
      <p:sp>
        <p:nvSpPr>
          <p:cNvPr id="29" name="Shape 26"/>
          <p:cNvSpPr/>
          <p:nvPr/>
        </p:nvSpPr>
        <p:spPr>
          <a:xfrm>
            <a:off x="4292501" y="3402806"/>
            <a:ext cx="3606850" cy="2369344"/>
          </a:xfrm>
          <a:prstGeom prst="roundRect">
            <a:avLst>
              <a:gd name="adj" fmla="val 4020"/>
            </a:avLst>
          </a:prstGeom>
          <a:solidFill>
            <a:srgbClr val="EEF0FB"/>
          </a:solidFill>
          <a:ln/>
        </p:spPr>
      </p:sp>
      <p:sp>
        <p:nvSpPr>
          <p:cNvPr id="30" name="Text 27"/>
          <p:cNvSpPr/>
          <p:nvPr/>
        </p:nvSpPr>
        <p:spPr>
          <a:xfrm>
            <a:off x="4521101" y="3679031"/>
            <a:ext cx="407491"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B</a:t>
            </a:r>
            <a:endParaRPr lang="en-US" sz="825" dirty="0"/>
          </a:p>
        </p:txBody>
      </p:sp>
      <p:sp>
        <p:nvSpPr>
          <p:cNvPr id="31" name="Text 28"/>
          <p:cNvSpPr/>
          <p:nvPr/>
        </p:nvSpPr>
        <p:spPr>
          <a:xfrm>
            <a:off x="7543056" y="3612356"/>
            <a:ext cx="203895"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B</a:t>
            </a:r>
            <a:endParaRPr lang="en-US" sz="1650" dirty="0"/>
          </a:p>
        </p:txBody>
      </p:sp>
      <p:sp>
        <p:nvSpPr>
          <p:cNvPr id="32" name="Text 29"/>
          <p:cNvSpPr/>
          <p:nvPr/>
        </p:nvSpPr>
        <p:spPr>
          <a:xfrm>
            <a:off x="4521101" y="3926681"/>
            <a:ext cx="346461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Card payout via Referenced Payouts</a:t>
            </a:r>
            <a:endParaRPr lang="en-US" sz="1275" dirty="0"/>
          </a:p>
        </p:txBody>
      </p:sp>
      <p:sp>
        <p:nvSpPr>
          <p:cNvPr id="33" name="Text 30"/>
          <p:cNvSpPr/>
          <p:nvPr/>
        </p:nvSpPr>
        <p:spPr>
          <a:xfrm>
            <a:off x="4521101" y="4210050"/>
            <a:ext cx="3244139" cy="573881"/>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Pays out to the card used in the original payment by referencing that transaction, so </a:t>
            </a:r>
            <a:pPr algn="l" indent="0" marL="0">
              <a:lnSpc>
                <a:spcPct val="98684"/>
              </a:lnSpc>
              <a:buNone/>
            </a:pPr>
            <a:r>
              <a:rPr lang="en-US" sz="938" b="1" dirty="0">
                <a:solidFill>
                  <a:srgbClr val="17181C"/>
                </a:solidFill>
                <a:latin typeface="Titillium Web" pitchFamily="34" charset="0"/>
                <a:ea typeface="Titillium Web" pitchFamily="34" charset="-122"/>
                <a:cs typeface="Titillium Web" pitchFamily="34" charset="-120"/>
              </a:rPr>
              <a:t>the merchant never handles card data </a:t>
            </a:r>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a:t>
            </a:r>
            <a:endParaRPr lang="en-US" sz="938" dirty="0"/>
          </a:p>
        </p:txBody>
      </p:sp>
      <p:sp>
        <p:nvSpPr>
          <p:cNvPr id="34" name="Shape 31"/>
          <p:cNvSpPr/>
          <p:nvPr/>
        </p:nvSpPr>
        <p:spPr>
          <a:xfrm>
            <a:off x="8051750" y="3402806"/>
            <a:ext cx="3606701" cy="2369344"/>
          </a:xfrm>
          <a:prstGeom prst="roundRect">
            <a:avLst>
              <a:gd name="adj" fmla="val 4020"/>
            </a:avLst>
          </a:prstGeom>
          <a:solidFill>
            <a:srgbClr val="FFFFFF"/>
          </a:solidFill>
          <a:ln w="9525">
            <a:solidFill>
              <a:srgbClr val="E3E5F0"/>
            </a:solidFill>
            <a:prstDash val="solid"/>
          </a:ln>
        </p:spPr>
      </p:sp>
      <p:sp>
        <p:nvSpPr>
          <p:cNvPr id="35" name="Text 32"/>
          <p:cNvSpPr/>
          <p:nvPr/>
        </p:nvSpPr>
        <p:spPr>
          <a:xfrm>
            <a:off x="8289875" y="3688556"/>
            <a:ext cx="40049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C</a:t>
            </a:r>
            <a:endParaRPr lang="en-US" sz="825" dirty="0"/>
          </a:p>
        </p:txBody>
      </p:sp>
      <p:sp>
        <p:nvSpPr>
          <p:cNvPr id="36" name="Text 33"/>
          <p:cNvSpPr/>
          <p:nvPr/>
        </p:nvSpPr>
        <p:spPr>
          <a:xfrm>
            <a:off x="11306473" y="3621881"/>
            <a:ext cx="190054"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C</a:t>
            </a:r>
            <a:endParaRPr lang="en-US" sz="1650" dirty="0"/>
          </a:p>
        </p:txBody>
      </p:sp>
      <p:sp>
        <p:nvSpPr>
          <p:cNvPr id="37" name="Text 34"/>
          <p:cNvSpPr/>
          <p:nvPr/>
        </p:nvSpPr>
        <p:spPr>
          <a:xfrm>
            <a:off x="8289875" y="3936206"/>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Wallets</a:t>
            </a:r>
            <a:endParaRPr lang="en-US" sz="1275" dirty="0"/>
          </a:p>
        </p:txBody>
      </p:sp>
      <p:sp>
        <p:nvSpPr>
          <p:cNvPr id="38" name="Text 35"/>
          <p:cNvSpPr/>
          <p:nvPr/>
        </p:nvSpPr>
        <p:spPr>
          <a:xfrm>
            <a:off x="8289875" y="4219575"/>
            <a:ext cx="344349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Where the creator base already holds balances.</a:t>
            </a:r>
            <a:endParaRPr lang="en-US" sz="938" dirty="0"/>
          </a:p>
        </p:txBody>
      </p:sp>
      <p:sp>
        <p:nvSpPr>
          <p:cNvPr id="39" name="Shape 36"/>
          <p:cNvSpPr/>
          <p:nvPr/>
        </p:nvSpPr>
        <p:spPr>
          <a:xfrm>
            <a:off x="533400" y="5943600"/>
            <a:ext cx="11125200" cy="495300"/>
          </a:xfrm>
          <a:prstGeom prst="roundRect">
            <a:avLst>
              <a:gd name="adj" fmla="val 19231"/>
            </a:avLst>
          </a:prstGeom>
          <a:solidFill>
            <a:srgbClr val="EEF0FB"/>
          </a:solidFill>
          <a:ln/>
        </p:spPr>
      </p:sp>
      <p:sp>
        <p:nvSpPr>
          <p:cNvPr id="40" name="Text 37"/>
          <p:cNvSpPr/>
          <p:nvPr/>
        </p:nvSpPr>
        <p:spPr>
          <a:xfrm>
            <a:off x="762000" y="6096000"/>
            <a:ext cx="11001756" cy="228600"/>
          </a:xfrm>
          <a:prstGeom prst="rect">
            <a:avLst/>
          </a:prstGeom>
          <a:noFill/>
          <a:ln/>
        </p:spPr>
        <p:txBody>
          <a:bodyPr wrap="square" lIns="25400" tIns="25400" rIns="25400" bIns="25400" rtlCol="0" anchor="t">
            <a:normAutofit/>
          </a:bodyPr>
          <a:lstStyle/>
          <a:p>
            <a:pPr algn="l" indent="0" marL="0">
              <a:buNone/>
            </a:pPr>
            <a:r>
              <a:rPr lang="en-US" sz="1013" dirty="0">
                <a:solidFill>
                  <a:srgbClr val="17181C"/>
                </a:solidFill>
                <a:latin typeface="Titillium Web" pitchFamily="34" charset="0"/>
                <a:ea typeface="Titillium Web" pitchFamily="34" charset="-122"/>
                <a:cs typeface="Titillium Web" pitchFamily="34" charset="-120"/>
              </a:rPr>
              <a:t>Real-time payout status and notifications across providers.</a:t>
            </a:r>
            <a:endParaRPr lang="en-US" sz="1013" dirty="0"/>
          </a:p>
        </p:txBody>
      </p:sp>
      <p:sp>
        <p:nvSpPr>
          <p:cNvPr id="41" name="Text 38"/>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20</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Split marketplace payments, native</a:t>
            </a:r>
            <a:endParaRPr lang="en-US" sz="2700" dirty="0"/>
          </a:p>
        </p:txBody>
      </p:sp>
      <p:sp>
        <p:nvSpPr>
          <p:cNvPr id="7" name="Shape 4"/>
          <p:cNvSpPr/>
          <p:nvPr/>
        </p:nvSpPr>
        <p:spPr>
          <a:xfrm>
            <a:off x="533400" y="1466850"/>
            <a:ext cx="3606701" cy="1421606"/>
          </a:xfrm>
          <a:prstGeom prst="roundRect">
            <a:avLst>
              <a:gd name="adj" fmla="val 6700"/>
            </a:avLst>
          </a:prstGeom>
          <a:solidFill>
            <a:srgbClr val="3E4FE0"/>
          </a:solidFill>
          <a:ln/>
        </p:spPr>
      </p:sp>
      <p:sp>
        <p:nvSpPr>
          <p:cNvPr id="8" name="Text 5"/>
          <p:cNvSpPr/>
          <p:nvPr/>
        </p:nvSpPr>
        <p:spPr>
          <a:xfrm>
            <a:off x="762000" y="1771650"/>
            <a:ext cx="98673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ON THE PAYMENT</a:t>
            </a:r>
            <a:endParaRPr lang="en-US" sz="825" dirty="0"/>
          </a:p>
        </p:txBody>
      </p:sp>
      <p:sp>
        <p:nvSpPr>
          <p:cNvPr id="9" name="Text 6"/>
          <p:cNvSpPr/>
          <p:nvPr/>
        </p:nvSpPr>
        <p:spPr>
          <a:xfrm>
            <a:off x="3634085" y="167640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FFFFFF">
                    <a:alpha val="55000"/>
                  </a:srgbClr>
                </a:solidFill>
                <a:latin typeface="Titillium Web" pitchFamily="34" charset="0"/>
                <a:ea typeface="Titillium Web" pitchFamily="34" charset="-122"/>
                <a:cs typeface="Titillium Web" pitchFamily="34" charset="-120"/>
              </a:rPr>
              <a:t>01</a:t>
            </a:r>
            <a:endParaRPr lang="en-US" sz="1950" dirty="0"/>
          </a:p>
        </p:txBody>
      </p:sp>
      <p:sp>
        <p:nvSpPr>
          <p:cNvPr id="10" name="Text 7"/>
          <p:cNvSpPr/>
          <p:nvPr/>
        </p:nvSpPr>
        <p:spPr>
          <a:xfrm>
            <a:off x="762000" y="2019300"/>
            <a:ext cx="3464451"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FFFFFF"/>
                </a:solidFill>
                <a:latin typeface="Titillium Web" pitchFamily="34" charset="0"/>
                <a:ea typeface="Titillium Web" pitchFamily="34" charset="-122"/>
                <a:cs typeface="Titillium Web" pitchFamily="34" charset="-120"/>
              </a:rPr>
              <a:t>Split among recipients</a:t>
            </a:r>
            <a:endParaRPr lang="en-US" sz="1275" dirty="0"/>
          </a:p>
        </p:txBody>
      </p:sp>
      <p:sp>
        <p:nvSpPr>
          <p:cNvPr id="11" name="Text 8"/>
          <p:cNvSpPr/>
          <p:nvPr/>
        </p:nvSpPr>
        <p:spPr>
          <a:xfrm>
            <a:off x="762000" y="2302669"/>
            <a:ext cx="3464451"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90000"/>
                  </a:srgbClr>
                </a:solidFill>
                <a:latin typeface="Titillium Web" pitchFamily="34" charset="0"/>
                <a:ea typeface="Titillium Web" pitchFamily="34" charset="-122"/>
                <a:cs typeface="Titillium Web" pitchFamily="34" charset="-120"/>
              </a:rPr>
              <a:t>Manual or automatic: percentage, fixed, or mixed.</a:t>
            </a:r>
            <a:endParaRPr lang="en-US" sz="938" dirty="0"/>
          </a:p>
        </p:txBody>
      </p:sp>
      <p:sp>
        <p:nvSpPr>
          <p:cNvPr id="12" name="Shape 9"/>
          <p:cNvSpPr/>
          <p:nvPr/>
        </p:nvSpPr>
        <p:spPr>
          <a:xfrm>
            <a:off x="4292501" y="1466850"/>
            <a:ext cx="3606850" cy="1421606"/>
          </a:xfrm>
          <a:prstGeom prst="roundRect">
            <a:avLst>
              <a:gd name="adj" fmla="val 6700"/>
            </a:avLst>
          </a:prstGeom>
          <a:solidFill>
            <a:srgbClr val="EEF0FB"/>
          </a:solidFill>
          <a:ln/>
        </p:spPr>
      </p:sp>
      <p:sp>
        <p:nvSpPr>
          <p:cNvPr id="13" name="Text 10"/>
          <p:cNvSpPr/>
          <p:nvPr/>
        </p:nvSpPr>
        <p:spPr>
          <a:xfrm>
            <a:off x="4521101" y="1771650"/>
            <a:ext cx="1034802"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ON THE RECIPIENT</a:t>
            </a:r>
            <a:endParaRPr lang="en-US" sz="825" dirty="0"/>
          </a:p>
        </p:txBody>
      </p:sp>
      <p:sp>
        <p:nvSpPr>
          <p:cNvPr id="14" name="Text 11"/>
          <p:cNvSpPr/>
          <p:nvPr/>
        </p:nvSpPr>
        <p:spPr>
          <a:xfrm>
            <a:off x="7393335" y="167640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02</a:t>
            </a:r>
            <a:endParaRPr lang="en-US" sz="1950" dirty="0"/>
          </a:p>
        </p:txBody>
      </p:sp>
      <p:sp>
        <p:nvSpPr>
          <p:cNvPr id="15" name="Text 12"/>
          <p:cNvSpPr/>
          <p:nvPr/>
        </p:nvSpPr>
        <p:spPr>
          <a:xfrm>
            <a:off x="4521101" y="2019300"/>
            <a:ext cx="346461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Recipient onboarding</a:t>
            </a:r>
            <a:endParaRPr lang="en-US" sz="1275" dirty="0"/>
          </a:p>
        </p:txBody>
      </p:sp>
      <p:sp>
        <p:nvSpPr>
          <p:cNvPr id="16" name="Text 13"/>
          <p:cNvSpPr/>
          <p:nvPr/>
        </p:nvSpPr>
        <p:spPr>
          <a:xfrm>
            <a:off x="4521101" y="2302669"/>
            <a:ext cx="3464615"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Each recipient onboarded with dynamic KYC &amp; KYB workflows.</a:t>
            </a:r>
            <a:endParaRPr lang="en-US" sz="938" dirty="0"/>
          </a:p>
        </p:txBody>
      </p:sp>
      <p:sp>
        <p:nvSpPr>
          <p:cNvPr id="17" name="Shape 14"/>
          <p:cNvSpPr/>
          <p:nvPr/>
        </p:nvSpPr>
        <p:spPr>
          <a:xfrm>
            <a:off x="8051750" y="1466850"/>
            <a:ext cx="3606701" cy="1421606"/>
          </a:xfrm>
          <a:prstGeom prst="roundRect">
            <a:avLst>
              <a:gd name="adj" fmla="val 6700"/>
            </a:avLst>
          </a:prstGeom>
          <a:solidFill>
            <a:srgbClr val="FFFFFF"/>
          </a:solidFill>
          <a:ln w="9525">
            <a:solidFill>
              <a:srgbClr val="E3E5F0"/>
            </a:solidFill>
            <a:prstDash val="solid"/>
          </a:ln>
        </p:spPr>
      </p:sp>
      <p:sp>
        <p:nvSpPr>
          <p:cNvPr id="18" name="Text 15"/>
          <p:cNvSpPr/>
          <p:nvPr/>
        </p:nvSpPr>
        <p:spPr>
          <a:xfrm>
            <a:off x="8289875" y="1781175"/>
            <a:ext cx="977057"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ON THE LIABILITY</a:t>
            </a:r>
            <a:endParaRPr lang="en-US" sz="825" dirty="0"/>
          </a:p>
        </p:txBody>
      </p:sp>
      <p:sp>
        <p:nvSpPr>
          <p:cNvPr id="19" name="Text 16"/>
          <p:cNvSpPr/>
          <p:nvPr/>
        </p:nvSpPr>
        <p:spPr>
          <a:xfrm>
            <a:off x="11142911" y="16859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03</a:t>
            </a:r>
            <a:endParaRPr lang="en-US" sz="1950" dirty="0"/>
          </a:p>
        </p:txBody>
      </p:sp>
      <p:sp>
        <p:nvSpPr>
          <p:cNvPr id="20" name="Text 17"/>
          <p:cNvSpPr/>
          <p:nvPr/>
        </p:nvSpPr>
        <p:spPr>
          <a:xfrm>
            <a:off x="8289875" y="2028825"/>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Liability per recipient</a:t>
            </a:r>
            <a:endParaRPr lang="en-US" sz="1275" dirty="0"/>
          </a:p>
        </p:txBody>
      </p:sp>
      <p:sp>
        <p:nvSpPr>
          <p:cNvPr id="21" name="Text 18"/>
          <p:cNvSpPr/>
          <p:nvPr/>
        </p:nvSpPr>
        <p:spPr>
          <a:xfrm>
            <a:off x="8289875" y="2312194"/>
            <a:ext cx="3224364"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Processing fees and chargebacks assigned to merchant, recipient, or shared.</a:t>
            </a:r>
            <a:endParaRPr lang="en-US" sz="938" dirty="0"/>
          </a:p>
        </p:txBody>
      </p:sp>
      <p:sp>
        <p:nvSpPr>
          <p:cNvPr id="22" name="Shape 19"/>
          <p:cNvSpPr/>
          <p:nvPr/>
        </p:nvSpPr>
        <p:spPr>
          <a:xfrm>
            <a:off x="533400" y="3059906"/>
            <a:ext cx="5486400" cy="2717006"/>
          </a:xfrm>
          <a:prstGeom prst="roundRect">
            <a:avLst>
              <a:gd name="adj" fmla="val 3506"/>
            </a:avLst>
          </a:prstGeom>
          <a:solidFill>
            <a:srgbClr val="F7F8FC"/>
          </a:solidFill>
          <a:ln w="9525">
            <a:solidFill>
              <a:srgbClr val="E3E5F0"/>
            </a:solidFill>
            <a:prstDash val="solid"/>
          </a:ln>
        </p:spPr>
      </p:sp>
      <p:sp>
        <p:nvSpPr>
          <p:cNvPr id="23" name="Text 20"/>
          <p:cNvSpPr/>
          <p:nvPr/>
        </p:nvSpPr>
        <p:spPr>
          <a:xfrm>
            <a:off x="790575" y="3298031"/>
            <a:ext cx="5469255"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OUTSIDE THE PAYMENT CYCLE</a:t>
            </a:r>
            <a:endParaRPr lang="en-US" sz="825" dirty="0"/>
          </a:p>
        </p:txBody>
      </p:sp>
      <p:sp>
        <p:nvSpPr>
          <p:cNvPr id="24" name="Text 21"/>
          <p:cNvSpPr/>
          <p:nvPr/>
        </p:nvSpPr>
        <p:spPr>
          <a:xfrm>
            <a:off x="790575" y="3545681"/>
            <a:ext cx="5469255" cy="260896"/>
          </a:xfrm>
          <a:prstGeom prst="rect">
            <a:avLst/>
          </a:prstGeom>
          <a:noFill/>
          <a:ln/>
        </p:spPr>
        <p:txBody>
          <a:bodyPr wrap="square" lIns="25400" tIns="25400" rIns="25400" bIns="25400" rtlCol="0" anchor="t">
            <a:normAutofit/>
          </a:bodyPr>
          <a:lstStyle/>
          <a:p>
            <a:pPr algn="l" indent="0" marL="0">
              <a:lnSpc>
                <a:spcPct val="86667"/>
              </a:lnSpc>
              <a:buNone/>
            </a:pPr>
            <a:r>
              <a:rPr lang="en-US" sz="1350" b="1" dirty="0">
                <a:solidFill>
                  <a:srgbClr val="17181C"/>
                </a:solidFill>
                <a:latin typeface="Titillium Web" pitchFamily="34" charset="0"/>
                <a:ea typeface="Titillium Web" pitchFamily="34" charset="-122"/>
                <a:cs typeface="Titillium Web" pitchFamily="34" charset="-120"/>
              </a:rPr>
              <a:t>Standalone transfers from the organization balance</a:t>
            </a:r>
            <a:endParaRPr lang="en-US" sz="1350" dirty="0"/>
          </a:p>
        </p:txBody>
      </p:sp>
      <p:sp>
        <p:nvSpPr>
          <p:cNvPr id="25" name="Text 22"/>
          <p:cNvSpPr/>
          <p:nvPr/>
        </p:nvSpPr>
        <p:spPr>
          <a:xfrm>
            <a:off x="790575" y="3863727"/>
            <a:ext cx="5469255" cy="22993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Advances, adjustments and corrections do not have to wait for a payment to settle.</a:t>
            </a:r>
            <a:endParaRPr lang="en-US" sz="975" dirty="0"/>
          </a:p>
        </p:txBody>
      </p:sp>
      <p:sp>
        <p:nvSpPr>
          <p:cNvPr id="26" name="Shape 23"/>
          <p:cNvSpPr/>
          <p:nvPr/>
        </p:nvSpPr>
        <p:spPr>
          <a:xfrm>
            <a:off x="6172200" y="3059906"/>
            <a:ext cx="5486400" cy="2717006"/>
          </a:xfrm>
          <a:prstGeom prst="roundRect">
            <a:avLst>
              <a:gd name="adj" fmla="val 3506"/>
            </a:avLst>
          </a:prstGeom>
          <a:solidFill>
            <a:srgbClr val="EEF0FB"/>
          </a:solidFill>
          <a:ln/>
        </p:spPr>
      </p:sp>
      <p:sp>
        <p:nvSpPr>
          <p:cNvPr id="27" name="Text 24"/>
          <p:cNvSpPr/>
          <p:nvPr/>
        </p:nvSpPr>
        <p:spPr>
          <a:xfrm>
            <a:off x="6419850" y="3288506"/>
            <a:ext cx="549021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3E4FE0"/>
                </a:solidFill>
                <a:latin typeface="Titillium Web" pitchFamily="34" charset="0"/>
                <a:ea typeface="Titillium Web" pitchFamily="34" charset="-122"/>
                <a:cs typeface="Titillium Web" pitchFamily="34" charset="-120"/>
              </a:rPr>
              <a:t>WHY IT MATTERS FOR EVENTS</a:t>
            </a:r>
            <a:endParaRPr lang="en-US" sz="825" dirty="0"/>
          </a:p>
        </p:txBody>
      </p:sp>
      <p:sp>
        <p:nvSpPr>
          <p:cNvPr id="28" name="Text 25"/>
          <p:cNvSpPr/>
          <p:nvPr/>
        </p:nvSpPr>
        <p:spPr>
          <a:xfrm>
            <a:off x="6419850" y="3536156"/>
            <a:ext cx="5140833"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17181C"/>
                </a:solidFill>
                <a:latin typeface="Titillium Web" pitchFamily="34" charset="0"/>
                <a:ea typeface="Titillium Web" pitchFamily="34" charset="-122"/>
                <a:cs typeface="Titillium Web" pitchFamily="34" charset="-120"/>
              </a:rPr>
              <a:t>Multi-organizer events, venue and promoter cuts, and service fees stop being reconciliation work after the fact. </a:t>
            </a:r>
            <a:pPr algn="l" indent="0" marL="0">
              <a:lnSpc>
                <a:spcPct val="108000"/>
              </a:lnSpc>
              <a:buNone/>
            </a:pPr>
            <a:r>
              <a:rPr lang="en-US" sz="1013" b="1" dirty="0">
                <a:solidFill>
                  <a:srgbClr val="17181C"/>
                </a:solidFill>
                <a:latin typeface="Titillium Web" pitchFamily="34" charset="0"/>
                <a:ea typeface="Titillium Web" pitchFamily="34" charset="-122"/>
                <a:cs typeface="Titillium Web" pitchFamily="34" charset="-120"/>
              </a:rPr>
              <a:t>The split is part of the transaction.</a:t>
            </a:r>
            <a:endParaRPr lang="en-US" sz="1013" dirty="0"/>
          </a:p>
        </p:txBody>
      </p:sp>
      <p:sp>
        <p:nvSpPr>
          <p:cNvPr id="29" name="Shape 26"/>
          <p:cNvSpPr/>
          <p:nvPr/>
        </p:nvSpPr>
        <p:spPr>
          <a:xfrm>
            <a:off x="533400" y="5948363"/>
            <a:ext cx="11125200" cy="490538"/>
          </a:xfrm>
          <a:prstGeom prst="roundRect">
            <a:avLst>
              <a:gd name="adj" fmla="val 19417"/>
            </a:avLst>
          </a:prstGeom>
          <a:solidFill>
            <a:srgbClr val="17181C"/>
          </a:solidFill>
          <a:ln/>
        </p:spPr>
      </p:sp>
      <p:sp>
        <p:nvSpPr>
          <p:cNvPr id="30" name="Text 27"/>
          <p:cNvSpPr/>
          <p:nvPr/>
        </p:nvSpPr>
        <p:spPr>
          <a:xfrm>
            <a:off x="762000" y="6100763"/>
            <a:ext cx="11001756"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92000"/>
                  </a:srgbClr>
                </a:solidFill>
                <a:highlight>
                  <a:srgbClr val="17181C"/>
                </a:highlight>
                <a:latin typeface="Titillium Web" pitchFamily="34" charset="0"/>
                <a:ea typeface="Titillium Web" pitchFamily="34" charset="-122"/>
                <a:cs typeface="Titillium Web" pitchFamily="34" charset="-120"/>
              </a:rPr>
              <a:t>Yuno orchestrates the split; the provider processes it. Splits run on providers that support them, such as </a:t>
            </a:r>
            <a:pPr algn="l" indent="0" marL="0">
              <a:lnSpc>
                <a:spcPct val="97500"/>
              </a:lnSpc>
              <a:buNone/>
            </a:pPr>
            <a:r>
              <a:rPr lang="en-US" sz="975" b="1" dirty="0">
                <a:solidFill>
                  <a:srgbClr val="FFFFFF"/>
                </a:solidFill>
                <a:latin typeface="Titillium Web" pitchFamily="34" charset="0"/>
                <a:ea typeface="Titillium Web" pitchFamily="34" charset="-122"/>
                <a:cs typeface="Titillium Web" pitchFamily="34" charset="-120"/>
              </a:rPr>
              <a:t>Stripe, Adyen and dLocal</a:t>
            </a:r>
            <a:pPr algn="l" indent="0" marL="0">
              <a:lnSpc>
                <a:spcPct val="97500"/>
              </a:lnSpc>
              <a:buNone/>
            </a:pPr>
            <a:r>
              <a:rPr lang="en-US" sz="975" dirty="0">
                <a:solidFill>
                  <a:srgbClr val="FFFFFF">
                    <a:alpha val="92000"/>
                  </a:srgbClr>
                </a:solidFill>
                <a:highlight>
                  <a:srgbClr val="17181C"/>
                </a:highlight>
                <a:latin typeface="Titillium Web" pitchFamily="34" charset="0"/>
                <a:ea typeface="Titillium Web" pitchFamily="34" charset="-122"/>
                <a:cs typeface="Titillium Web" pitchFamily="34" charset="-120"/>
              </a:rPr>
              <a:t>.</a:t>
            </a:r>
            <a:endParaRPr lang="en-US" sz="975" dirty="0"/>
          </a:p>
        </p:txBody>
      </p:sp>
      <p:sp>
        <p:nvSpPr>
          <p:cNvPr id="31" name="Text 28"/>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21</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The marketplace loop, closed</a:t>
            </a:r>
            <a:endParaRPr lang="en-US" sz="2700" dirty="0"/>
          </a:p>
        </p:txBody>
      </p:sp>
      <p:sp>
        <p:nvSpPr>
          <p:cNvPr id="7" name="Shape 4"/>
          <p:cNvSpPr/>
          <p:nvPr/>
        </p:nvSpPr>
        <p:spPr>
          <a:xfrm>
            <a:off x="1423392" y="2179290"/>
            <a:ext cx="9345216" cy="19050"/>
          </a:xfrm>
          <a:prstGeom prst="rect">
            <a:avLst/>
          </a:prstGeom>
          <a:solidFill>
            <a:srgbClr val="E3E5F0"/>
          </a:solidFill>
          <a:ln/>
        </p:spPr>
      </p:sp>
      <p:sp>
        <p:nvSpPr>
          <p:cNvPr id="8" name="Shape 5"/>
          <p:cNvSpPr/>
          <p:nvPr/>
        </p:nvSpPr>
        <p:spPr>
          <a:xfrm>
            <a:off x="533400" y="1907828"/>
            <a:ext cx="1658838" cy="542925"/>
          </a:xfrm>
          <a:prstGeom prst="roundRect">
            <a:avLst>
              <a:gd name="adj" fmla="val 17544"/>
            </a:avLst>
          </a:prstGeom>
          <a:solidFill>
            <a:srgbClr val="F7F8FC"/>
          </a:solidFill>
          <a:ln w="9525">
            <a:solidFill>
              <a:srgbClr val="E3E5F0"/>
            </a:solidFill>
            <a:prstDash val="solid"/>
          </a:ln>
        </p:spPr>
      </p:sp>
      <p:sp>
        <p:nvSpPr>
          <p:cNvPr id="9" name="Text 6"/>
          <p:cNvSpPr/>
          <p:nvPr/>
        </p:nvSpPr>
        <p:spPr>
          <a:xfrm>
            <a:off x="600075" y="2088803"/>
            <a:ext cx="1525488" cy="219075"/>
          </a:xfrm>
          <a:prstGeom prst="rect">
            <a:avLst/>
          </a:prstGeom>
          <a:noFill/>
          <a:ln/>
        </p:spPr>
        <p:txBody>
          <a:bodyPr wrap="square" lIns="25400" tIns="25400" rIns="25400" bIns="25400" rtlCol="0" anchor="ctr">
            <a:normAutofit/>
          </a:bodyPr>
          <a:lstStyle/>
          <a:p>
            <a:pPr algn="ctr" indent="0" marL="0">
              <a:buNone/>
            </a:pPr>
            <a:r>
              <a:rPr lang="en-US" sz="938" b="1" spc="47" kern="0" dirty="0">
                <a:solidFill>
                  <a:srgbClr val="17181C"/>
                </a:solidFill>
                <a:latin typeface="Titillium Web" pitchFamily="34" charset="0"/>
                <a:ea typeface="Titillium Web" pitchFamily="34" charset="-122"/>
                <a:cs typeface="Titillium Web" pitchFamily="34" charset="-120"/>
              </a:rPr>
              <a:t>ATTENDEE</a:t>
            </a:r>
            <a:endParaRPr lang="en-US" sz="938" dirty="0"/>
          </a:p>
        </p:txBody>
      </p:sp>
      <p:sp>
        <p:nvSpPr>
          <p:cNvPr id="10" name="Shape 7"/>
          <p:cNvSpPr/>
          <p:nvPr/>
        </p:nvSpPr>
        <p:spPr>
          <a:xfrm>
            <a:off x="2325588" y="1683097"/>
            <a:ext cx="2254597" cy="992237"/>
          </a:xfrm>
          <a:prstGeom prst="roundRect">
            <a:avLst>
              <a:gd name="adj" fmla="val 9600"/>
            </a:avLst>
          </a:prstGeom>
          <a:solidFill>
            <a:srgbClr val="FFFFFF"/>
          </a:solidFill>
          <a:ln w="9525">
            <a:solidFill>
              <a:srgbClr val="DDE0F0"/>
            </a:solidFill>
            <a:prstDash val="solid"/>
          </a:ln>
        </p:spPr>
      </p:sp>
      <p:sp>
        <p:nvSpPr>
          <p:cNvPr id="11" name="Text 8"/>
          <p:cNvSpPr/>
          <p:nvPr/>
        </p:nvSpPr>
        <p:spPr>
          <a:xfrm>
            <a:off x="2525613" y="1864072"/>
            <a:ext cx="204000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3E4FE0"/>
                </a:solidFill>
                <a:latin typeface="Titillium Web" pitchFamily="34" charset="0"/>
                <a:ea typeface="Titillium Web" pitchFamily="34" charset="-122"/>
                <a:cs typeface="Titillium Web" pitchFamily="34" charset="-120"/>
              </a:rPr>
              <a:t>PAY-IN</a:t>
            </a:r>
            <a:endParaRPr lang="en-US" sz="788" dirty="0"/>
          </a:p>
        </p:txBody>
      </p:sp>
      <p:sp>
        <p:nvSpPr>
          <p:cNvPr id="12" name="Text 9"/>
          <p:cNvSpPr/>
          <p:nvPr/>
        </p:nvSpPr>
        <p:spPr>
          <a:xfrm>
            <a:off x="2525613" y="2092672"/>
            <a:ext cx="2040002" cy="223838"/>
          </a:xfrm>
          <a:prstGeom prst="rect">
            <a:avLst/>
          </a:prstGeom>
          <a:noFill/>
          <a:ln/>
        </p:spPr>
        <p:txBody>
          <a:bodyPr wrap="square" lIns="25400" tIns="25400" rIns="25400" bIns="25400" rtlCol="0" anchor="t">
            <a:normAutofit/>
          </a:bodyPr>
          <a:lstStyle/>
          <a:p>
            <a:pPr algn="l" indent="0" marL="0">
              <a:lnSpc>
                <a:spcPct val="84783"/>
              </a:lnSpc>
              <a:buNone/>
            </a:pPr>
            <a:r>
              <a:rPr lang="en-US" sz="1125" b="1" dirty="0">
                <a:solidFill>
                  <a:srgbClr val="17181C"/>
                </a:solidFill>
                <a:latin typeface="Titillium Web" pitchFamily="34" charset="0"/>
                <a:ea typeface="Titillium Web" pitchFamily="34" charset="-122"/>
                <a:cs typeface="Titillium Web" pitchFamily="34" charset="-120"/>
              </a:rPr>
              <a:t>Best route per transaction</a:t>
            </a:r>
            <a:endParaRPr lang="en-US" sz="1125" dirty="0"/>
          </a:p>
        </p:txBody>
      </p:sp>
      <p:sp>
        <p:nvSpPr>
          <p:cNvPr id="13" name="Text 10"/>
          <p:cNvSpPr/>
          <p:nvPr/>
        </p:nvSpPr>
        <p:spPr>
          <a:xfrm>
            <a:off x="2525613" y="2335560"/>
            <a:ext cx="2040002" cy="196900"/>
          </a:xfrm>
          <a:prstGeom prst="rect">
            <a:avLst/>
          </a:prstGeom>
          <a:noFill/>
          <a:ln/>
        </p:spPr>
        <p:txBody>
          <a:bodyPr wrap="square" lIns="25400" tIns="25400" rIns="25400" bIns="25400" rtlCol="0" anchor="t">
            <a:normAutofit/>
          </a:bodyPr>
          <a:lstStyle/>
          <a:p>
            <a:pPr algn="l" indent="0" marL="0">
              <a:lnSpc>
                <a:spcPct val="98088"/>
              </a:lnSpc>
              <a:buNone/>
            </a:pPr>
            <a:r>
              <a:rPr lang="en-US" sz="863" dirty="0">
                <a:solidFill>
                  <a:srgbClr val="8C8F9E"/>
                </a:solidFill>
                <a:latin typeface="Titillium Web" pitchFamily="34" charset="0"/>
                <a:ea typeface="Titillium Web" pitchFamily="34" charset="-122"/>
                <a:cs typeface="Titillium Web" pitchFamily="34" charset="-120"/>
              </a:rPr>
              <a:t>Stripe · Braintree · J.P. Morgan · Adyen</a:t>
            </a:r>
            <a:endParaRPr lang="en-US" sz="863" dirty="0"/>
          </a:p>
        </p:txBody>
      </p:sp>
      <p:sp>
        <p:nvSpPr>
          <p:cNvPr id="14" name="Shape 11"/>
          <p:cNvSpPr/>
          <p:nvPr/>
        </p:nvSpPr>
        <p:spPr>
          <a:xfrm>
            <a:off x="4713536" y="1485900"/>
            <a:ext cx="2764929" cy="1386780"/>
          </a:xfrm>
          <a:prstGeom prst="roundRect">
            <a:avLst>
              <a:gd name="adj" fmla="val 6868"/>
            </a:avLst>
          </a:prstGeom>
          <a:solidFill>
            <a:srgbClr val="3E4FE0"/>
          </a:solidFill>
          <a:ln/>
        </p:spPr>
      </p:sp>
      <p:sp>
        <p:nvSpPr>
          <p:cNvPr id="15" name="Text 12"/>
          <p:cNvSpPr/>
          <p:nvPr/>
        </p:nvSpPr>
        <p:spPr>
          <a:xfrm>
            <a:off x="4923086" y="1676400"/>
            <a:ext cx="258041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FFFFFF">
                    <a:alpha val="72000"/>
                  </a:srgbClr>
                </a:solidFill>
                <a:latin typeface="Titillium Web" pitchFamily="34" charset="0"/>
                <a:ea typeface="Titillium Web" pitchFamily="34" charset="-122"/>
                <a:cs typeface="Titillium Web" pitchFamily="34" charset="-120"/>
              </a:rPr>
              <a:t>YUNO LEDGER</a:t>
            </a:r>
            <a:endParaRPr lang="en-US" sz="788" dirty="0"/>
          </a:p>
        </p:txBody>
      </p:sp>
      <p:sp>
        <p:nvSpPr>
          <p:cNvPr id="16" name="Text 13"/>
          <p:cNvSpPr/>
          <p:nvPr/>
        </p:nvSpPr>
        <p:spPr>
          <a:xfrm>
            <a:off x="4923086" y="1905000"/>
            <a:ext cx="2422029" cy="434280"/>
          </a:xfrm>
          <a:prstGeom prst="rect">
            <a:avLst/>
          </a:prstGeom>
          <a:noFill/>
          <a:ln/>
        </p:spPr>
        <p:txBody>
          <a:bodyPr wrap="square" lIns="25400" tIns="25400" rIns="25400" bIns="25400" rtlCol="0" anchor="t">
            <a:normAutofit/>
          </a:bodyPr>
          <a:lstStyle/>
          <a:p>
            <a:pPr algn="l" indent="0" marL="0">
              <a:lnSpc>
                <a:spcPct val="86667"/>
              </a:lnSpc>
              <a:buNone/>
            </a:pPr>
            <a:r>
              <a:rPr lang="en-US" sz="1200" b="1" dirty="0">
                <a:solidFill>
                  <a:srgbClr val="FFFFFF"/>
                </a:solidFill>
                <a:latin typeface="Titillium Web" pitchFamily="34" charset="0"/>
                <a:ea typeface="Titillium Web" pitchFamily="34" charset="-122"/>
                <a:cs typeface="Titillium Web" pitchFamily="34" charset="-120"/>
              </a:rPr>
              <a:t>Every pay-in linked to its payout, at transaction level</a:t>
            </a:r>
            <a:endParaRPr lang="en-US" sz="1200" dirty="0"/>
          </a:p>
        </p:txBody>
      </p:sp>
      <p:sp>
        <p:nvSpPr>
          <p:cNvPr id="17" name="Shape 14"/>
          <p:cNvSpPr/>
          <p:nvPr/>
        </p:nvSpPr>
        <p:spPr>
          <a:xfrm>
            <a:off x="4923086" y="2415480"/>
            <a:ext cx="2345829" cy="9525"/>
          </a:xfrm>
          <a:prstGeom prst="rect">
            <a:avLst/>
          </a:prstGeom>
          <a:solidFill>
            <a:srgbClr val="FFFFFF">
              <a:alpha val="28000"/>
            </a:srgbClr>
          </a:solidFill>
          <a:ln/>
        </p:spPr>
      </p:sp>
      <p:sp>
        <p:nvSpPr>
          <p:cNvPr id="18" name="Text 15"/>
          <p:cNvSpPr/>
          <p:nvPr/>
        </p:nvSpPr>
        <p:spPr>
          <a:xfrm>
            <a:off x="4923086" y="2520255"/>
            <a:ext cx="663327"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KYC portable</a:t>
            </a:r>
            <a:endParaRPr lang="en-US" sz="863" dirty="0"/>
          </a:p>
        </p:txBody>
      </p:sp>
      <p:sp>
        <p:nvSpPr>
          <p:cNvPr id="19" name="Text 16"/>
          <p:cNvSpPr/>
          <p:nvPr/>
        </p:nvSpPr>
        <p:spPr>
          <a:xfrm>
            <a:off x="5662613" y="2520255"/>
            <a:ext cx="114300"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a:t>
            </a:r>
            <a:endParaRPr lang="en-US" sz="863" dirty="0"/>
          </a:p>
        </p:txBody>
      </p:sp>
      <p:sp>
        <p:nvSpPr>
          <p:cNvPr id="20" name="Text 17"/>
          <p:cNvSpPr/>
          <p:nvPr/>
        </p:nvSpPr>
        <p:spPr>
          <a:xfrm>
            <a:off x="5838825" y="2520255"/>
            <a:ext cx="953988"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Reserves managed</a:t>
            </a:r>
            <a:endParaRPr lang="en-US" sz="863" dirty="0"/>
          </a:p>
        </p:txBody>
      </p:sp>
      <p:sp>
        <p:nvSpPr>
          <p:cNvPr id="21" name="Shape 18"/>
          <p:cNvSpPr/>
          <p:nvPr/>
        </p:nvSpPr>
        <p:spPr>
          <a:xfrm>
            <a:off x="7611814" y="1510903"/>
            <a:ext cx="2254448" cy="1336774"/>
          </a:xfrm>
          <a:prstGeom prst="roundRect">
            <a:avLst>
              <a:gd name="adj" fmla="val 7125"/>
            </a:avLst>
          </a:prstGeom>
          <a:solidFill>
            <a:srgbClr val="FFFFFF"/>
          </a:solidFill>
          <a:ln w="9525">
            <a:solidFill>
              <a:srgbClr val="DDE0F0"/>
            </a:solidFill>
            <a:prstDash val="solid"/>
          </a:ln>
        </p:spPr>
      </p:sp>
      <p:sp>
        <p:nvSpPr>
          <p:cNvPr id="22" name="Text 19"/>
          <p:cNvSpPr/>
          <p:nvPr/>
        </p:nvSpPr>
        <p:spPr>
          <a:xfrm>
            <a:off x="7811839" y="1691878"/>
            <a:ext cx="2039838"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3E4FE0"/>
                </a:solidFill>
                <a:latin typeface="Titillium Web" pitchFamily="34" charset="0"/>
                <a:ea typeface="Titillium Web" pitchFamily="34" charset="-122"/>
                <a:cs typeface="Titillium Web" pitchFamily="34" charset="-120"/>
              </a:rPr>
              <a:t>PAYOUT</a:t>
            </a:r>
            <a:endParaRPr lang="en-US" sz="788" dirty="0"/>
          </a:p>
        </p:txBody>
      </p:sp>
      <p:sp>
        <p:nvSpPr>
          <p:cNvPr id="23" name="Text 20"/>
          <p:cNvSpPr/>
          <p:nvPr/>
        </p:nvSpPr>
        <p:spPr>
          <a:xfrm>
            <a:off x="7811839" y="1920478"/>
            <a:ext cx="1930598" cy="409575"/>
          </a:xfrm>
          <a:prstGeom prst="rect">
            <a:avLst/>
          </a:prstGeom>
          <a:noFill/>
          <a:ln/>
        </p:spPr>
        <p:txBody>
          <a:bodyPr wrap="square" lIns="25400" tIns="25400" rIns="25400" bIns="25400" rtlCol="0" anchor="t">
            <a:normAutofit/>
          </a:bodyPr>
          <a:lstStyle/>
          <a:p>
            <a:pPr algn="l" indent="0" marL="0">
              <a:lnSpc>
                <a:spcPct val="84783"/>
              </a:lnSpc>
              <a:buNone/>
            </a:pPr>
            <a:r>
              <a:rPr lang="en-US" sz="1125" b="1" dirty="0">
                <a:solidFill>
                  <a:srgbClr val="17181C"/>
                </a:solidFill>
                <a:latin typeface="Titillium Web" pitchFamily="34" charset="0"/>
                <a:ea typeface="Titillium Web" pitchFamily="34" charset="-122"/>
                <a:cs typeface="Titillium Web" pitchFamily="34" charset="-120"/>
              </a:rPr>
              <a:t>Best provider per payout, per market</a:t>
            </a:r>
            <a:endParaRPr lang="en-US" sz="1125" dirty="0"/>
          </a:p>
        </p:txBody>
      </p:sp>
      <p:sp>
        <p:nvSpPr>
          <p:cNvPr id="24" name="Text 21"/>
          <p:cNvSpPr/>
          <p:nvPr/>
        </p:nvSpPr>
        <p:spPr>
          <a:xfrm>
            <a:off x="7811839" y="2349103"/>
            <a:ext cx="1930598" cy="355699"/>
          </a:xfrm>
          <a:prstGeom prst="rect">
            <a:avLst/>
          </a:prstGeom>
          <a:noFill/>
          <a:ln/>
        </p:spPr>
        <p:txBody>
          <a:bodyPr wrap="square" lIns="25400" tIns="25400" rIns="25400" bIns="25400" rtlCol="0" anchor="t">
            <a:normAutofit/>
          </a:bodyPr>
          <a:lstStyle/>
          <a:p>
            <a:pPr algn="l" indent="0" marL="0">
              <a:lnSpc>
                <a:spcPct val="98088"/>
              </a:lnSpc>
              <a:buNone/>
            </a:pPr>
            <a:r>
              <a:rPr lang="en-US" sz="863" dirty="0">
                <a:solidFill>
                  <a:srgbClr val="8C8F9E"/>
                </a:solidFill>
                <a:latin typeface="Titillium Web" pitchFamily="34" charset="0"/>
                <a:ea typeface="Titillium Web" pitchFamily="34" charset="-122"/>
                <a:cs typeface="Titillium Web" pitchFamily="34" charset="-120"/>
              </a:rPr>
              <a:t>Bank, card or wallet · local payout partners in 100+ countries</a:t>
            </a:r>
            <a:endParaRPr lang="en-US" sz="863" dirty="0"/>
          </a:p>
        </p:txBody>
      </p:sp>
      <p:sp>
        <p:nvSpPr>
          <p:cNvPr id="25" name="Shape 22"/>
          <p:cNvSpPr/>
          <p:nvPr/>
        </p:nvSpPr>
        <p:spPr>
          <a:xfrm>
            <a:off x="9999613" y="1907828"/>
            <a:ext cx="1658987" cy="542925"/>
          </a:xfrm>
          <a:prstGeom prst="roundRect">
            <a:avLst>
              <a:gd name="adj" fmla="val 17544"/>
            </a:avLst>
          </a:prstGeom>
          <a:solidFill>
            <a:srgbClr val="F7F8FC"/>
          </a:solidFill>
          <a:ln w="9525">
            <a:solidFill>
              <a:srgbClr val="E3E5F0"/>
            </a:solidFill>
            <a:prstDash val="solid"/>
          </a:ln>
        </p:spPr>
      </p:sp>
      <p:sp>
        <p:nvSpPr>
          <p:cNvPr id="26" name="Text 23"/>
          <p:cNvSpPr/>
          <p:nvPr/>
        </p:nvSpPr>
        <p:spPr>
          <a:xfrm>
            <a:off x="10066288" y="2088803"/>
            <a:ext cx="1525637" cy="219075"/>
          </a:xfrm>
          <a:prstGeom prst="rect">
            <a:avLst/>
          </a:prstGeom>
          <a:noFill/>
          <a:ln/>
        </p:spPr>
        <p:txBody>
          <a:bodyPr wrap="square" lIns="25400" tIns="25400" rIns="25400" bIns="25400" rtlCol="0" anchor="ctr">
            <a:normAutofit/>
          </a:bodyPr>
          <a:lstStyle/>
          <a:p>
            <a:pPr algn="ctr" indent="0" marL="0">
              <a:buNone/>
            </a:pPr>
            <a:r>
              <a:rPr lang="en-US" sz="938" b="1" spc="47" kern="0" dirty="0">
                <a:solidFill>
                  <a:srgbClr val="17181C"/>
                </a:solidFill>
                <a:latin typeface="Titillium Web" pitchFamily="34" charset="0"/>
                <a:ea typeface="Titillium Web" pitchFamily="34" charset="-122"/>
                <a:cs typeface="Titillium Web" pitchFamily="34" charset="-120"/>
              </a:rPr>
              <a:t>CREATOR</a:t>
            </a:r>
            <a:endParaRPr lang="en-US" sz="938" dirty="0"/>
          </a:p>
        </p:txBody>
      </p:sp>
      <p:sp>
        <p:nvSpPr>
          <p:cNvPr id="27" name="Shape 24"/>
          <p:cNvSpPr/>
          <p:nvPr/>
        </p:nvSpPr>
        <p:spPr>
          <a:xfrm>
            <a:off x="2516832" y="3101280"/>
            <a:ext cx="7158186" cy="19050"/>
          </a:xfrm>
          <a:prstGeom prst="rect">
            <a:avLst/>
          </a:prstGeom>
          <a:solidFill>
            <a:srgbClr val="17181C"/>
          </a:solidFill>
          <a:ln/>
        </p:spPr>
      </p:sp>
      <p:sp>
        <p:nvSpPr>
          <p:cNvPr id="28" name="Shape 25"/>
          <p:cNvSpPr/>
          <p:nvPr/>
        </p:nvSpPr>
        <p:spPr>
          <a:xfrm>
            <a:off x="2516832" y="2891730"/>
            <a:ext cx="19050" cy="228600"/>
          </a:xfrm>
          <a:prstGeom prst="rect">
            <a:avLst/>
          </a:prstGeom>
          <a:solidFill>
            <a:srgbClr val="17181C"/>
          </a:solidFill>
          <a:ln/>
        </p:spPr>
      </p:sp>
      <p:sp>
        <p:nvSpPr>
          <p:cNvPr id="29" name="Shape 26"/>
          <p:cNvSpPr/>
          <p:nvPr/>
        </p:nvSpPr>
        <p:spPr>
          <a:xfrm>
            <a:off x="9655969" y="2891730"/>
            <a:ext cx="19050" cy="228600"/>
          </a:xfrm>
          <a:prstGeom prst="rect">
            <a:avLst/>
          </a:prstGeom>
          <a:solidFill>
            <a:srgbClr val="17181C"/>
          </a:solidFill>
          <a:ln/>
        </p:spPr>
      </p:sp>
      <p:sp>
        <p:nvSpPr>
          <p:cNvPr id="30" name="Shape 27"/>
          <p:cNvSpPr/>
          <p:nvPr/>
        </p:nvSpPr>
        <p:spPr>
          <a:xfrm>
            <a:off x="533400" y="3120330"/>
            <a:ext cx="11125200" cy="819150"/>
          </a:xfrm>
          <a:prstGeom prst="roundRect">
            <a:avLst>
              <a:gd name="adj" fmla="val 11628"/>
            </a:avLst>
          </a:prstGeom>
          <a:solidFill>
            <a:srgbClr val="17181C"/>
          </a:solidFill>
          <a:ln/>
        </p:spPr>
      </p:sp>
      <p:sp>
        <p:nvSpPr>
          <p:cNvPr id="31" name="Text 28"/>
          <p:cNvSpPr/>
          <p:nvPr/>
        </p:nvSpPr>
        <p:spPr>
          <a:xfrm>
            <a:off x="781050" y="3310830"/>
            <a:ext cx="223940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A94EE"/>
                </a:solidFill>
                <a:latin typeface="Titillium Web" pitchFamily="34" charset="0"/>
                <a:ea typeface="Titillium Web" pitchFamily="34" charset="-122"/>
                <a:cs typeface="Titillium Web" pitchFamily="34" charset="-120"/>
              </a:rPr>
              <a:t>FRAUD SIGNALS ACROSS BOTH SIDES</a:t>
            </a:r>
            <a:endParaRPr lang="en-US" sz="788" dirty="0"/>
          </a:p>
        </p:txBody>
      </p:sp>
      <p:sp>
        <p:nvSpPr>
          <p:cNvPr id="32" name="Text 29"/>
          <p:cNvSpPr/>
          <p:nvPr/>
        </p:nvSpPr>
        <p:spPr>
          <a:xfrm>
            <a:off x="781050" y="3520380"/>
            <a:ext cx="2239402" cy="266700"/>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Titillium Web" pitchFamily="34" charset="0"/>
                <a:ea typeface="Titillium Web" pitchFamily="34" charset="-122"/>
                <a:cs typeface="Titillium Web" pitchFamily="34" charset="-120"/>
              </a:rPr>
              <a:t>One risk view, pay-in to payout</a:t>
            </a:r>
            <a:endParaRPr lang="en-US" sz="1200" dirty="0"/>
          </a:p>
        </p:txBody>
      </p:sp>
      <p:sp>
        <p:nvSpPr>
          <p:cNvPr id="33" name="Shape 30"/>
          <p:cNvSpPr/>
          <p:nvPr/>
        </p:nvSpPr>
        <p:spPr>
          <a:xfrm>
            <a:off x="3045470" y="3310830"/>
            <a:ext cx="9525" cy="438150"/>
          </a:xfrm>
          <a:prstGeom prst="rect">
            <a:avLst/>
          </a:prstGeom>
          <a:solidFill>
            <a:srgbClr val="FFFFFF">
              <a:alpha val="25000"/>
            </a:srgbClr>
          </a:solidFill>
          <a:ln/>
        </p:spPr>
      </p:sp>
      <p:sp>
        <p:nvSpPr>
          <p:cNvPr id="34" name="Text 31"/>
          <p:cNvSpPr/>
          <p:nvPr/>
        </p:nvSpPr>
        <p:spPr>
          <a:xfrm>
            <a:off x="3283595" y="3433465"/>
            <a:ext cx="8345984"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0000"/>
                  </a:srgbClr>
                </a:solidFill>
                <a:latin typeface="Titillium Web" pitchFamily="34" charset="0"/>
                <a:ea typeface="Titillium Web" pitchFamily="34" charset="-122"/>
                <a:cs typeface="Titillium Web" pitchFamily="34" charset="-120"/>
              </a:rPr>
              <a:t>The fake-event collusion pattern a pay-in-only tool cannot see: a fraudulent pay-in and the payout it funds are two halves of the same signal.</a:t>
            </a:r>
            <a:endParaRPr lang="en-US" sz="1013" dirty="0"/>
          </a:p>
        </p:txBody>
      </p:sp>
      <p:sp>
        <p:nvSpPr>
          <p:cNvPr id="35" name="Shape 32"/>
          <p:cNvSpPr/>
          <p:nvPr/>
        </p:nvSpPr>
        <p:spPr>
          <a:xfrm>
            <a:off x="533400" y="5772150"/>
            <a:ext cx="11125200" cy="666750"/>
          </a:xfrm>
          <a:prstGeom prst="roundRect">
            <a:avLst>
              <a:gd name="adj" fmla="val 14286"/>
            </a:avLst>
          </a:prstGeom>
          <a:solidFill>
            <a:srgbClr val="EEF0FB"/>
          </a:solidFill>
          <a:ln/>
        </p:spPr>
      </p:sp>
      <p:sp>
        <p:nvSpPr>
          <p:cNvPr id="36" name="Text 33"/>
          <p:cNvSpPr/>
          <p:nvPr/>
        </p:nvSpPr>
        <p:spPr>
          <a:xfrm>
            <a:off x="781050" y="5943600"/>
            <a:ext cx="1181249"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3E4FE0"/>
                </a:solidFill>
                <a:latin typeface="Titillium Web" pitchFamily="34" charset="0"/>
                <a:ea typeface="Titillium Web" pitchFamily="34" charset="-122"/>
                <a:cs typeface="Titillium Web" pitchFamily="34" charset="-120"/>
              </a:rPr>
              <a:t>One API</a:t>
            </a:r>
            <a:endParaRPr lang="en-US" sz="2550" dirty="0"/>
          </a:p>
        </p:txBody>
      </p:sp>
      <p:sp>
        <p:nvSpPr>
          <p:cNvPr id="37" name="Text 34"/>
          <p:cNvSpPr/>
          <p:nvPr/>
        </p:nvSpPr>
        <p:spPr>
          <a:xfrm>
            <a:off x="2095649" y="6009084"/>
            <a:ext cx="10246831"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5B5E6B"/>
                </a:solidFill>
                <a:latin typeface="Titillium Web" pitchFamily="34" charset="0"/>
                <a:ea typeface="Titillium Web" pitchFamily="34" charset="-122"/>
                <a:cs typeface="Titillium Web" pitchFamily="34" charset="-120"/>
              </a:rPr>
              <a:t>centralizes pay-ins and payouts on the same platform, so the two sides of the loop share one integration, one ledger and one dashboard.</a:t>
            </a:r>
            <a:endParaRPr lang="en-US" sz="1013" dirty="0"/>
          </a:p>
        </p:txBody>
      </p:sp>
      <p:sp>
        <p:nvSpPr>
          <p:cNvPr id="38" name="Text 35"/>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22</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Exit LatAm entities without exiting LatAm</a:t>
            </a:r>
            <a:endParaRPr lang="en-US" sz="2700" dirty="0"/>
          </a:p>
        </p:txBody>
      </p:sp>
      <p:sp>
        <p:nvSpPr>
          <p:cNvPr id="7" name="Shape 4"/>
          <p:cNvSpPr/>
          <p:nvPr/>
        </p:nvSpPr>
        <p:spPr>
          <a:xfrm>
            <a:off x="533400" y="1485900"/>
            <a:ext cx="1779984" cy="361950"/>
          </a:xfrm>
          <a:prstGeom prst="rect">
            <a:avLst/>
          </a:prstGeom>
          <a:solidFill>
            <a:srgbClr val="FFFFFF"/>
          </a:solidFill>
          <a:ln/>
        </p:spPr>
      </p:sp>
      <p:sp>
        <p:nvSpPr>
          <p:cNvPr id="8" name="Shape 5"/>
          <p:cNvSpPr/>
          <p:nvPr/>
        </p:nvSpPr>
        <p:spPr>
          <a:xfrm>
            <a:off x="2313384" y="1485900"/>
            <a:ext cx="2336155" cy="361950"/>
          </a:xfrm>
          <a:prstGeom prst="rect">
            <a:avLst/>
          </a:prstGeom>
          <a:solidFill>
            <a:srgbClr val="3E4FE0"/>
          </a:solidFill>
          <a:ln/>
        </p:spPr>
      </p:sp>
      <p:sp>
        <p:nvSpPr>
          <p:cNvPr id="9" name="Text 6"/>
          <p:cNvSpPr/>
          <p:nvPr/>
        </p:nvSpPr>
        <p:spPr>
          <a:xfrm>
            <a:off x="2446734"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BRAZIL</a:t>
            </a:r>
            <a:endParaRPr lang="en-US" sz="825" dirty="0"/>
          </a:p>
        </p:txBody>
      </p:sp>
      <p:sp>
        <p:nvSpPr>
          <p:cNvPr id="10" name="Shape 7"/>
          <p:cNvSpPr/>
          <p:nvPr/>
        </p:nvSpPr>
        <p:spPr>
          <a:xfrm>
            <a:off x="4649539" y="1485900"/>
            <a:ext cx="2336155" cy="361950"/>
          </a:xfrm>
          <a:prstGeom prst="rect">
            <a:avLst/>
          </a:prstGeom>
          <a:solidFill>
            <a:srgbClr val="3E4FE0"/>
          </a:solidFill>
          <a:ln/>
        </p:spPr>
      </p:sp>
      <p:sp>
        <p:nvSpPr>
          <p:cNvPr id="11" name="Text 8"/>
          <p:cNvSpPr/>
          <p:nvPr/>
        </p:nvSpPr>
        <p:spPr>
          <a:xfrm>
            <a:off x="4782889"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ARGENTINA</a:t>
            </a:r>
            <a:endParaRPr lang="en-US" sz="825" dirty="0"/>
          </a:p>
        </p:txBody>
      </p:sp>
      <p:sp>
        <p:nvSpPr>
          <p:cNvPr id="12" name="Shape 9"/>
          <p:cNvSpPr/>
          <p:nvPr/>
        </p:nvSpPr>
        <p:spPr>
          <a:xfrm>
            <a:off x="6985695" y="1485900"/>
            <a:ext cx="2336155" cy="361950"/>
          </a:xfrm>
          <a:prstGeom prst="rect">
            <a:avLst/>
          </a:prstGeom>
          <a:solidFill>
            <a:srgbClr val="3E4FE0"/>
          </a:solidFill>
          <a:ln/>
        </p:spPr>
      </p:sp>
      <p:sp>
        <p:nvSpPr>
          <p:cNvPr id="13" name="Text 10"/>
          <p:cNvSpPr/>
          <p:nvPr/>
        </p:nvSpPr>
        <p:spPr>
          <a:xfrm>
            <a:off x="7119045"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MEXICO</a:t>
            </a:r>
            <a:endParaRPr lang="en-US" sz="825" dirty="0"/>
          </a:p>
        </p:txBody>
      </p:sp>
      <p:sp>
        <p:nvSpPr>
          <p:cNvPr id="14" name="Shape 11"/>
          <p:cNvSpPr/>
          <p:nvPr/>
        </p:nvSpPr>
        <p:spPr>
          <a:xfrm>
            <a:off x="9321850" y="1485900"/>
            <a:ext cx="2336750" cy="361950"/>
          </a:xfrm>
          <a:prstGeom prst="rect">
            <a:avLst/>
          </a:prstGeom>
          <a:solidFill>
            <a:srgbClr val="3E4FE0"/>
          </a:solidFill>
          <a:ln/>
        </p:spPr>
      </p:sp>
      <p:sp>
        <p:nvSpPr>
          <p:cNvPr id="15" name="Text 12"/>
          <p:cNvSpPr/>
          <p:nvPr/>
        </p:nvSpPr>
        <p:spPr>
          <a:xfrm>
            <a:off x="9455200" y="1590675"/>
            <a:ext cx="2146250"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COLOMBIA</a:t>
            </a:r>
            <a:endParaRPr lang="en-US" sz="825" dirty="0"/>
          </a:p>
        </p:txBody>
      </p:sp>
      <p:sp>
        <p:nvSpPr>
          <p:cNvPr id="16" name="Shape 13"/>
          <p:cNvSpPr/>
          <p:nvPr/>
        </p:nvSpPr>
        <p:spPr>
          <a:xfrm>
            <a:off x="533400" y="2474119"/>
            <a:ext cx="1779984" cy="9525"/>
          </a:xfrm>
          <a:prstGeom prst="rect">
            <a:avLst/>
          </a:prstGeom>
          <a:solidFill>
            <a:srgbClr val="E3E5F0"/>
          </a:solidFill>
          <a:ln/>
        </p:spPr>
      </p:sp>
      <p:sp>
        <p:nvSpPr>
          <p:cNvPr id="17" name="Text 14"/>
          <p:cNvSpPr/>
          <p:nvPr/>
        </p:nvSpPr>
        <p:spPr>
          <a:xfrm>
            <a:off x="685800" y="1990725"/>
            <a:ext cx="1551384" cy="378619"/>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TODAY</a:t>
            </a:r>
            <a:endParaRPr lang="en-US" sz="788" dirty="0"/>
          </a:p>
        </p:txBody>
      </p:sp>
      <p:sp>
        <p:nvSpPr>
          <p:cNvPr id="18" name="Shape 15"/>
          <p:cNvSpPr/>
          <p:nvPr/>
        </p:nvSpPr>
        <p:spPr>
          <a:xfrm>
            <a:off x="2313384" y="2474119"/>
            <a:ext cx="2336155" cy="9525"/>
          </a:xfrm>
          <a:prstGeom prst="rect">
            <a:avLst/>
          </a:prstGeom>
          <a:solidFill>
            <a:srgbClr val="E3E5F0"/>
          </a:solidFill>
          <a:ln/>
        </p:spPr>
      </p:sp>
      <p:sp>
        <p:nvSpPr>
          <p:cNvPr id="19" name="Text 16"/>
          <p:cNvSpPr/>
          <p:nvPr/>
        </p:nvSpPr>
        <p:spPr>
          <a:xfrm>
            <a:off x="2446734"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0" name="Shape 17"/>
          <p:cNvSpPr/>
          <p:nvPr/>
        </p:nvSpPr>
        <p:spPr>
          <a:xfrm>
            <a:off x="4649539" y="2474119"/>
            <a:ext cx="2336155" cy="9525"/>
          </a:xfrm>
          <a:prstGeom prst="rect">
            <a:avLst/>
          </a:prstGeom>
          <a:solidFill>
            <a:srgbClr val="E3E5F0"/>
          </a:solidFill>
          <a:ln/>
        </p:spPr>
      </p:sp>
      <p:sp>
        <p:nvSpPr>
          <p:cNvPr id="21" name="Text 18"/>
          <p:cNvSpPr/>
          <p:nvPr/>
        </p:nvSpPr>
        <p:spPr>
          <a:xfrm>
            <a:off x="4782889"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2" name="Shape 19"/>
          <p:cNvSpPr/>
          <p:nvPr/>
        </p:nvSpPr>
        <p:spPr>
          <a:xfrm>
            <a:off x="6985695" y="2474119"/>
            <a:ext cx="2336155" cy="9525"/>
          </a:xfrm>
          <a:prstGeom prst="rect">
            <a:avLst/>
          </a:prstGeom>
          <a:solidFill>
            <a:srgbClr val="E3E5F0"/>
          </a:solidFill>
          <a:ln/>
        </p:spPr>
      </p:sp>
      <p:sp>
        <p:nvSpPr>
          <p:cNvPr id="23" name="Text 20"/>
          <p:cNvSpPr/>
          <p:nvPr/>
        </p:nvSpPr>
        <p:spPr>
          <a:xfrm>
            <a:off x="7119045"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4" name="Shape 21"/>
          <p:cNvSpPr/>
          <p:nvPr/>
        </p:nvSpPr>
        <p:spPr>
          <a:xfrm>
            <a:off x="9321850" y="2474119"/>
            <a:ext cx="2336750" cy="9525"/>
          </a:xfrm>
          <a:prstGeom prst="rect">
            <a:avLst/>
          </a:prstGeom>
          <a:solidFill>
            <a:srgbClr val="E3E5F0"/>
          </a:solidFill>
          <a:ln/>
        </p:spPr>
      </p:sp>
      <p:sp>
        <p:nvSpPr>
          <p:cNvPr id="25" name="Text 22"/>
          <p:cNvSpPr/>
          <p:nvPr/>
        </p:nvSpPr>
        <p:spPr>
          <a:xfrm>
            <a:off x="9455200" y="1990725"/>
            <a:ext cx="2146250"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6" name="Text 23"/>
          <p:cNvSpPr/>
          <p:nvPr/>
        </p:nvSpPr>
        <p:spPr>
          <a:xfrm>
            <a:off x="685800" y="2626519"/>
            <a:ext cx="1551384" cy="388144"/>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WITH YUNO</a:t>
            </a:r>
            <a:endParaRPr lang="en-US" sz="788" dirty="0"/>
          </a:p>
        </p:txBody>
      </p:sp>
      <p:sp>
        <p:nvSpPr>
          <p:cNvPr id="27" name="Shape 24"/>
          <p:cNvSpPr/>
          <p:nvPr/>
        </p:nvSpPr>
        <p:spPr>
          <a:xfrm>
            <a:off x="2313384" y="2483644"/>
            <a:ext cx="2336155" cy="635794"/>
          </a:xfrm>
          <a:prstGeom prst="rect">
            <a:avLst/>
          </a:prstGeom>
          <a:solidFill>
            <a:srgbClr val="F7F8FC"/>
          </a:solidFill>
          <a:ln/>
        </p:spPr>
      </p:sp>
      <p:sp>
        <p:nvSpPr>
          <p:cNvPr id="28" name="Text 25"/>
          <p:cNvSpPr/>
          <p:nvPr/>
        </p:nvSpPr>
        <p:spPr>
          <a:xfrm>
            <a:off x="2446734"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29" name="Shape 26"/>
          <p:cNvSpPr/>
          <p:nvPr/>
        </p:nvSpPr>
        <p:spPr>
          <a:xfrm>
            <a:off x="4649539" y="2483644"/>
            <a:ext cx="2336155" cy="635794"/>
          </a:xfrm>
          <a:prstGeom prst="rect">
            <a:avLst/>
          </a:prstGeom>
          <a:solidFill>
            <a:srgbClr val="F7F8FC"/>
          </a:solidFill>
          <a:ln/>
        </p:spPr>
      </p:sp>
      <p:sp>
        <p:nvSpPr>
          <p:cNvPr id="30" name="Text 27"/>
          <p:cNvSpPr/>
          <p:nvPr/>
        </p:nvSpPr>
        <p:spPr>
          <a:xfrm>
            <a:off x="4782889"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1" name="Shape 28"/>
          <p:cNvSpPr/>
          <p:nvPr/>
        </p:nvSpPr>
        <p:spPr>
          <a:xfrm>
            <a:off x="6985695" y="2483644"/>
            <a:ext cx="2336155" cy="635794"/>
          </a:xfrm>
          <a:prstGeom prst="rect">
            <a:avLst/>
          </a:prstGeom>
          <a:solidFill>
            <a:srgbClr val="F7F8FC"/>
          </a:solidFill>
          <a:ln/>
        </p:spPr>
      </p:sp>
      <p:sp>
        <p:nvSpPr>
          <p:cNvPr id="32" name="Text 29"/>
          <p:cNvSpPr/>
          <p:nvPr/>
        </p:nvSpPr>
        <p:spPr>
          <a:xfrm>
            <a:off x="7119045"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3" name="Shape 30"/>
          <p:cNvSpPr/>
          <p:nvPr/>
        </p:nvSpPr>
        <p:spPr>
          <a:xfrm>
            <a:off x="9321850" y="2483644"/>
            <a:ext cx="2336750" cy="635794"/>
          </a:xfrm>
          <a:prstGeom prst="rect">
            <a:avLst/>
          </a:prstGeom>
          <a:solidFill>
            <a:srgbClr val="F7F8FC"/>
          </a:solidFill>
          <a:ln/>
        </p:spPr>
      </p:sp>
      <p:sp>
        <p:nvSpPr>
          <p:cNvPr id="34" name="Text 31"/>
          <p:cNvSpPr/>
          <p:nvPr/>
        </p:nvSpPr>
        <p:spPr>
          <a:xfrm>
            <a:off x="9455200" y="2626519"/>
            <a:ext cx="2146250"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5" name="Shape 32"/>
          <p:cNvSpPr/>
          <p:nvPr/>
        </p:nvSpPr>
        <p:spPr>
          <a:xfrm>
            <a:off x="533400" y="3290888"/>
            <a:ext cx="3950196" cy="2871788"/>
          </a:xfrm>
          <a:prstGeom prst="roundRect">
            <a:avLst>
              <a:gd name="adj" fmla="val 3317"/>
            </a:avLst>
          </a:prstGeom>
          <a:solidFill>
            <a:srgbClr val="3E4FE0"/>
          </a:solidFill>
          <a:ln/>
        </p:spPr>
      </p:sp>
      <p:sp>
        <p:nvSpPr>
          <p:cNvPr id="36" name="Text 33"/>
          <p:cNvSpPr/>
          <p:nvPr/>
        </p:nvSpPr>
        <p:spPr>
          <a:xfrm>
            <a:off x="781050" y="3519488"/>
            <a:ext cx="1110704"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PARTNER NETWORK</a:t>
            </a:r>
            <a:endParaRPr lang="en-US" sz="825" dirty="0"/>
          </a:p>
        </p:txBody>
      </p:sp>
      <p:sp>
        <p:nvSpPr>
          <p:cNvPr id="37" name="Shape 34"/>
          <p:cNvSpPr/>
          <p:nvPr/>
        </p:nvSpPr>
        <p:spPr>
          <a:xfrm>
            <a:off x="3700314" y="3519488"/>
            <a:ext cx="535632" cy="171450"/>
          </a:xfrm>
          <a:prstGeom prst="roundRect">
            <a:avLst>
              <a:gd name="adj" fmla="val 22222"/>
            </a:avLst>
          </a:prstGeom>
          <a:solidFill>
            <a:srgbClr val="FFF4E0"/>
          </a:solidFill>
          <a:ln w="9525">
            <a:solidFill>
              <a:srgbClr val="F5D9A6"/>
            </a:solidFill>
            <a:prstDash val="solid"/>
          </a:ln>
        </p:spPr>
      </p:sp>
      <p:sp>
        <p:nvSpPr>
          <p:cNvPr id="38" name="Text 35"/>
          <p:cNvSpPr/>
          <p:nvPr/>
        </p:nvSpPr>
        <p:spPr>
          <a:xfrm>
            <a:off x="3766989" y="3538538"/>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39" name="Text 36"/>
          <p:cNvSpPr/>
          <p:nvPr/>
        </p:nvSpPr>
        <p:spPr>
          <a:xfrm>
            <a:off x="781050" y="3805237"/>
            <a:ext cx="3800386" cy="457200"/>
          </a:xfrm>
          <a:prstGeom prst="rect">
            <a:avLst/>
          </a:prstGeom>
          <a:noFill/>
          <a:ln/>
        </p:spPr>
        <p:txBody>
          <a:bodyPr wrap="square" lIns="25400" tIns="25400" rIns="25400" bIns="25400" rtlCol="0" anchor="t">
            <a:normAutofit/>
          </a:bodyPr>
          <a:lstStyle/>
          <a:p>
            <a:pPr algn="l" indent="0" marL="0">
              <a:lnSpc>
                <a:spcPct val="65672"/>
              </a:lnSpc>
              <a:buNone/>
            </a:pPr>
            <a:r>
              <a:rPr lang="en-US" sz="3300" b="1" dirty="0">
                <a:solidFill>
                  <a:srgbClr val="FFFFFF"/>
                </a:solidFill>
                <a:latin typeface="Titillium Web" pitchFamily="34" charset="0"/>
                <a:ea typeface="Titillium Web" pitchFamily="34" charset="-122"/>
                <a:cs typeface="Titillium Web" pitchFamily="34" charset="-120"/>
              </a:rPr>
              <a:t>85+</a:t>
            </a:r>
            <a:endParaRPr lang="en-US" sz="3300" dirty="0"/>
          </a:p>
        </p:txBody>
      </p:sp>
      <p:sp>
        <p:nvSpPr>
          <p:cNvPr id="40" name="Text 37"/>
          <p:cNvSpPr/>
          <p:nvPr/>
        </p:nvSpPr>
        <p:spPr>
          <a:xfrm>
            <a:off x="781050" y="4300538"/>
            <a:ext cx="3800386"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FFFFFF"/>
                </a:solidFill>
                <a:latin typeface="Titillium Web" pitchFamily="34" charset="0"/>
                <a:ea typeface="Titillium Web" pitchFamily="34" charset="-122"/>
                <a:cs typeface="Titillium Web" pitchFamily="34" charset="-120"/>
              </a:rPr>
              <a:t>MoR providers, ranked per market</a:t>
            </a:r>
            <a:endParaRPr lang="en-US" sz="1050" dirty="0"/>
          </a:p>
        </p:txBody>
      </p:sp>
      <p:sp>
        <p:nvSpPr>
          <p:cNvPr id="41" name="Text 38"/>
          <p:cNvSpPr/>
          <p:nvPr/>
        </p:nvSpPr>
        <p:spPr>
          <a:xfrm>
            <a:off x="781050" y="4576763"/>
            <a:ext cx="380038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88000"/>
                  </a:srgbClr>
                </a:solidFill>
                <a:latin typeface="Titillium Web" pitchFamily="34" charset="0"/>
                <a:ea typeface="Titillium Web" pitchFamily="34" charset="-122"/>
                <a:cs typeface="Titillium Web" pitchFamily="34" charset="-120"/>
              </a:rPr>
              <a:t>EBANX connected direct, dLocal and local specialists where they win.</a:t>
            </a:r>
            <a:endParaRPr lang="en-US" sz="938" dirty="0"/>
          </a:p>
        </p:txBody>
      </p:sp>
      <p:sp>
        <p:nvSpPr>
          <p:cNvPr id="42" name="Shape 39"/>
          <p:cNvSpPr/>
          <p:nvPr/>
        </p:nvSpPr>
        <p:spPr>
          <a:xfrm>
            <a:off x="4635996" y="3290888"/>
            <a:ext cx="3435102" cy="2871788"/>
          </a:xfrm>
          <a:prstGeom prst="roundRect">
            <a:avLst>
              <a:gd name="adj" fmla="val 3317"/>
            </a:avLst>
          </a:prstGeom>
          <a:solidFill>
            <a:srgbClr val="EEF0FB"/>
          </a:solidFill>
          <a:ln/>
        </p:spPr>
      </p:sp>
      <p:sp>
        <p:nvSpPr>
          <p:cNvPr id="43" name="Text 40"/>
          <p:cNvSpPr/>
          <p:nvPr/>
        </p:nvSpPr>
        <p:spPr>
          <a:xfrm>
            <a:off x="4883646" y="3519488"/>
            <a:ext cx="3233782"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SCOPE</a:t>
            </a:r>
            <a:endParaRPr lang="en-US" sz="825" dirty="0"/>
          </a:p>
        </p:txBody>
      </p:sp>
      <p:sp>
        <p:nvSpPr>
          <p:cNvPr id="44" name="Text 41"/>
          <p:cNvSpPr/>
          <p:nvPr/>
        </p:nvSpPr>
        <p:spPr>
          <a:xfrm>
            <a:off x="4883646" y="3767138"/>
            <a:ext cx="3233782" cy="248543"/>
          </a:xfrm>
          <a:prstGeom prst="rect">
            <a:avLst/>
          </a:prstGeom>
          <a:noFill/>
          <a:ln/>
        </p:spPr>
        <p:txBody>
          <a:bodyPr wrap="square" lIns="25400" tIns="25400" rIns="25400" bIns="25400" rtlCol="0" anchor="t">
            <a:normAutofit/>
          </a:bodyPr>
          <a:lstStyle/>
          <a:p>
            <a:pPr algn="l" indent="0" marL="0">
              <a:lnSpc>
                <a:spcPct val="85000"/>
              </a:lnSpc>
              <a:buNone/>
            </a:pPr>
            <a:r>
              <a:rPr lang="en-US" sz="1275" b="1" dirty="0">
                <a:solidFill>
                  <a:srgbClr val="17181C"/>
                </a:solidFill>
                <a:latin typeface="Titillium Web" pitchFamily="34" charset="0"/>
                <a:ea typeface="Titillium Web" pitchFamily="34" charset="-122"/>
                <a:cs typeface="Titillium Web" pitchFamily="34" charset="-120"/>
              </a:rPr>
              <a:t>Fully modular</a:t>
            </a:r>
            <a:endParaRPr lang="en-US" sz="1275" dirty="0"/>
          </a:p>
        </p:txBody>
      </p:sp>
      <p:sp>
        <p:nvSpPr>
          <p:cNvPr id="45" name="Text 42"/>
          <p:cNvSpPr/>
          <p:nvPr/>
        </p:nvSpPr>
        <p:spPr>
          <a:xfrm>
            <a:off x="4883646" y="4053780"/>
            <a:ext cx="3027996" cy="407194"/>
          </a:xfrm>
          <a:prstGeom prst="rect">
            <a:avLst/>
          </a:prstGeom>
          <a:noFill/>
          <a:ln/>
        </p:spPr>
        <p:txBody>
          <a:bodyPr wrap="square" lIns="25400" tIns="25400" rIns="25400" bIns="25400" rtlCol="0" anchor="t">
            <a:normAutofit/>
          </a:bodyPr>
          <a:lstStyle/>
          <a:p>
            <a:pPr algn="l" indent="0" marL="0">
              <a:lnSpc>
                <a:spcPct val="101974"/>
              </a:lnSpc>
              <a:buNone/>
            </a:pPr>
            <a:r>
              <a:rPr lang="en-US" sz="938" dirty="0">
                <a:solidFill>
                  <a:srgbClr val="5B5E6B"/>
                </a:solidFill>
                <a:latin typeface="Titillium Web" pitchFamily="34" charset="0"/>
                <a:ea typeface="Titillium Web" pitchFamily="34" charset="-122"/>
                <a:cs typeface="Titillium Web" pitchFamily="34" charset="-120"/>
              </a:rPr>
              <a:t>Full MoR, or tax-of-record plus standalone components, staged market by market.</a:t>
            </a:r>
            <a:endParaRPr lang="en-US" sz="938" dirty="0"/>
          </a:p>
        </p:txBody>
      </p:sp>
      <p:sp>
        <p:nvSpPr>
          <p:cNvPr id="46" name="Shape 43"/>
          <p:cNvSpPr/>
          <p:nvPr/>
        </p:nvSpPr>
        <p:spPr>
          <a:xfrm>
            <a:off x="8223498" y="3290888"/>
            <a:ext cx="3434953" cy="2871788"/>
          </a:xfrm>
          <a:prstGeom prst="roundRect">
            <a:avLst>
              <a:gd name="adj" fmla="val 3317"/>
            </a:avLst>
          </a:prstGeom>
          <a:solidFill>
            <a:srgbClr val="FFFFFF"/>
          </a:solidFill>
          <a:ln w="9525">
            <a:solidFill>
              <a:srgbClr val="E3E5F0"/>
            </a:solidFill>
            <a:prstDash val="solid"/>
          </a:ln>
        </p:spPr>
      </p:sp>
      <p:sp>
        <p:nvSpPr>
          <p:cNvPr id="47" name="Text 44"/>
          <p:cNvSpPr/>
          <p:nvPr/>
        </p:nvSpPr>
        <p:spPr>
          <a:xfrm>
            <a:off x="8480673" y="3529013"/>
            <a:ext cx="3212663"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OPERATIONS</a:t>
            </a:r>
            <a:endParaRPr lang="en-US" sz="825" dirty="0"/>
          </a:p>
        </p:txBody>
      </p:sp>
      <p:sp>
        <p:nvSpPr>
          <p:cNvPr id="48" name="Text 45"/>
          <p:cNvSpPr/>
          <p:nvPr/>
        </p:nvSpPr>
        <p:spPr>
          <a:xfrm>
            <a:off x="8480673" y="3776662"/>
            <a:ext cx="3212663" cy="248543"/>
          </a:xfrm>
          <a:prstGeom prst="rect">
            <a:avLst/>
          </a:prstGeom>
          <a:noFill/>
          <a:ln/>
        </p:spPr>
        <p:txBody>
          <a:bodyPr wrap="square" lIns="25400" tIns="25400" rIns="25400" bIns="25400" rtlCol="0" anchor="t">
            <a:normAutofit/>
          </a:bodyPr>
          <a:lstStyle/>
          <a:p>
            <a:pPr algn="l" indent="0" marL="0">
              <a:lnSpc>
                <a:spcPct val="85000"/>
              </a:lnSpc>
              <a:buNone/>
            </a:pPr>
            <a:r>
              <a:rPr lang="en-US" sz="1275" b="1" dirty="0">
                <a:solidFill>
                  <a:srgbClr val="17181C"/>
                </a:solidFill>
                <a:latin typeface="Titillium Web" pitchFamily="34" charset="0"/>
                <a:ea typeface="Titillium Web" pitchFamily="34" charset="-122"/>
                <a:cs typeface="Titillium Web" pitchFamily="34" charset="-120"/>
              </a:rPr>
              <a:t>One reporting layer on top</a:t>
            </a:r>
            <a:endParaRPr lang="en-US" sz="1275" dirty="0"/>
          </a:p>
        </p:txBody>
      </p:sp>
      <p:sp>
        <p:nvSpPr>
          <p:cNvPr id="49" name="Text 46"/>
          <p:cNvSpPr/>
          <p:nvPr/>
        </p:nvSpPr>
        <p:spPr>
          <a:xfrm>
            <a:off x="8480673" y="4063305"/>
            <a:ext cx="3008221" cy="407194"/>
          </a:xfrm>
          <a:prstGeom prst="rect">
            <a:avLst/>
          </a:prstGeom>
          <a:noFill/>
          <a:ln/>
        </p:spPr>
        <p:txBody>
          <a:bodyPr wrap="square" lIns="25400" tIns="25400" rIns="25400" bIns="25400" rtlCol="0" anchor="t">
            <a:normAutofit/>
          </a:bodyPr>
          <a:lstStyle/>
          <a:p>
            <a:pPr algn="l" indent="0" marL="0">
              <a:lnSpc>
                <a:spcPct val="101974"/>
              </a:lnSpc>
              <a:buNone/>
            </a:pPr>
            <a:r>
              <a:rPr lang="en-US" sz="938" dirty="0">
                <a:solidFill>
                  <a:srgbClr val="5B5E6B"/>
                </a:solidFill>
                <a:latin typeface="Titillium Web" pitchFamily="34" charset="0"/>
                <a:ea typeface="Titillium Web" pitchFamily="34" charset="-122"/>
                <a:cs typeface="Titillium Web" pitchFamily="34" charset="-120"/>
              </a:rPr>
              <a:t>Operations see one normalized dashboard, never another portal.</a:t>
            </a:r>
            <a:endParaRPr lang="en-US" sz="938" dirty="0"/>
          </a:p>
        </p:txBody>
      </p:sp>
      <p:sp>
        <p:nvSpPr>
          <p:cNvPr id="50" name="Text 47"/>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51" name="Text 48"/>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23</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One dashboard, every rail</a:t>
            </a:r>
            <a:endParaRPr lang="en-US" sz="2700" dirty="0"/>
          </a:p>
        </p:txBody>
      </p:sp>
      <p:sp>
        <p:nvSpPr>
          <p:cNvPr id="7" name="Shape 4"/>
          <p:cNvSpPr/>
          <p:nvPr/>
        </p:nvSpPr>
        <p:spPr>
          <a:xfrm>
            <a:off x="533400" y="1485900"/>
            <a:ext cx="3088928" cy="3781425"/>
          </a:xfrm>
          <a:prstGeom prst="roundRect">
            <a:avLst>
              <a:gd name="adj" fmla="val 3084"/>
            </a:avLst>
          </a:prstGeom>
          <a:solidFill>
            <a:srgbClr val="F7F8FC"/>
          </a:solidFill>
          <a:ln w="9525">
            <a:solidFill>
              <a:srgbClr val="E3E5F0"/>
            </a:solidFill>
            <a:prstDash val="solid"/>
          </a:ln>
        </p:spPr>
      </p:sp>
      <p:sp>
        <p:nvSpPr>
          <p:cNvPr id="8" name="Text 5"/>
          <p:cNvSpPr/>
          <p:nvPr/>
        </p:nvSpPr>
        <p:spPr>
          <a:xfrm>
            <a:off x="771525" y="1704975"/>
            <a:ext cx="287394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TODAY</a:t>
            </a:r>
            <a:endParaRPr lang="en-US" sz="825" dirty="0"/>
          </a:p>
        </p:txBody>
      </p:sp>
      <p:sp>
        <p:nvSpPr>
          <p:cNvPr id="9" name="Text 6"/>
          <p:cNvSpPr/>
          <p:nvPr/>
        </p:nvSpPr>
        <p:spPr>
          <a:xfrm>
            <a:off x="771525" y="1914525"/>
            <a:ext cx="2873946" cy="228600"/>
          </a:xfrm>
          <a:prstGeom prst="rect">
            <a:avLst/>
          </a:prstGeom>
          <a:noFill/>
          <a:ln/>
        </p:spPr>
        <p:txBody>
          <a:bodyPr wrap="square" lIns="25400" tIns="25400" rIns="25400" bIns="25400" rtlCol="0" anchor="t">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One portal per provider</a:t>
            </a:r>
            <a:endParaRPr lang="en-US" sz="975" dirty="0"/>
          </a:p>
        </p:txBody>
      </p:sp>
      <p:sp>
        <p:nvSpPr>
          <p:cNvPr id="10" name="Shape 7"/>
          <p:cNvSpPr/>
          <p:nvPr/>
        </p:nvSpPr>
        <p:spPr>
          <a:xfrm>
            <a:off x="771525" y="2257425"/>
            <a:ext cx="2612678" cy="409575"/>
          </a:xfrm>
          <a:prstGeom prst="roundRect">
            <a:avLst>
              <a:gd name="adj" fmla="val 13953"/>
            </a:avLst>
          </a:prstGeom>
          <a:solidFill>
            <a:srgbClr val="FFFFFF"/>
          </a:solidFill>
          <a:ln w="9525">
            <a:solidFill>
              <a:srgbClr val="DDE0F0"/>
            </a:solidFill>
            <a:prstDash val="solid"/>
          </a:ln>
        </p:spPr>
      </p:sp>
      <p:sp>
        <p:nvSpPr>
          <p:cNvPr id="11" name="Text 8"/>
          <p:cNvSpPr/>
          <p:nvPr/>
        </p:nvSpPr>
        <p:spPr>
          <a:xfrm>
            <a:off x="923925" y="237172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Stripe portal</a:t>
            </a:r>
            <a:endParaRPr lang="en-US" sz="938" dirty="0"/>
          </a:p>
        </p:txBody>
      </p:sp>
      <p:sp>
        <p:nvSpPr>
          <p:cNvPr id="12" name="Shape 9"/>
          <p:cNvSpPr/>
          <p:nvPr/>
        </p:nvSpPr>
        <p:spPr>
          <a:xfrm>
            <a:off x="771525" y="2743200"/>
            <a:ext cx="2612678" cy="409575"/>
          </a:xfrm>
          <a:prstGeom prst="roundRect">
            <a:avLst>
              <a:gd name="adj" fmla="val 13953"/>
            </a:avLst>
          </a:prstGeom>
          <a:solidFill>
            <a:srgbClr val="FFFFFF"/>
          </a:solidFill>
          <a:ln w="9525">
            <a:solidFill>
              <a:srgbClr val="DDE0F0"/>
            </a:solidFill>
            <a:prstDash val="solid"/>
          </a:ln>
        </p:spPr>
      </p:sp>
      <p:sp>
        <p:nvSpPr>
          <p:cNvPr id="13" name="Text 10"/>
          <p:cNvSpPr/>
          <p:nvPr/>
        </p:nvSpPr>
        <p:spPr>
          <a:xfrm>
            <a:off x="923925" y="2857500"/>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Braintree portal</a:t>
            </a:r>
            <a:endParaRPr lang="en-US" sz="938" dirty="0"/>
          </a:p>
        </p:txBody>
      </p:sp>
      <p:sp>
        <p:nvSpPr>
          <p:cNvPr id="14" name="Shape 11"/>
          <p:cNvSpPr/>
          <p:nvPr/>
        </p:nvSpPr>
        <p:spPr>
          <a:xfrm>
            <a:off x="771525" y="3228975"/>
            <a:ext cx="2612678" cy="409575"/>
          </a:xfrm>
          <a:prstGeom prst="roundRect">
            <a:avLst>
              <a:gd name="adj" fmla="val 13953"/>
            </a:avLst>
          </a:prstGeom>
          <a:solidFill>
            <a:srgbClr val="FFFFFF"/>
          </a:solidFill>
          <a:ln w="9525">
            <a:solidFill>
              <a:srgbClr val="DDE0F0"/>
            </a:solidFill>
            <a:prstDash val="solid"/>
          </a:ln>
        </p:spPr>
      </p:sp>
      <p:sp>
        <p:nvSpPr>
          <p:cNvPr id="15" name="Text 12"/>
          <p:cNvSpPr/>
          <p:nvPr/>
        </p:nvSpPr>
        <p:spPr>
          <a:xfrm>
            <a:off x="923925" y="334327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J.P. Morgan portal</a:t>
            </a:r>
            <a:endParaRPr lang="en-US" sz="938" dirty="0"/>
          </a:p>
        </p:txBody>
      </p:sp>
      <p:sp>
        <p:nvSpPr>
          <p:cNvPr id="16" name="Shape 13"/>
          <p:cNvSpPr/>
          <p:nvPr/>
        </p:nvSpPr>
        <p:spPr>
          <a:xfrm>
            <a:off x="771525" y="3714750"/>
            <a:ext cx="2612678" cy="409575"/>
          </a:xfrm>
          <a:prstGeom prst="roundRect">
            <a:avLst>
              <a:gd name="adj" fmla="val 13953"/>
            </a:avLst>
          </a:prstGeom>
          <a:solidFill>
            <a:srgbClr val="FFFFFF"/>
          </a:solidFill>
          <a:ln w="9525">
            <a:solidFill>
              <a:srgbClr val="DDE0F0"/>
            </a:solidFill>
            <a:prstDash val="solid"/>
          </a:ln>
        </p:spPr>
      </p:sp>
      <p:sp>
        <p:nvSpPr>
          <p:cNvPr id="17" name="Text 14"/>
          <p:cNvSpPr/>
          <p:nvPr/>
        </p:nvSpPr>
        <p:spPr>
          <a:xfrm>
            <a:off x="923925" y="3829050"/>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Mercado Pago portal</a:t>
            </a:r>
            <a:endParaRPr lang="en-US" sz="938" dirty="0"/>
          </a:p>
        </p:txBody>
      </p:sp>
      <p:sp>
        <p:nvSpPr>
          <p:cNvPr id="18" name="Shape 15"/>
          <p:cNvSpPr/>
          <p:nvPr/>
        </p:nvSpPr>
        <p:spPr>
          <a:xfrm>
            <a:off x="771525" y="4200525"/>
            <a:ext cx="2612678" cy="409575"/>
          </a:xfrm>
          <a:prstGeom prst="roundRect">
            <a:avLst>
              <a:gd name="adj" fmla="val 13953"/>
            </a:avLst>
          </a:prstGeom>
          <a:solidFill>
            <a:srgbClr val="FFFFFF"/>
          </a:solidFill>
          <a:ln w="9525">
            <a:solidFill>
              <a:srgbClr val="DDE0F0"/>
            </a:solidFill>
            <a:prstDash val="solid"/>
          </a:ln>
        </p:spPr>
      </p:sp>
      <p:sp>
        <p:nvSpPr>
          <p:cNvPr id="19" name="Text 16"/>
          <p:cNvSpPr/>
          <p:nvPr/>
        </p:nvSpPr>
        <p:spPr>
          <a:xfrm>
            <a:off x="923925" y="431482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MoR partner portal</a:t>
            </a:r>
            <a:endParaRPr lang="en-US" sz="938" dirty="0"/>
          </a:p>
        </p:txBody>
      </p:sp>
      <p:sp>
        <p:nvSpPr>
          <p:cNvPr id="20" name="Shape 17"/>
          <p:cNvSpPr/>
          <p:nvPr/>
        </p:nvSpPr>
        <p:spPr>
          <a:xfrm>
            <a:off x="3812828" y="1485900"/>
            <a:ext cx="4297710" cy="3781425"/>
          </a:xfrm>
          <a:prstGeom prst="roundRect">
            <a:avLst>
              <a:gd name="adj" fmla="val 2519"/>
            </a:avLst>
          </a:prstGeom>
          <a:solidFill>
            <a:srgbClr val="3E4FE0"/>
          </a:solidFill>
          <a:ln/>
        </p:spPr>
      </p:sp>
      <p:sp>
        <p:nvSpPr>
          <p:cNvPr id="21" name="Text 18"/>
          <p:cNvSpPr/>
          <p:nvPr/>
        </p:nvSpPr>
        <p:spPr>
          <a:xfrm>
            <a:off x="4079528" y="1733550"/>
            <a:ext cx="4140741"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THE LAYER IN BETWEEN</a:t>
            </a:r>
            <a:endParaRPr lang="en-US" sz="825" dirty="0"/>
          </a:p>
        </p:txBody>
      </p:sp>
      <p:sp>
        <p:nvSpPr>
          <p:cNvPr id="22" name="Text 19"/>
          <p:cNvSpPr/>
          <p:nvPr/>
        </p:nvSpPr>
        <p:spPr>
          <a:xfrm>
            <a:off x="4079528" y="1981200"/>
            <a:ext cx="4140741" cy="306288"/>
          </a:xfrm>
          <a:prstGeom prst="rect">
            <a:avLst/>
          </a:prstGeom>
          <a:noFill/>
          <a:ln/>
        </p:spPr>
        <p:txBody>
          <a:bodyPr wrap="square" lIns="25400" tIns="25400" rIns="25400" bIns="25400" rtlCol="0" anchor="t">
            <a:normAutofit/>
          </a:bodyPr>
          <a:lstStyle/>
          <a:p>
            <a:pPr algn="l" indent="0" marL="0">
              <a:lnSpc>
                <a:spcPct val="82824"/>
              </a:lnSpc>
              <a:buNone/>
            </a:pPr>
            <a:r>
              <a:rPr lang="en-US" sz="1650" b="1" dirty="0">
                <a:solidFill>
                  <a:srgbClr val="FFFFFF"/>
                </a:solidFill>
                <a:latin typeface="Titillium Web" pitchFamily="34" charset="0"/>
                <a:ea typeface="Titillium Web" pitchFamily="34" charset="-122"/>
                <a:cs typeface="Titillium Web" pitchFamily="34" charset="-120"/>
              </a:rPr>
              <a:t>Normalization + reconciliation</a:t>
            </a:r>
            <a:endParaRPr lang="en-US" sz="1650" dirty="0"/>
          </a:p>
        </p:txBody>
      </p:sp>
      <p:sp>
        <p:nvSpPr>
          <p:cNvPr id="23" name="Text 20"/>
          <p:cNvSpPr/>
          <p:nvPr/>
        </p:nvSpPr>
        <p:spPr>
          <a:xfrm>
            <a:off x="4079528" y="2363688"/>
            <a:ext cx="3877239" cy="451247"/>
          </a:xfrm>
          <a:prstGeom prst="rect">
            <a:avLst/>
          </a:prstGeom>
          <a:noFill/>
          <a:ln/>
        </p:spPr>
        <p:txBody>
          <a:bodyPr wrap="square" lIns="25400" tIns="25400" rIns="25400" bIns="25400" rtlCol="0" anchor="t">
            <a:normAutofit/>
          </a:bodyPr>
          <a:lstStyle/>
          <a:p>
            <a:pPr algn="l" indent="0" marL="0">
              <a:lnSpc>
                <a:spcPct val="103333"/>
              </a:lnSpc>
              <a:buNone/>
            </a:pPr>
            <a:r>
              <a:rPr lang="en-US" sz="1050" dirty="0">
                <a:solidFill>
                  <a:srgbClr val="FFFFFF">
                    <a:alpha val="92000"/>
                  </a:srgbClr>
                </a:solidFill>
                <a:latin typeface="Titillium Web" pitchFamily="34" charset="0"/>
                <a:ea typeface="Titillium Web" pitchFamily="34" charset="-122"/>
                <a:cs typeface="Titillium Web" pitchFamily="34" charset="-120"/>
              </a:rPr>
              <a:t>Transaction reports and settlement reports, cross-referenced automatically across every provider.</a:t>
            </a:r>
            <a:endParaRPr lang="en-US" sz="1050" dirty="0"/>
          </a:p>
        </p:txBody>
      </p:sp>
      <p:sp>
        <p:nvSpPr>
          <p:cNvPr id="24" name="Shape 21"/>
          <p:cNvSpPr/>
          <p:nvPr/>
        </p:nvSpPr>
        <p:spPr>
          <a:xfrm>
            <a:off x="4079528" y="4667250"/>
            <a:ext cx="3764310" cy="9525"/>
          </a:xfrm>
          <a:prstGeom prst="rect">
            <a:avLst/>
          </a:prstGeom>
          <a:solidFill>
            <a:srgbClr val="FFFFFF">
              <a:alpha val="28000"/>
            </a:srgbClr>
          </a:solidFill>
          <a:ln/>
        </p:spPr>
      </p:sp>
      <p:sp>
        <p:nvSpPr>
          <p:cNvPr id="25" name="Text 22"/>
          <p:cNvSpPr/>
          <p:nvPr/>
        </p:nvSpPr>
        <p:spPr>
          <a:xfrm>
            <a:off x="4079528" y="4829175"/>
            <a:ext cx="3877239" cy="22860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88000"/>
                  </a:srgbClr>
                </a:solidFill>
                <a:latin typeface="Titillium Web" pitchFamily="34" charset="0"/>
                <a:ea typeface="Titillium Web" pitchFamily="34" charset="-122"/>
                <a:cs typeface="Titillium Web" pitchFamily="34" charset="-120"/>
              </a:rPr>
              <a:t>Raw data always accessible underneath.</a:t>
            </a:r>
            <a:endParaRPr lang="en-US" sz="975" dirty="0"/>
          </a:p>
        </p:txBody>
      </p:sp>
      <p:sp>
        <p:nvSpPr>
          <p:cNvPr id="26" name="Shape 23"/>
          <p:cNvSpPr/>
          <p:nvPr/>
        </p:nvSpPr>
        <p:spPr>
          <a:xfrm>
            <a:off x="8301038" y="1485900"/>
            <a:ext cx="3357563" cy="3781425"/>
          </a:xfrm>
          <a:prstGeom prst="roundRect">
            <a:avLst>
              <a:gd name="adj" fmla="val 2837"/>
            </a:avLst>
          </a:prstGeom>
          <a:solidFill>
            <a:srgbClr val="EEF0FB"/>
          </a:solidFill>
          <a:ln/>
        </p:spPr>
      </p:sp>
      <p:sp>
        <p:nvSpPr>
          <p:cNvPr id="27" name="Text 24"/>
          <p:cNvSpPr/>
          <p:nvPr/>
        </p:nvSpPr>
        <p:spPr>
          <a:xfrm>
            <a:off x="8567738" y="1733550"/>
            <a:ext cx="3106579"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3E4FE0"/>
                </a:solidFill>
                <a:latin typeface="Titillium Web" pitchFamily="34" charset="0"/>
                <a:ea typeface="Titillium Web" pitchFamily="34" charset="-122"/>
                <a:cs typeface="Titillium Web" pitchFamily="34" charset="-120"/>
              </a:rPr>
              <a:t>THE RESULT</a:t>
            </a:r>
            <a:endParaRPr lang="en-US" sz="825" dirty="0"/>
          </a:p>
        </p:txBody>
      </p:sp>
      <p:sp>
        <p:nvSpPr>
          <p:cNvPr id="28" name="Text 25"/>
          <p:cNvSpPr/>
          <p:nvPr/>
        </p:nvSpPr>
        <p:spPr>
          <a:xfrm>
            <a:off x="8567738" y="1981200"/>
            <a:ext cx="3106579" cy="306288"/>
          </a:xfrm>
          <a:prstGeom prst="rect">
            <a:avLst/>
          </a:prstGeom>
          <a:noFill/>
          <a:ln/>
        </p:spPr>
        <p:txBody>
          <a:bodyPr wrap="square" lIns="25400" tIns="25400" rIns="25400" bIns="25400" rtlCol="0" anchor="t">
            <a:normAutofit/>
          </a:bodyPr>
          <a:lstStyle/>
          <a:p>
            <a:pPr algn="l" indent="0" marL="0">
              <a:lnSpc>
                <a:spcPct val="82824"/>
              </a:lnSpc>
              <a:buNone/>
            </a:pPr>
            <a:r>
              <a:rPr lang="en-US" sz="1650" b="1" dirty="0">
                <a:solidFill>
                  <a:srgbClr val="17181C"/>
                </a:solidFill>
                <a:latin typeface="Titillium Web" pitchFamily="34" charset="0"/>
                <a:ea typeface="Titillium Web" pitchFamily="34" charset="-122"/>
                <a:cs typeface="Titillium Web" pitchFamily="34" charset="-120"/>
              </a:rPr>
              <a:t>One dashboard</a:t>
            </a:r>
            <a:endParaRPr lang="en-US" sz="1650" dirty="0"/>
          </a:p>
        </p:txBody>
      </p:sp>
      <p:sp>
        <p:nvSpPr>
          <p:cNvPr id="29" name="Text 26"/>
          <p:cNvSpPr/>
          <p:nvPr/>
        </p:nvSpPr>
        <p:spPr>
          <a:xfrm>
            <a:off x="8567738" y="2363688"/>
            <a:ext cx="3106579" cy="237381"/>
          </a:xfrm>
          <a:prstGeom prst="rect">
            <a:avLst/>
          </a:prstGeom>
          <a:noFill/>
          <a:ln/>
        </p:spPr>
        <p:txBody>
          <a:bodyPr wrap="square" lIns="25400" tIns="25400" rIns="25400" bIns="25400" rtlCol="0" anchor="t">
            <a:normAutofit/>
          </a:bodyPr>
          <a:lstStyle/>
          <a:p>
            <a:pPr algn="l" indent="0" marL="0">
              <a:lnSpc>
                <a:spcPct val="104625"/>
              </a:lnSpc>
              <a:buNone/>
            </a:pPr>
            <a:r>
              <a:rPr lang="en-US" sz="1013" dirty="0">
                <a:solidFill>
                  <a:srgbClr val="5B5E6B"/>
                </a:solidFill>
                <a:latin typeface="Titillium Web" pitchFamily="34" charset="0"/>
                <a:ea typeface="Titillium Web" pitchFamily="34" charset="-122"/>
                <a:cs typeface="Titillium Web" pitchFamily="34" charset="-120"/>
              </a:rPr>
              <a:t>Payment ops, chargebacks and refunds in one place.</a:t>
            </a:r>
            <a:endParaRPr lang="en-US" sz="1013" dirty="0"/>
          </a:p>
        </p:txBody>
      </p:sp>
      <p:sp>
        <p:nvSpPr>
          <p:cNvPr id="30" name="Shape 27"/>
          <p:cNvSpPr/>
          <p:nvPr/>
        </p:nvSpPr>
        <p:spPr>
          <a:xfrm>
            <a:off x="8567738" y="4486275"/>
            <a:ext cx="2824163" cy="9525"/>
          </a:xfrm>
          <a:prstGeom prst="rect">
            <a:avLst/>
          </a:prstGeom>
          <a:solidFill>
            <a:srgbClr val="DDE0F0"/>
          </a:solidFill>
          <a:ln/>
        </p:spPr>
      </p:sp>
      <p:sp>
        <p:nvSpPr>
          <p:cNvPr id="31" name="Text 28"/>
          <p:cNvSpPr/>
          <p:nvPr/>
        </p:nvSpPr>
        <p:spPr>
          <a:xfrm>
            <a:off x="8567738" y="4648200"/>
            <a:ext cx="2908887" cy="409575"/>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Drill into a provider portal only on a flagged discrepancy, with exact references.</a:t>
            </a:r>
            <a:endParaRPr lang="en-US" sz="975" dirty="0"/>
          </a:p>
        </p:txBody>
      </p:sp>
      <p:sp>
        <p:nvSpPr>
          <p:cNvPr id="32" name="Shape 29"/>
          <p:cNvSpPr/>
          <p:nvPr/>
        </p:nvSpPr>
        <p:spPr>
          <a:xfrm>
            <a:off x="533400" y="5457825"/>
            <a:ext cx="11125200" cy="704850"/>
          </a:xfrm>
          <a:prstGeom prst="roundRect">
            <a:avLst>
              <a:gd name="adj" fmla="val 13514"/>
            </a:avLst>
          </a:prstGeom>
          <a:solidFill>
            <a:srgbClr val="17181C"/>
          </a:solidFill>
          <a:ln/>
        </p:spPr>
      </p:sp>
      <p:sp>
        <p:nvSpPr>
          <p:cNvPr id="33" name="Text 30"/>
          <p:cNvSpPr/>
          <p:nvPr/>
        </p:nvSpPr>
        <p:spPr>
          <a:xfrm>
            <a:off x="781050" y="5648325"/>
            <a:ext cx="801737"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8A94EE"/>
                </a:solidFill>
                <a:latin typeface="Titillium Web" pitchFamily="34" charset="0"/>
                <a:ea typeface="Titillium Web" pitchFamily="34" charset="-122"/>
                <a:cs typeface="Titillium Web" pitchFamily="34" charset="-120"/>
              </a:rPr>
              <a:t>~100</a:t>
            </a:r>
            <a:endParaRPr lang="en-US" sz="2550" dirty="0"/>
          </a:p>
        </p:txBody>
      </p:sp>
      <p:sp>
        <p:nvSpPr>
          <p:cNvPr id="34" name="Text 31"/>
          <p:cNvSpPr/>
          <p:nvPr/>
        </p:nvSpPr>
        <p:spPr>
          <a:xfrm>
            <a:off x="1716137" y="5713809"/>
            <a:ext cx="9844594"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markets with their own entities at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Starlink</a:t>
            </a:r>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 Before Yuno, one dashboard per acquirer. Today, everything through one.</a:t>
            </a:r>
            <a:endParaRPr lang="en-US" sz="1013" dirty="0"/>
          </a:p>
        </p:txBody>
      </p:sp>
      <p:sp>
        <p:nvSpPr>
          <p:cNvPr id="35" name="Shape 32"/>
          <p:cNvSpPr/>
          <p:nvPr/>
        </p:nvSpPr>
        <p:spPr>
          <a:xfrm>
            <a:off x="10875318" y="5724525"/>
            <a:ext cx="535632" cy="171450"/>
          </a:xfrm>
          <a:prstGeom prst="roundRect">
            <a:avLst>
              <a:gd name="adj" fmla="val 22222"/>
            </a:avLst>
          </a:prstGeom>
          <a:solidFill>
            <a:srgbClr val="FFF4E0"/>
          </a:solidFill>
          <a:ln w="9525">
            <a:solidFill>
              <a:srgbClr val="F5D9A6"/>
            </a:solidFill>
            <a:prstDash val="solid"/>
          </a:ln>
        </p:spPr>
      </p:sp>
      <p:sp>
        <p:nvSpPr>
          <p:cNvPr id="36" name="Text 33"/>
          <p:cNvSpPr/>
          <p:nvPr/>
        </p:nvSpPr>
        <p:spPr>
          <a:xfrm>
            <a:off x="10941993" y="5743575"/>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37" name="Text 34"/>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38" name="Text 35"/>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24</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Out of the funds flow, in stages</a:t>
            </a:r>
            <a:endParaRPr lang="en-US" sz="2700" dirty="0"/>
          </a:p>
        </p:txBody>
      </p:sp>
      <p:sp>
        <p:nvSpPr>
          <p:cNvPr id="7" name="Shape 4"/>
          <p:cNvSpPr/>
          <p:nvPr/>
        </p:nvSpPr>
        <p:spPr>
          <a:xfrm>
            <a:off x="533400" y="1485900"/>
            <a:ext cx="3581400" cy="4188619"/>
          </a:xfrm>
          <a:prstGeom prst="roundRect">
            <a:avLst>
              <a:gd name="adj" fmla="val 2660"/>
            </a:avLst>
          </a:prstGeom>
          <a:solidFill>
            <a:srgbClr val="FFFFFF"/>
          </a:solidFill>
          <a:ln w="9525">
            <a:solidFill>
              <a:srgbClr val="E3E5F0"/>
            </a:solidFill>
            <a:prstDash val="solid"/>
          </a:ln>
        </p:spPr>
      </p:sp>
      <p:sp>
        <p:nvSpPr>
          <p:cNvPr id="8" name="Text 5"/>
          <p:cNvSpPr/>
          <p:nvPr/>
        </p:nvSpPr>
        <p:spPr>
          <a:xfrm>
            <a:off x="809625" y="1876425"/>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STAGE 1</a:t>
            </a:r>
            <a:endParaRPr lang="en-US" sz="825" dirty="0"/>
          </a:p>
        </p:txBody>
      </p:sp>
      <p:sp>
        <p:nvSpPr>
          <p:cNvPr id="9" name="Text 6"/>
          <p:cNvSpPr/>
          <p:nvPr/>
        </p:nvSpPr>
        <p:spPr>
          <a:xfrm>
            <a:off x="3518446" y="1743075"/>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E3E5F0"/>
                </a:solidFill>
                <a:latin typeface="Titillium Web" pitchFamily="34" charset="0"/>
                <a:ea typeface="Titillium Web" pitchFamily="34" charset="-122"/>
                <a:cs typeface="Titillium Web" pitchFamily="34" charset="-120"/>
              </a:rPr>
              <a:t>01</a:t>
            </a:r>
            <a:endParaRPr lang="en-US" sz="2250" dirty="0"/>
          </a:p>
        </p:txBody>
      </p:sp>
      <p:sp>
        <p:nvSpPr>
          <p:cNvPr id="10" name="Text 7"/>
          <p:cNvSpPr/>
          <p:nvPr/>
        </p:nvSpPr>
        <p:spPr>
          <a:xfrm>
            <a:off x="809625" y="2124075"/>
            <a:ext cx="3331845"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Fast fix</a:t>
            </a:r>
            <a:endParaRPr lang="en-US" sz="1650" dirty="0"/>
          </a:p>
        </p:txBody>
      </p:sp>
      <p:sp>
        <p:nvSpPr>
          <p:cNvPr id="11" name="Text 8"/>
          <p:cNvSpPr/>
          <p:nvPr/>
        </p:nvSpPr>
        <p:spPr>
          <a:xfrm>
            <a:off x="809625" y="2562225"/>
            <a:ext cx="3119819"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A local MoR partner takes the funds flow per market, entities wind down.</a:t>
            </a:r>
            <a:endParaRPr lang="en-US" sz="1013" dirty="0"/>
          </a:p>
        </p:txBody>
      </p:sp>
      <p:sp>
        <p:nvSpPr>
          <p:cNvPr id="12" name="Shape 9"/>
          <p:cNvSpPr/>
          <p:nvPr/>
        </p:nvSpPr>
        <p:spPr>
          <a:xfrm>
            <a:off x="809625" y="5093494"/>
            <a:ext cx="3028950" cy="9525"/>
          </a:xfrm>
          <a:prstGeom prst="rect">
            <a:avLst/>
          </a:prstGeom>
          <a:solidFill>
            <a:srgbClr val="E3E5F0"/>
          </a:solidFill>
          <a:ln/>
        </p:spPr>
      </p:sp>
      <p:sp>
        <p:nvSpPr>
          <p:cNvPr id="13" name="Text 10"/>
          <p:cNvSpPr/>
          <p:nvPr/>
        </p:nvSpPr>
        <p:spPr>
          <a:xfrm>
            <a:off x="809625" y="5236369"/>
            <a:ext cx="3119819"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8C8F9E"/>
                </a:solidFill>
                <a:latin typeface="Titillium Web" pitchFamily="34" charset="0"/>
                <a:ea typeface="Titillium Web" pitchFamily="34" charset="-122"/>
                <a:cs typeface="Titillium Web" pitchFamily="34" charset="-120"/>
              </a:rPr>
              <a:t>RELIEF PER MARKET</a:t>
            </a:r>
            <a:endParaRPr lang="en-US" sz="900" dirty="0"/>
          </a:p>
        </p:txBody>
      </p:sp>
      <p:sp>
        <p:nvSpPr>
          <p:cNvPr id="14" name="Shape 11"/>
          <p:cNvSpPr/>
          <p:nvPr/>
        </p:nvSpPr>
        <p:spPr>
          <a:xfrm>
            <a:off x="4305300" y="1485900"/>
            <a:ext cx="3581400" cy="4188619"/>
          </a:xfrm>
          <a:prstGeom prst="roundRect">
            <a:avLst>
              <a:gd name="adj" fmla="val 2660"/>
            </a:avLst>
          </a:prstGeom>
          <a:solidFill>
            <a:srgbClr val="EEF0FB"/>
          </a:solidFill>
          <a:ln/>
        </p:spPr>
      </p:sp>
      <p:sp>
        <p:nvSpPr>
          <p:cNvPr id="15" name="Text 12"/>
          <p:cNvSpPr/>
          <p:nvPr/>
        </p:nvSpPr>
        <p:spPr>
          <a:xfrm>
            <a:off x="45720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STAGE 2</a:t>
            </a:r>
            <a:endParaRPr lang="en-US" sz="825" dirty="0"/>
          </a:p>
        </p:txBody>
      </p:sp>
      <p:sp>
        <p:nvSpPr>
          <p:cNvPr id="16" name="Text 13"/>
          <p:cNvSpPr/>
          <p:nvPr/>
        </p:nvSpPr>
        <p:spPr>
          <a:xfrm>
            <a:off x="72998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C9D0F5"/>
                </a:solidFill>
                <a:latin typeface="Titillium Web" pitchFamily="34" charset="0"/>
                <a:ea typeface="Titillium Web" pitchFamily="34" charset="-122"/>
                <a:cs typeface="Titillium Web" pitchFamily="34" charset="-120"/>
              </a:rPr>
              <a:t>02</a:t>
            </a:r>
            <a:endParaRPr lang="en-US" sz="2250" dirty="0"/>
          </a:p>
        </p:txBody>
      </p:sp>
      <p:sp>
        <p:nvSpPr>
          <p:cNvPr id="17" name="Text 14"/>
          <p:cNvSpPr/>
          <p:nvPr/>
        </p:nvSpPr>
        <p:spPr>
          <a:xfrm>
            <a:off x="45720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Unbundle</a:t>
            </a:r>
            <a:endParaRPr lang="en-US" sz="1650" dirty="0"/>
          </a:p>
        </p:txBody>
      </p:sp>
      <p:sp>
        <p:nvSpPr>
          <p:cNvPr id="18" name="Text 15"/>
          <p:cNvSpPr/>
          <p:nvPr/>
        </p:nvSpPr>
        <p:spPr>
          <a:xfrm>
            <a:off x="4572000" y="2552700"/>
            <a:ext cx="3139440"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KYC, tax and payout run as separate modules, best provider on each, economics visible per component.</a:t>
            </a:r>
            <a:endParaRPr lang="en-US" sz="1013" dirty="0"/>
          </a:p>
        </p:txBody>
      </p:sp>
      <p:sp>
        <p:nvSpPr>
          <p:cNvPr id="19" name="Shape 16"/>
          <p:cNvSpPr/>
          <p:nvPr/>
        </p:nvSpPr>
        <p:spPr>
          <a:xfrm>
            <a:off x="4572000" y="5103019"/>
            <a:ext cx="3048000" cy="9525"/>
          </a:xfrm>
          <a:prstGeom prst="rect">
            <a:avLst/>
          </a:prstGeom>
          <a:solidFill>
            <a:srgbClr val="DDE0F0"/>
          </a:solidFill>
          <a:ln/>
        </p:spPr>
      </p:sp>
      <p:sp>
        <p:nvSpPr>
          <p:cNvPr id="20" name="Text 17"/>
          <p:cNvSpPr/>
          <p:nvPr/>
        </p:nvSpPr>
        <p:spPr>
          <a:xfrm>
            <a:off x="45720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3E4FE0"/>
                </a:solidFill>
                <a:latin typeface="Titillium Web" pitchFamily="34" charset="0"/>
                <a:ea typeface="Titillium Web" pitchFamily="34" charset="-122"/>
                <a:cs typeface="Titillium Web" pitchFamily="34" charset="-120"/>
              </a:rPr>
              <a:t>COST TRANSPARENCY</a:t>
            </a:r>
            <a:endParaRPr lang="en-US" sz="900" dirty="0"/>
          </a:p>
        </p:txBody>
      </p:sp>
      <p:sp>
        <p:nvSpPr>
          <p:cNvPr id="21" name="Shape 18"/>
          <p:cNvSpPr/>
          <p:nvPr/>
        </p:nvSpPr>
        <p:spPr>
          <a:xfrm>
            <a:off x="8077200" y="1485900"/>
            <a:ext cx="3581400" cy="4188619"/>
          </a:xfrm>
          <a:prstGeom prst="roundRect">
            <a:avLst>
              <a:gd name="adj" fmla="val 2660"/>
            </a:avLst>
          </a:prstGeom>
          <a:solidFill>
            <a:srgbClr val="3E4FE0"/>
          </a:solidFill>
          <a:ln/>
        </p:spPr>
      </p:sp>
      <p:sp>
        <p:nvSpPr>
          <p:cNvPr id="22" name="Text 19"/>
          <p:cNvSpPr/>
          <p:nvPr/>
        </p:nvSpPr>
        <p:spPr>
          <a:xfrm>
            <a:off x="83439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STAGE 3</a:t>
            </a:r>
            <a:endParaRPr lang="en-US" sz="825" dirty="0"/>
          </a:p>
        </p:txBody>
      </p:sp>
      <p:sp>
        <p:nvSpPr>
          <p:cNvPr id="23" name="Text 20"/>
          <p:cNvSpPr/>
          <p:nvPr/>
        </p:nvSpPr>
        <p:spPr>
          <a:xfrm>
            <a:off x="110717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FFFFFF">
                    <a:alpha val="35000"/>
                  </a:srgbClr>
                </a:solidFill>
                <a:latin typeface="Titillium Web" pitchFamily="34" charset="0"/>
                <a:ea typeface="Titillium Web" pitchFamily="34" charset="-122"/>
                <a:cs typeface="Titillium Web" pitchFamily="34" charset="-120"/>
              </a:rPr>
              <a:t>03</a:t>
            </a:r>
            <a:endParaRPr lang="en-US" sz="2250" dirty="0"/>
          </a:p>
        </p:txBody>
      </p:sp>
      <p:sp>
        <p:nvSpPr>
          <p:cNvPr id="24" name="Text 21"/>
          <p:cNvSpPr/>
          <p:nvPr/>
        </p:nvSpPr>
        <p:spPr>
          <a:xfrm>
            <a:off x="83439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Titillium Web" pitchFamily="34" charset="0"/>
                <a:ea typeface="Titillium Web" pitchFamily="34" charset="-122"/>
                <a:cs typeface="Titillium Web" pitchFamily="34" charset="-120"/>
              </a:rPr>
              <a:t>End state</a:t>
            </a:r>
            <a:endParaRPr lang="en-US" sz="1650" dirty="0"/>
          </a:p>
        </p:txBody>
      </p:sp>
      <p:sp>
        <p:nvSpPr>
          <p:cNvPr id="25" name="Text 22"/>
          <p:cNvSpPr/>
          <p:nvPr/>
        </p:nvSpPr>
        <p:spPr>
          <a:xfrm>
            <a:off x="8343900" y="2552700"/>
            <a:ext cx="3139440" cy="65514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Fully out of the funds flow, no PSP or MSB registration, PSD3-ready in Europe and the UK, Canada-compliant by design.</a:t>
            </a:r>
            <a:endParaRPr lang="en-US" sz="1013" dirty="0"/>
          </a:p>
        </p:txBody>
      </p:sp>
      <p:sp>
        <p:nvSpPr>
          <p:cNvPr id="26" name="Shape 23"/>
          <p:cNvSpPr/>
          <p:nvPr/>
        </p:nvSpPr>
        <p:spPr>
          <a:xfrm>
            <a:off x="8343900" y="5103019"/>
            <a:ext cx="3048000" cy="9525"/>
          </a:xfrm>
          <a:prstGeom prst="rect">
            <a:avLst/>
          </a:prstGeom>
          <a:solidFill>
            <a:srgbClr val="FFFFFF">
              <a:alpha val="28000"/>
            </a:srgbClr>
          </a:solidFill>
          <a:ln/>
        </p:spPr>
      </p:sp>
      <p:sp>
        <p:nvSpPr>
          <p:cNvPr id="27" name="Text 24"/>
          <p:cNvSpPr/>
          <p:nvPr/>
        </p:nvSpPr>
        <p:spPr>
          <a:xfrm>
            <a:off x="83439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FFFFFF">
                    <a:alpha val="80000"/>
                  </a:srgbClr>
                </a:solidFill>
                <a:latin typeface="Titillium Web" pitchFamily="34" charset="0"/>
                <a:ea typeface="Titillium Web" pitchFamily="34" charset="-122"/>
                <a:cs typeface="Titillium Web" pitchFamily="34" charset="-120"/>
              </a:rPr>
              <a:t>REGULATORY HEADROOM</a:t>
            </a:r>
            <a:endParaRPr lang="en-US" sz="900" dirty="0"/>
          </a:p>
        </p:txBody>
      </p:sp>
      <p:sp>
        <p:nvSpPr>
          <p:cNvPr id="28" name="Shape 25"/>
          <p:cNvSpPr/>
          <p:nvPr/>
        </p:nvSpPr>
        <p:spPr>
          <a:xfrm>
            <a:off x="533400" y="5865019"/>
            <a:ext cx="11125200" cy="573881"/>
          </a:xfrm>
          <a:prstGeom prst="roundRect">
            <a:avLst>
              <a:gd name="adj" fmla="val 16598"/>
            </a:avLst>
          </a:prstGeom>
          <a:solidFill>
            <a:srgbClr val="17181C"/>
          </a:solidFill>
          <a:ln/>
        </p:spPr>
      </p:sp>
      <p:sp>
        <p:nvSpPr>
          <p:cNvPr id="29" name="Text 26"/>
          <p:cNvSpPr/>
          <p:nvPr/>
        </p:nvSpPr>
        <p:spPr>
          <a:xfrm>
            <a:off x="781050" y="6055519"/>
            <a:ext cx="109636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highlight>
                  <a:srgbClr val="17181C"/>
                </a:highlight>
                <a:latin typeface="Titillium Web" pitchFamily="34" charset="0"/>
                <a:ea typeface="Titillium Web" pitchFamily="34" charset="-122"/>
                <a:cs typeface="Titillium Web" pitchFamily="34" charset="-120"/>
              </a:rPr>
              <a:t>The agent exemption is narrowing in Europe and mostly gone in Canada.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This structure is staged so the value lands before regulation forces the change.</a:t>
            </a:r>
            <a:endParaRPr lang="en-US" sz="1013" dirty="0"/>
          </a:p>
        </p:txBody>
      </p:sp>
      <p:sp>
        <p:nvSpPr>
          <p:cNvPr id="30" name="Text 27"/>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25</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8858250" y="3028950"/>
            <a:ext cx="3200400" cy="1009650"/>
          </a:xfrm>
          <a:prstGeom prst="rect">
            <a:avLst/>
          </a:prstGeom>
          <a:solidFill>
            <a:srgbClr val="000000"/>
          </a:solidFill>
          <a:ln/>
        </p:spPr>
      </p:sp>
      <p:pic>
        <p:nvPicPr>
          <p:cNvPr id="5" name="Image 1" descr="preencoded.png">    </p:cNvPr>
          <p:cNvPicPr>
            <a:picLocks noChangeAspect="1"/>
          </p:cNvPicPr>
          <p:nvPr/>
        </p:nvPicPr>
        <p:blipFill>
          <a:blip r:embed="rId2"/>
          <a:stretch>
            <a:fillRect/>
          </a:stretch>
        </p:blipFill>
        <p:spPr>
          <a:xfrm>
            <a:off x="9144000" y="3390900"/>
            <a:ext cx="973336" cy="266700"/>
          </a:xfrm>
          <a:prstGeom prst="rect">
            <a:avLst/>
          </a:prstGeom>
        </p:spPr>
      </p:pic>
      <p:sp>
        <p:nvSpPr>
          <p:cNvPr id="6" name="Shape 2"/>
          <p:cNvSpPr/>
          <p:nvPr/>
        </p:nvSpPr>
        <p:spPr>
          <a:xfrm>
            <a:off x="10345936" y="3371850"/>
            <a:ext cx="9525" cy="304800"/>
          </a:xfrm>
          <a:prstGeom prst="rect">
            <a:avLst/>
          </a:prstGeom>
          <a:solidFill>
            <a:srgbClr val="FFFFFF">
              <a:alpha val="45000"/>
            </a:srgbClr>
          </a:solidFill>
          <a:ln/>
        </p:spPr>
      </p:sp>
      <p:pic>
        <p:nvPicPr>
          <p:cNvPr id="7" name="Image 2" descr="preencoded.png">    </p:cNvPr>
          <p:cNvPicPr>
            <a:picLocks noChangeAspect="1"/>
          </p:cNvPicPr>
          <p:nvPr/>
        </p:nvPicPr>
        <p:blipFill>
          <a:blip r:embed="rId3"/>
          <a:srcRect l="0" r="0" t="0" b="0"/>
          <a:stretch/>
        </p:blipFill>
        <p:spPr>
          <a:xfrm>
            <a:off x="10584061" y="3352800"/>
            <a:ext cx="342900" cy="3429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2"/>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4121423"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The path forward</a:t>
            </a:r>
            <a:endParaRPr lang="en-US" sz="3750" dirty="0"/>
          </a:p>
        </p:txBody>
      </p:sp>
      <p:sp>
        <p:nvSpPr>
          <p:cNvPr id="9" name="Text 6"/>
          <p:cNvSpPr/>
          <p:nvPr/>
        </p:nvSpPr>
        <p:spPr>
          <a:xfrm>
            <a:off x="742950" y="5095875"/>
            <a:ext cx="4121423"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THE PATH FORWARD</a:t>
            </a:r>
            <a:endParaRPr lang="en-US" sz="900" dirty="0"/>
          </a:p>
        </p:txBody>
      </p:sp>
      <p:pic>
        <p:nvPicPr>
          <p:cNvPr id="4" name="Image 0" descr="preencoded.png">    </p:cNvPr>
          <p:cNvPicPr>
            <a:picLocks noChangeAspect="1"/>
          </p:cNvPicPr>
          <p:nvPr/>
        </p:nvPicPr>
        <p:blipFill>
          <a:blip r:embed="rId2"/>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Built for the Bending Spoons operating model</a:t>
            </a:r>
            <a:endParaRPr lang="en-US" sz="2700" dirty="0"/>
          </a:p>
        </p:txBody>
      </p:sp>
      <p:sp>
        <p:nvSpPr>
          <p:cNvPr id="7" name="Shape 4"/>
          <p:cNvSpPr/>
          <p:nvPr/>
        </p:nvSpPr>
        <p:spPr>
          <a:xfrm>
            <a:off x="533400" y="1485900"/>
            <a:ext cx="3581400" cy="4188619"/>
          </a:xfrm>
          <a:prstGeom prst="roundRect">
            <a:avLst>
              <a:gd name="adj" fmla="val 2660"/>
            </a:avLst>
          </a:prstGeom>
          <a:solidFill>
            <a:srgbClr val="FFFFFF"/>
          </a:solidFill>
          <a:ln w="9525">
            <a:solidFill>
              <a:srgbClr val="E3E5F0"/>
            </a:solidFill>
            <a:prstDash val="solid"/>
          </a:ln>
        </p:spPr>
      </p:sp>
      <p:sp>
        <p:nvSpPr>
          <p:cNvPr id="8" name="Text 5"/>
          <p:cNvSpPr/>
          <p:nvPr/>
        </p:nvSpPr>
        <p:spPr>
          <a:xfrm>
            <a:off x="809625" y="1876425"/>
            <a:ext cx="146304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PORTFOLIO</a:t>
            </a:r>
            <a:endParaRPr lang="en-US" sz="825" dirty="0"/>
          </a:p>
        </p:txBody>
      </p:sp>
      <p:sp>
        <p:nvSpPr>
          <p:cNvPr id="9" name="Text 6"/>
          <p:cNvSpPr/>
          <p:nvPr/>
        </p:nvSpPr>
        <p:spPr>
          <a:xfrm>
            <a:off x="3518446" y="1743075"/>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E3E5F0"/>
                </a:solidFill>
                <a:latin typeface="Titillium Web" pitchFamily="34" charset="0"/>
                <a:ea typeface="Titillium Web" pitchFamily="34" charset="-122"/>
                <a:cs typeface="Titillium Web" pitchFamily="34" charset="-120"/>
              </a:rPr>
              <a:t>01</a:t>
            </a:r>
            <a:endParaRPr lang="en-US" sz="2250" dirty="0"/>
          </a:p>
        </p:txBody>
      </p:sp>
      <p:sp>
        <p:nvSpPr>
          <p:cNvPr id="10" name="Text 7"/>
          <p:cNvSpPr/>
          <p:nvPr/>
        </p:nvSpPr>
        <p:spPr>
          <a:xfrm>
            <a:off x="809625" y="2124075"/>
            <a:ext cx="3331845"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One layer, both models</a:t>
            </a:r>
            <a:endParaRPr lang="en-US" sz="1650" dirty="0"/>
          </a:p>
        </p:txBody>
      </p:sp>
      <p:sp>
        <p:nvSpPr>
          <p:cNvPr id="11" name="Text 8"/>
          <p:cNvSpPr/>
          <p:nvPr/>
        </p:nvSpPr>
        <p:spPr>
          <a:xfrm>
            <a:off x="809625" y="2562225"/>
            <a:ext cx="3119819"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The only marketplace in a portfolio of subscription businesses. The same layer runs marketplace and subscription payments.</a:t>
            </a:r>
            <a:endParaRPr lang="en-US" sz="1013" dirty="0"/>
          </a:p>
        </p:txBody>
      </p:sp>
      <p:sp>
        <p:nvSpPr>
          <p:cNvPr id="12" name="Shape 9"/>
          <p:cNvSpPr/>
          <p:nvPr/>
        </p:nvSpPr>
        <p:spPr>
          <a:xfrm>
            <a:off x="809625" y="5093494"/>
            <a:ext cx="3028950" cy="9525"/>
          </a:xfrm>
          <a:prstGeom prst="rect">
            <a:avLst/>
          </a:prstGeom>
          <a:solidFill>
            <a:srgbClr val="E3E5F0"/>
          </a:solidFill>
          <a:ln/>
        </p:spPr>
      </p:sp>
      <p:sp>
        <p:nvSpPr>
          <p:cNvPr id="13" name="Text 10"/>
          <p:cNvSpPr/>
          <p:nvPr/>
        </p:nvSpPr>
        <p:spPr>
          <a:xfrm>
            <a:off x="809625" y="5236369"/>
            <a:ext cx="3119819"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8C8F9E"/>
                </a:solidFill>
                <a:latin typeface="Titillium Web" pitchFamily="34" charset="0"/>
                <a:ea typeface="Titillium Web" pitchFamily="34" charset="-122"/>
                <a:cs typeface="Titillium Web" pitchFamily="34" charset="-120"/>
              </a:rPr>
              <a:t>NO PARALLEL STACKS</a:t>
            </a:r>
            <a:endParaRPr lang="en-US" sz="900" dirty="0"/>
          </a:p>
        </p:txBody>
      </p:sp>
      <p:sp>
        <p:nvSpPr>
          <p:cNvPr id="14" name="Shape 11"/>
          <p:cNvSpPr/>
          <p:nvPr/>
        </p:nvSpPr>
        <p:spPr>
          <a:xfrm>
            <a:off x="4305300" y="1485900"/>
            <a:ext cx="3581400" cy="4188619"/>
          </a:xfrm>
          <a:prstGeom prst="roundRect">
            <a:avLst>
              <a:gd name="adj" fmla="val 2660"/>
            </a:avLst>
          </a:prstGeom>
          <a:solidFill>
            <a:srgbClr val="EEF0FB"/>
          </a:solidFill>
          <a:ln/>
        </p:spPr>
      </p:sp>
      <p:sp>
        <p:nvSpPr>
          <p:cNvPr id="15" name="Text 12"/>
          <p:cNvSpPr/>
          <p:nvPr/>
        </p:nvSpPr>
        <p:spPr>
          <a:xfrm>
            <a:off x="45720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M&amp;A</a:t>
            </a:r>
            <a:endParaRPr lang="en-US" sz="825" dirty="0"/>
          </a:p>
        </p:txBody>
      </p:sp>
      <p:sp>
        <p:nvSpPr>
          <p:cNvPr id="16" name="Text 13"/>
          <p:cNvSpPr/>
          <p:nvPr/>
        </p:nvSpPr>
        <p:spPr>
          <a:xfrm>
            <a:off x="72998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C9D0F5"/>
                </a:solidFill>
                <a:latin typeface="Titillium Web" pitchFamily="34" charset="0"/>
                <a:ea typeface="Titillium Web" pitchFamily="34" charset="-122"/>
                <a:cs typeface="Titillium Web" pitchFamily="34" charset="-120"/>
              </a:rPr>
              <a:t>02</a:t>
            </a:r>
            <a:endParaRPr lang="en-US" sz="2250" dirty="0"/>
          </a:p>
        </p:txBody>
      </p:sp>
      <p:sp>
        <p:nvSpPr>
          <p:cNvPr id="17" name="Text 14"/>
          <p:cNvSpPr/>
          <p:nvPr/>
        </p:nvSpPr>
        <p:spPr>
          <a:xfrm>
            <a:off x="45720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Acquisitions land as configuration</a:t>
            </a:r>
            <a:endParaRPr lang="en-US" sz="1650" dirty="0"/>
          </a:p>
        </p:txBody>
      </p:sp>
      <p:sp>
        <p:nvSpPr>
          <p:cNvPr id="18" name="Text 15"/>
          <p:cNvSpPr/>
          <p:nvPr/>
        </p:nvSpPr>
        <p:spPr>
          <a:xfrm>
            <a:off x="4572000" y="2552700"/>
            <a:ext cx="3139440"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Every future acquisition plugs into the same integration. Providers, methods and reporting arrive configured, not rebuilt.</a:t>
            </a:r>
            <a:endParaRPr lang="en-US" sz="1013" dirty="0"/>
          </a:p>
        </p:txBody>
      </p:sp>
      <p:sp>
        <p:nvSpPr>
          <p:cNvPr id="19" name="Shape 16"/>
          <p:cNvSpPr/>
          <p:nvPr/>
        </p:nvSpPr>
        <p:spPr>
          <a:xfrm>
            <a:off x="4572000" y="5103019"/>
            <a:ext cx="3048000" cy="9525"/>
          </a:xfrm>
          <a:prstGeom prst="rect">
            <a:avLst/>
          </a:prstGeom>
          <a:solidFill>
            <a:srgbClr val="DDE0F0"/>
          </a:solidFill>
          <a:ln/>
        </p:spPr>
      </p:sp>
      <p:sp>
        <p:nvSpPr>
          <p:cNvPr id="20" name="Text 17"/>
          <p:cNvSpPr/>
          <p:nvPr/>
        </p:nvSpPr>
        <p:spPr>
          <a:xfrm>
            <a:off x="45720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3E4FE0"/>
                </a:solidFill>
                <a:latin typeface="Titillium Web" pitchFamily="34" charset="0"/>
                <a:ea typeface="Titillium Web" pitchFamily="34" charset="-122"/>
                <a:cs typeface="Titillium Web" pitchFamily="34" charset="-120"/>
              </a:rPr>
              <a:t>SPEED ON DAY ONE</a:t>
            </a:r>
            <a:endParaRPr lang="en-US" sz="900" dirty="0"/>
          </a:p>
        </p:txBody>
      </p:sp>
      <p:sp>
        <p:nvSpPr>
          <p:cNvPr id="21" name="Shape 18"/>
          <p:cNvSpPr/>
          <p:nvPr/>
        </p:nvSpPr>
        <p:spPr>
          <a:xfrm>
            <a:off x="8077200" y="1485900"/>
            <a:ext cx="3581400" cy="4188619"/>
          </a:xfrm>
          <a:prstGeom prst="roundRect">
            <a:avLst>
              <a:gd name="adj" fmla="val 2660"/>
            </a:avLst>
          </a:prstGeom>
          <a:solidFill>
            <a:srgbClr val="3E4FE0"/>
          </a:solidFill>
          <a:ln/>
        </p:spPr>
      </p:sp>
      <p:sp>
        <p:nvSpPr>
          <p:cNvPr id="22" name="Text 19"/>
          <p:cNvSpPr/>
          <p:nvPr/>
        </p:nvSpPr>
        <p:spPr>
          <a:xfrm>
            <a:off x="83439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TEAM</a:t>
            </a:r>
            <a:endParaRPr lang="en-US" sz="825" dirty="0"/>
          </a:p>
        </p:txBody>
      </p:sp>
      <p:sp>
        <p:nvSpPr>
          <p:cNvPr id="23" name="Text 20"/>
          <p:cNvSpPr/>
          <p:nvPr/>
        </p:nvSpPr>
        <p:spPr>
          <a:xfrm>
            <a:off x="110717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FFFFFF">
                    <a:alpha val="35000"/>
                  </a:srgbClr>
                </a:solidFill>
                <a:latin typeface="Titillium Web" pitchFamily="34" charset="0"/>
                <a:ea typeface="Titillium Web" pitchFamily="34" charset="-122"/>
                <a:cs typeface="Titillium Web" pitchFamily="34" charset="-120"/>
              </a:rPr>
              <a:t>03</a:t>
            </a:r>
            <a:endParaRPr lang="en-US" sz="2250" dirty="0"/>
          </a:p>
        </p:txBody>
      </p:sp>
      <p:sp>
        <p:nvSpPr>
          <p:cNvPr id="24" name="Text 21"/>
          <p:cNvSpPr/>
          <p:nvPr/>
        </p:nvSpPr>
        <p:spPr>
          <a:xfrm>
            <a:off x="83439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Titillium Web" pitchFamily="34" charset="0"/>
                <a:ea typeface="Titillium Web" pitchFamily="34" charset="-122"/>
                <a:cs typeface="Titillium Web" pitchFamily="34" charset="-120"/>
              </a:rPr>
              <a:t>Experts on tap</a:t>
            </a:r>
            <a:endParaRPr lang="en-US" sz="1650" dirty="0"/>
          </a:p>
        </p:txBody>
      </p:sp>
      <p:sp>
        <p:nvSpPr>
          <p:cNvPr id="25" name="Text 22"/>
          <p:cNvSpPr/>
          <p:nvPr/>
        </p:nvSpPr>
        <p:spPr>
          <a:xfrm>
            <a:off x="8343900" y="2552700"/>
            <a:ext cx="3139440" cy="65514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A bench of regional payment specialists across markets, without hiring the org that runs it.</a:t>
            </a:r>
            <a:endParaRPr lang="en-US" sz="1013" dirty="0"/>
          </a:p>
        </p:txBody>
      </p:sp>
      <p:sp>
        <p:nvSpPr>
          <p:cNvPr id="26" name="Shape 23"/>
          <p:cNvSpPr/>
          <p:nvPr/>
        </p:nvSpPr>
        <p:spPr>
          <a:xfrm>
            <a:off x="8343900" y="5103019"/>
            <a:ext cx="3048000" cy="9525"/>
          </a:xfrm>
          <a:prstGeom prst="rect">
            <a:avLst/>
          </a:prstGeom>
          <a:solidFill>
            <a:srgbClr val="FFFFFF">
              <a:alpha val="28000"/>
            </a:srgbClr>
          </a:solidFill>
          <a:ln/>
        </p:spPr>
      </p:sp>
      <p:sp>
        <p:nvSpPr>
          <p:cNvPr id="27" name="Text 24"/>
          <p:cNvSpPr/>
          <p:nvPr/>
        </p:nvSpPr>
        <p:spPr>
          <a:xfrm>
            <a:off x="83439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FFFFFF">
                    <a:alpha val="80000"/>
                  </a:srgbClr>
                </a:solidFill>
                <a:latin typeface="Titillium Web" pitchFamily="34" charset="0"/>
                <a:ea typeface="Titillium Web" pitchFamily="34" charset="-122"/>
                <a:cs typeface="Titillium Web" pitchFamily="34" charset="-120"/>
              </a:rPr>
              <a:t>LEAN BY DESIGN</a:t>
            </a:r>
            <a:endParaRPr lang="en-US" sz="900" dirty="0"/>
          </a:p>
        </p:txBody>
      </p:sp>
      <p:sp>
        <p:nvSpPr>
          <p:cNvPr id="28" name="Shape 25"/>
          <p:cNvSpPr/>
          <p:nvPr/>
        </p:nvSpPr>
        <p:spPr>
          <a:xfrm>
            <a:off x="533400" y="5865019"/>
            <a:ext cx="11125200" cy="573881"/>
          </a:xfrm>
          <a:prstGeom prst="roundRect">
            <a:avLst>
              <a:gd name="adj" fmla="val 16598"/>
            </a:avLst>
          </a:prstGeom>
          <a:solidFill>
            <a:srgbClr val="17181C"/>
          </a:solidFill>
          <a:ln/>
        </p:spPr>
      </p:sp>
      <p:sp>
        <p:nvSpPr>
          <p:cNvPr id="29" name="Text 26"/>
          <p:cNvSpPr/>
          <p:nvPr/>
        </p:nvSpPr>
        <p:spPr>
          <a:xfrm>
            <a:off x="781050" y="6055519"/>
            <a:ext cx="109636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highlight>
                  <a:srgbClr val="17181C"/>
                </a:highlight>
                <a:latin typeface="Titillium Web" pitchFamily="34" charset="0"/>
                <a:ea typeface="Titillium Web" pitchFamily="34" charset="-122"/>
                <a:cs typeface="Titillium Web" pitchFamily="34" charset="-120"/>
              </a:rPr>
              <a:t>The payments surface Eventbrite runs today consumed a 27-engineer team: six rails, a marketplace ledger, LatAm entities and payouts. With Yuno it runs as a service, not as an org.</a:t>
            </a:r>
            <a:pPr algn="l" indent="0" marL="0">
              <a:lnSpc>
                <a:spcPct val="101250"/>
              </a:lnSpc>
              <a:buNone/>
            </a:pPr>
            <a:endParaRPr lang="en-US" sz="1013" dirty="0"/>
          </a:p>
        </p:txBody>
      </p:sp>
      <p:sp>
        <p:nvSpPr>
          <p:cNvPr id="30" name="Text 27"/>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27</a:t>
            </a:r>
            <a:endParaRPr lang="en-US" sz="75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THE PATH FORWARD</a:t>
            </a:r>
            <a:endParaRPr lang="en-US" sz="900" dirty="0"/>
          </a:p>
        </p:txBody>
      </p:sp>
      <p:pic>
        <p:nvPicPr>
          <p:cNvPr id="4" name="Image 0" descr="preencoded.png">    </p:cNvPr>
          <p:cNvPicPr>
            <a:picLocks noChangeAspect="1"/>
          </p:cNvPicPr>
          <p:nvPr/>
        </p:nvPicPr>
        <p:blipFill>
          <a:blip r:embed="rId2"/>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Next steps</a:t>
            </a:r>
            <a:endParaRPr lang="en-US" sz="2700" dirty="0"/>
          </a:p>
        </p:txBody>
      </p:sp>
      <p:sp>
        <p:nvSpPr>
          <p:cNvPr id="7" name="Shape 4"/>
          <p:cNvSpPr/>
          <p:nvPr/>
        </p:nvSpPr>
        <p:spPr>
          <a:xfrm>
            <a:off x="533400" y="1485900"/>
            <a:ext cx="3581400" cy="4188619"/>
          </a:xfrm>
          <a:prstGeom prst="roundRect">
            <a:avLst>
              <a:gd name="adj" fmla="val 2660"/>
            </a:avLst>
          </a:prstGeom>
          <a:solidFill>
            <a:srgbClr val="FFFFFF"/>
          </a:solidFill>
          <a:ln w="9525">
            <a:solidFill>
              <a:srgbClr val="E3E5F0"/>
            </a:solidFill>
            <a:prstDash val="solid"/>
          </a:ln>
        </p:spPr>
      </p:sp>
      <p:sp>
        <p:nvSpPr>
          <p:cNvPr id="8" name="Text 5"/>
          <p:cNvSpPr/>
          <p:nvPr/>
        </p:nvSpPr>
        <p:spPr>
          <a:xfrm>
            <a:off x="809625" y="1876425"/>
            <a:ext cx="146304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THIS WEEK</a:t>
            </a:r>
            <a:endParaRPr lang="en-US" sz="825" dirty="0"/>
          </a:p>
        </p:txBody>
      </p:sp>
      <p:sp>
        <p:nvSpPr>
          <p:cNvPr id="9" name="Text 6"/>
          <p:cNvSpPr/>
          <p:nvPr/>
        </p:nvSpPr>
        <p:spPr>
          <a:xfrm>
            <a:off x="3518446" y="1743075"/>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E3E5F0"/>
                </a:solidFill>
                <a:latin typeface="Titillium Web" pitchFamily="34" charset="0"/>
                <a:ea typeface="Titillium Web" pitchFamily="34" charset="-122"/>
                <a:cs typeface="Titillium Web" pitchFamily="34" charset="-120"/>
              </a:rPr>
              <a:t>01</a:t>
            </a:r>
            <a:endParaRPr lang="en-US" sz="2250" dirty="0"/>
          </a:p>
        </p:txBody>
      </p:sp>
      <p:sp>
        <p:nvSpPr>
          <p:cNvPr id="10" name="Text 7"/>
          <p:cNvSpPr/>
          <p:nvPr/>
        </p:nvSpPr>
        <p:spPr>
          <a:xfrm>
            <a:off x="809625" y="2124075"/>
            <a:ext cx="3331845"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MNDA and materials</a:t>
            </a:r>
            <a:endParaRPr lang="en-US" sz="1650" dirty="0"/>
          </a:p>
        </p:txBody>
      </p:sp>
      <p:sp>
        <p:nvSpPr>
          <p:cNvPr id="11" name="Text 8"/>
          <p:cNvSpPr/>
          <p:nvPr/>
        </p:nvSpPr>
        <p:spPr>
          <a:xfrm>
            <a:off x="809625" y="2562225"/>
            <a:ext cx="3119819"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Mutual NDA signed and custom materials shared with the team.</a:t>
            </a:r>
            <a:endParaRPr lang="en-US" sz="1013" dirty="0"/>
          </a:p>
        </p:txBody>
      </p:sp>
      <p:sp>
        <p:nvSpPr>
          <p:cNvPr id="12" name="Shape 9"/>
          <p:cNvSpPr/>
          <p:nvPr/>
        </p:nvSpPr>
        <p:spPr>
          <a:xfrm>
            <a:off x="809625" y="5093494"/>
            <a:ext cx="3028950" cy="9525"/>
          </a:xfrm>
          <a:prstGeom prst="rect">
            <a:avLst/>
          </a:prstGeom>
          <a:solidFill>
            <a:srgbClr val="E3E5F0"/>
          </a:solidFill>
          <a:ln/>
        </p:spPr>
      </p:sp>
      <p:sp>
        <p:nvSpPr>
          <p:cNvPr id="13" name="Text 10"/>
          <p:cNvSpPr/>
          <p:nvPr/>
        </p:nvSpPr>
        <p:spPr>
          <a:xfrm>
            <a:off x="809625" y="5236369"/>
            <a:ext cx="3119819"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8C8F9E"/>
                </a:solidFill>
                <a:latin typeface="Titillium Web" pitchFamily="34" charset="0"/>
                <a:ea typeface="Titillium Web" pitchFamily="34" charset="-122"/>
                <a:cs typeface="Titillium Web" pitchFamily="34" charset="-120"/>
              </a:rPr>
              <a:t>READY TO SEND</a:t>
            </a:r>
            <a:endParaRPr lang="en-US" sz="900" dirty="0"/>
          </a:p>
        </p:txBody>
      </p:sp>
      <p:sp>
        <p:nvSpPr>
          <p:cNvPr id="14" name="Shape 11"/>
          <p:cNvSpPr/>
          <p:nvPr/>
        </p:nvSpPr>
        <p:spPr>
          <a:xfrm>
            <a:off x="4305300" y="1485900"/>
            <a:ext cx="3581400" cy="4188619"/>
          </a:xfrm>
          <a:prstGeom prst="roundRect">
            <a:avLst>
              <a:gd name="adj" fmla="val 2660"/>
            </a:avLst>
          </a:prstGeom>
          <a:solidFill>
            <a:srgbClr val="EEF0FB"/>
          </a:solidFill>
          <a:ln/>
        </p:spPr>
      </p:sp>
      <p:sp>
        <p:nvSpPr>
          <p:cNvPr id="15" name="Text 12"/>
          <p:cNvSpPr/>
          <p:nvPr/>
        </p:nvSpPr>
        <p:spPr>
          <a:xfrm>
            <a:off x="4572000" y="1866900"/>
            <a:ext cx="146304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NEXT WEEK</a:t>
            </a:r>
            <a:endParaRPr lang="en-US" sz="825" dirty="0"/>
          </a:p>
        </p:txBody>
      </p:sp>
      <p:sp>
        <p:nvSpPr>
          <p:cNvPr id="16" name="Text 13"/>
          <p:cNvSpPr/>
          <p:nvPr/>
        </p:nvSpPr>
        <p:spPr>
          <a:xfrm>
            <a:off x="72998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C9D0F5"/>
                </a:solidFill>
                <a:latin typeface="Titillium Web" pitchFamily="34" charset="0"/>
                <a:ea typeface="Titillium Web" pitchFamily="34" charset="-122"/>
                <a:cs typeface="Titillium Web" pitchFamily="34" charset="-120"/>
              </a:rPr>
              <a:t>02</a:t>
            </a:r>
            <a:endParaRPr lang="en-US" sz="2250" dirty="0"/>
          </a:p>
        </p:txBody>
      </p:sp>
      <p:sp>
        <p:nvSpPr>
          <p:cNvPr id="17" name="Text 14"/>
          <p:cNvSpPr/>
          <p:nvPr/>
        </p:nvSpPr>
        <p:spPr>
          <a:xfrm>
            <a:off x="45720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Intro to the incoming team</a:t>
            </a:r>
            <a:endParaRPr lang="en-US" sz="1650" dirty="0"/>
          </a:p>
        </p:txBody>
      </p:sp>
      <p:sp>
        <p:nvSpPr>
          <p:cNvPr id="18" name="Text 15"/>
          <p:cNvSpPr/>
          <p:nvPr/>
        </p:nvSpPr>
        <p:spPr>
          <a:xfrm>
            <a:off x="4572000" y="2552700"/>
            <a:ext cx="3139440"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A working introduction with the commerce leadership taking the decision.</a:t>
            </a:r>
            <a:endParaRPr lang="en-US" sz="1013" dirty="0"/>
          </a:p>
        </p:txBody>
      </p:sp>
      <p:sp>
        <p:nvSpPr>
          <p:cNvPr id="19" name="Shape 16"/>
          <p:cNvSpPr/>
          <p:nvPr/>
        </p:nvSpPr>
        <p:spPr>
          <a:xfrm>
            <a:off x="4572000" y="5103019"/>
            <a:ext cx="3048000" cy="9525"/>
          </a:xfrm>
          <a:prstGeom prst="rect">
            <a:avLst/>
          </a:prstGeom>
          <a:solidFill>
            <a:srgbClr val="DDE0F0"/>
          </a:solidFill>
          <a:ln/>
        </p:spPr>
      </p:sp>
      <p:sp>
        <p:nvSpPr>
          <p:cNvPr id="20" name="Text 17"/>
          <p:cNvSpPr/>
          <p:nvPr/>
        </p:nvSpPr>
        <p:spPr>
          <a:xfrm>
            <a:off x="45720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3E4FE0"/>
                </a:solidFill>
                <a:latin typeface="Titillium Web" pitchFamily="34" charset="0"/>
                <a:ea typeface="Titillium Web" pitchFamily="34" charset="-122"/>
                <a:cs typeface="Titillium Web" pitchFamily="34" charset="-120"/>
              </a:rPr>
              <a:t>ONE CALL</a:t>
            </a:r>
            <a:endParaRPr lang="en-US" sz="900" dirty="0"/>
          </a:p>
        </p:txBody>
      </p:sp>
      <p:sp>
        <p:nvSpPr>
          <p:cNvPr id="21" name="Shape 18"/>
          <p:cNvSpPr/>
          <p:nvPr/>
        </p:nvSpPr>
        <p:spPr>
          <a:xfrm>
            <a:off x="8077200" y="1485900"/>
            <a:ext cx="3581400" cy="4188619"/>
          </a:xfrm>
          <a:prstGeom prst="roundRect">
            <a:avLst>
              <a:gd name="adj" fmla="val 2660"/>
            </a:avLst>
          </a:prstGeom>
          <a:solidFill>
            <a:srgbClr val="3E4FE0"/>
          </a:solidFill>
          <a:ln/>
        </p:spPr>
      </p:sp>
      <p:sp>
        <p:nvSpPr>
          <p:cNvPr id="22" name="Text 19"/>
          <p:cNvSpPr/>
          <p:nvPr/>
        </p:nvSpPr>
        <p:spPr>
          <a:xfrm>
            <a:off x="8343900" y="1866900"/>
            <a:ext cx="146304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LATE AUGUST</a:t>
            </a:r>
            <a:endParaRPr lang="en-US" sz="825" dirty="0"/>
          </a:p>
        </p:txBody>
      </p:sp>
      <p:sp>
        <p:nvSpPr>
          <p:cNvPr id="23" name="Text 20"/>
          <p:cNvSpPr/>
          <p:nvPr/>
        </p:nvSpPr>
        <p:spPr>
          <a:xfrm>
            <a:off x="110717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FFFFFF">
                    <a:alpha val="35000"/>
                  </a:srgbClr>
                </a:solidFill>
                <a:latin typeface="Titillium Web" pitchFamily="34" charset="0"/>
                <a:ea typeface="Titillium Web" pitchFamily="34" charset="-122"/>
                <a:cs typeface="Titillium Web" pitchFamily="34" charset="-120"/>
              </a:rPr>
              <a:t>03</a:t>
            </a:r>
            <a:endParaRPr lang="en-US" sz="2250" dirty="0"/>
          </a:p>
        </p:txBody>
      </p:sp>
      <p:sp>
        <p:nvSpPr>
          <p:cNvPr id="24" name="Text 21"/>
          <p:cNvSpPr/>
          <p:nvPr/>
        </p:nvSpPr>
        <p:spPr>
          <a:xfrm>
            <a:off x="83439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Titillium Web" pitchFamily="34" charset="0"/>
                <a:ea typeface="Titillium Web" pitchFamily="34" charset="-122"/>
                <a:cs typeface="Titillium Web" pitchFamily="34" charset="-120"/>
              </a:rPr>
              <a:t>Working session in Milan</a:t>
            </a:r>
            <a:endParaRPr lang="en-US" sz="1650" dirty="0"/>
          </a:p>
        </p:txBody>
      </p:sp>
      <p:sp>
        <p:nvSpPr>
          <p:cNvPr id="25" name="Text 22"/>
          <p:cNvSpPr/>
          <p:nvPr/>
        </p:nvSpPr>
        <p:spPr>
          <a:xfrm>
            <a:off x="8343900" y="2552700"/>
            <a:ext cx="3139440" cy="65514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Deep-dive working session with the team in Milan, CRO on site.</a:t>
            </a:r>
            <a:endParaRPr lang="en-US" sz="1013" dirty="0"/>
          </a:p>
        </p:txBody>
      </p:sp>
      <p:sp>
        <p:nvSpPr>
          <p:cNvPr id="26" name="Shape 23"/>
          <p:cNvSpPr/>
          <p:nvPr/>
        </p:nvSpPr>
        <p:spPr>
          <a:xfrm>
            <a:off x="8343900" y="5103019"/>
            <a:ext cx="3048000" cy="9525"/>
          </a:xfrm>
          <a:prstGeom prst="rect">
            <a:avLst/>
          </a:prstGeom>
          <a:solidFill>
            <a:srgbClr val="FFFFFF">
              <a:alpha val="28000"/>
            </a:srgbClr>
          </a:solidFill>
          <a:ln/>
        </p:spPr>
      </p:sp>
      <p:sp>
        <p:nvSpPr>
          <p:cNvPr id="27" name="Text 24"/>
          <p:cNvSpPr/>
          <p:nvPr/>
        </p:nvSpPr>
        <p:spPr>
          <a:xfrm>
            <a:off x="83439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FFFFFF">
                    <a:alpha val="80000"/>
                  </a:srgbClr>
                </a:solidFill>
                <a:latin typeface="Titillium Web" pitchFamily="34" charset="0"/>
                <a:ea typeface="Titillium Web" pitchFamily="34" charset="-122"/>
                <a:cs typeface="Titillium Web" pitchFamily="34" charset="-120"/>
              </a:rPr>
              <a:t>IN PERSON</a:t>
            </a:r>
            <a:endParaRPr lang="en-US" sz="900" dirty="0"/>
          </a:p>
        </p:txBody>
      </p:sp>
      <p:sp>
        <p:nvSpPr>
          <p:cNvPr id="28" name="Shape 25"/>
          <p:cNvSpPr/>
          <p:nvPr/>
        </p:nvSpPr>
        <p:spPr>
          <a:xfrm>
            <a:off x="533400" y="5865019"/>
            <a:ext cx="11125200" cy="573881"/>
          </a:xfrm>
          <a:prstGeom prst="roundRect">
            <a:avLst>
              <a:gd name="adj" fmla="val 16598"/>
            </a:avLst>
          </a:prstGeom>
          <a:solidFill>
            <a:srgbClr val="17181C"/>
          </a:solidFill>
          <a:ln/>
        </p:spPr>
      </p:sp>
      <p:sp>
        <p:nvSpPr>
          <p:cNvPr id="29" name="Text 26"/>
          <p:cNvSpPr/>
          <p:nvPr/>
        </p:nvSpPr>
        <p:spPr>
          <a:xfrm>
            <a:off x="781050" y="6055519"/>
            <a:ext cx="109636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highlight>
                  <a:srgbClr val="17181C"/>
                </a:highlight>
                <a:latin typeface="Titillium Web" pitchFamily="34" charset="0"/>
                <a:ea typeface="Titillium Web" pitchFamily="34" charset="-122"/>
                <a:cs typeface="Titillium Web" pitchFamily="34" charset="-120"/>
              </a:rPr>
              <a:t>September: technical deep-dive on data and the design of a pilot, sized to the transition window.</a:t>
            </a:r>
            <a:pPr algn="l" indent="0" marL="0">
              <a:lnSpc>
                <a:spcPct val="101250"/>
              </a:lnSpc>
              <a:buNone/>
            </a:pPr>
            <a:endParaRPr lang="en-US" sz="1013" dirty="0"/>
          </a:p>
        </p:txBody>
      </p:sp>
      <p:sp>
        <p:nvSpPr>
          <p:cNvPr id="30" name="Text 27"/>
          <p:cNvSpPr/>
          <p:nvPr/>
        </p:nvSpPr>
        <p:spPr>
          <a:xfrm>
            <a:off x="209550" y="6562725"/>
            <a:ext cx="292608" cy="180975"/>
          </a:xfrm>
          <a:prstGeom prst="rect">
            <a:avLst/>
          </a:prstGeom>
          <a:noFill/>
          <a:ln/>
        </p:spPr>
        <p:txBody>
          <a:bodyPr wrap="non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28</a:t>
            </a:r>
            <a:endParaRPr lang="en-US" sz="75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cle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cle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cle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s-recompos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cle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cle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2026-08-05T02:24:12Z</dcterms:created>
  <dcterms:modified xsi:type="dcterms:W3CDTF">2026-08-05T02:24:12Z</dcterms:modified>
</cp:coreProperties>
</file>