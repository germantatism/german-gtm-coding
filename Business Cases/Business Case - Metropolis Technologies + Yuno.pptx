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2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4984" y="53035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Titillium Web"/>
              </a:rPr>
              <a:t>yuno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4984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  <a:latin typeface="Titillium Web"/>
              </a:rPr>
              <a:t>metropolis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4984" y="246888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3E4FE0"/>
                </a:solidFill>
                <a:latin typeface="Titillium Web"/>
              </a:rPr>
              <a:t>x  yuno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" y="3474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2959B"/>
                </a:solidFill>
                <a:latin typeface="Titillium Web"/>
              </a:rPr>
              <a:t>business case  |  april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1014984" y="3200400"/>
            <a:ext cx="2743200" cy="38100"/>
          </a:xfrm>
          <a:prstGeom prst="rect">
            <a:avLst/>
          </a:prstGeom>
          <a:solidFill>
            <a:srgbClr val="3E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4984" y="5486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282A30"/>
                </a:solidFill>
                <a:latin typeface="Titillium Web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4984" y="164592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600"/>
              </a:spcBef>
              <a:spcAft>
                <a:spcPts val="0"/>
              </a:spcAft>
            </a:pPr>
            <a:r>
              <a:rPr sz="2000" b="0" i="0">
                <a:solidFill>
                  <a:srgbClr val="282A30"/>
                </a:solidFill>
                <a:latin typeface="Titillium Web"/>
              </a:rPr>
              <a:t/>
            </a:r>
            <a:r>
              <a:rPr sz="2000" b="0">
                <a:solidFill>
                  <a:srgbClr val="282A30"/>
                </a:solidFill>
                <a:latin typeface="Titillium Web"/>
              </a:rPr>
              <a:t>01   our understanding of the context</a:t>
            </a:r>
          </a:p>
          <a:p>
            <a:pPr algn="l">
              <a:spcBef>
                <a:spcPts val="1600"/>
              </a:spcBef>
            </a:pPr>
            <a:r>
              <a:rPr sz="2000" b="0">
                <a:solidFill>
                  <a:srgbClr val="282A30"/>
                </a:solidFill>
                <a:latin typeface="Titillium Web"/>
              </a:rPr>
              <a:t>02   executive summary</a:t>
            </a:r>
          </a:p>
          <a:p>
            <a:pPr algn="l">
              <a:spcBef>
                <a:spcPts val="1600"/>
              </a:spcBef>
            </a:pPr>
            <a:r>
              <a:rPr sz="2000" b="0">
                <a:solidFill>
                  <a:srgbClr val="282A30"/>
                </a:solidFill>
                <a:latin typeface="Titillium Web"/>
              </a:rPr>
              <a:t>03   current setup constraints</a:t>
            </a:r>
          </a:p>
          <a:p>
            <a:pPr algn="l">
              <a:spcBef>
                <a:spcPts val="1600"/>
              </a:spcBef>
            </a:pPr>
            <a:r>
              <a:rPr sz="2000" b="0">
                <a:solidFill>
                  <a:srgbClr val="282A30"/>
                </a:solidFill>
                <a:latin typeface="Titillium Web"/>
              </a:rPr>
              <a:t>04   payment stack overview</a:t>
            </a:r>
          </a:p>
          <a:p>
            <a:pPr algn="l">
              <a:spcBef>
                <a:spcPts val="1600"/>
              </a:spcBef>
            </a:pPr>
            <a:r>
              <a:rPr sz="2000" b="0">
                <a:solidFill>
                  <a:srgbClr val="282A30"/>
                </a:solidFill>
                <a:latin typeface="Titillium Web"/>
              </a:rPr>
              <a:t>05   current landscape</a:t>
            </a:r>
          </a:p>
          <a:p>
            <a:pPr algn="l">
              <a:spcBef>
                <a:spcPts val="1600"/>
              </a:spcBef>
            </a:pPr>
            <a:r>
              <a:rPr sz="2000" b="0">
                <a:solidFill>
                  <a:srgbClr val="282A30"/>
                </a:solidFill>
                <a:latin typeface="Titillium Web"/>
              </a:rPr>
              <a:t>06   business case &amp; financial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4984" y="5760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E4FE0"/>
                </a:solidFill>
                <a:latin typeface="Titillium Web"/>
              </a:rPr>
              <a:t>yuno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E4F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4984" y="201168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0" i="0">
                <a:solidFill>
                  <a:srgbClr val="FFFFFF"/>
                </a:solidFill>
                <a:latin typeface="Titillium Web"/>
              </a:rPr>
              <a:t>our understanding
of the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4984" y="5760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Titillium Web"/>
              </a:rPr>
              <a:t>yuno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2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4984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FFFFFF"/>
                </a:solidFill>
                <a:latin typeface="Titillium Web"/>
              </a:rPr>
              <a:t>metropolis technologies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4984" y="10058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2959B"/>
                </a:solidFill>
                <a:latin typeface="Titillium Web"/>
              </a:rPr>
              <a:t>AI-powered checkout-free parking platform with 20M+ registered members across 4,600+ locations in 40+ US cities. Processes $5B+ in annual transactions through a proprietary computer vision system with a single unnamed third-party payment processor and no payment orchestration layer.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4984" y="1920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E4FE0"/>
                </a:solidFill>
                <a:latin typeface="Titillium Web"/>
              </a:rPr>
              <a:t>SINGLE-PROVIDER DEPENDENCY &amp; NO ORCHESTRATION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" y="2286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  <a:latin typeface="Titillium Web"/>
              </a:rPr>
              <a:t>Metropolis relies on a single, unnamed third-party payment processor for all $5B+ in annual transaction volume. There is no fallback acquirer, no smart routing, and no failover mechanism. Every transaction — across 4,600+ facilities — routes through one integration with zero redundancy.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" y="3200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E4FE0"/>
                </a:solidFill>
                <a:latin typeface="Titillium Web"/>
              </a:rPr>
              <a:t>KEY CHALLENGES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" y="3566160"/>
            <a:ext cx="10058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100" b="0" i="0">
                <a:solidFill>
                  <a:srgbClr val="CCCCDD"/>
                </a:solidFill>
                <a:latin typeface="Titillium Web"/>
              </a:rPr>
              <a:t/>
            </a:r>
            <a:r>
              <a:rPr sz="1100">
                <a:solidFill>
                  <a:srgbClr val="CCCCDD"/>
                </a:solidFill>
                <a:latin typeface="Titillium Web"/>
              </a:rPr>
              <a:t>1.  Payment billing complaints are the #1 reputational risk — $9M settlement with Tennessee AG (Jan 2026), active class action lawsuits, and 300+ consumer complaints over phantom charges, overcharging, and refund refusal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CCCCDD"/>
                </a:solidFill>
                <a:latin typeface="Titillium Web"/>
              </a:rPr>
              <a:t>2.  Zero alternative payment methods: no Apple Pay, Google Pay, PayPal, Venmo, or ACH. 100% of volume runs on credit cards only (Visa, MC, Amex, Discover)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CCCCDD"/>
                </a:solidFill>
                <a:latin typeface="Titillium Web"/>
              </a:rPr>
              <a:t>3.  No local entity in Mexico. All US operations process through a single Delaware entity with no cross-border optimization or local acquiring in Canada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CCCCDD"/>
                </a:solidFill>
                <a:latin typeface="Titillium Web"/>
              </a:rPr>
              <a:t>4.  Single payment processor dependency with no smart routing, no failover, and no A/B testing across acquirers — a single point of failure for $5B+ in annual volume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CCCCDD"/>
                </a:solidFill>
                <a:latin typeface="Titillium Web"/>
              </a:rPr>
              <a:t>5.  Expansion into gas stations, QSR drive-thrus, hotels, and retail planned for 2026 — each vertical will multiply payment complexity with no orchestration layer in place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" y="6217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E4FE0"/>
                </a:solidFill>
                <a:latin typeface="Titillium Web"/>
              </a:rPr>
              <a:t>yuno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2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4984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Titillium Web"/>
              </a:rPr>
              <a:t>metropolis technologies' current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4984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2959B"/>
                </a:solidFill>
                <a:latin typeface="Titillium Web"/>
              </a:rPr>
              <a:t>THE CURRENT SETUP HAS MANY CONSTRAINTS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4984" y="1554480"/>
            <a:ext cx="4937760" cy="2011680"/>
          </a:xfrm>
          <a:prstGeom prst="roundRect">
            <a:avLst>
              <a:gd name="adj" fmla="val 5000"/>
            </a:avLst>
          </a:prstGeom>
          <a:solidFill>
            <a:srgbClr val="122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3200" lIns="203200" rIns="203200" bIns="203200"/>
          <a:lstStyle/>
          <a:p>
            <a:pPr algn="l"/>
            <a:r>
              <a:rPr sz="1400" b="1">
                <a:solidFill>
                  <a:srgbClr val="FFFFFF"/>
                </a:solidFill>
                <a:latin typeface="Titillium Web"/>
              </a:rPr>
              <a:t>NO ALTERNATIVE PAYMENT METHODS</a:t>
            </a:r>
          </a:p>
          <a:p>
            <a:pPr algn="l">
              <a:spcBef>
                <a:spcPts val="800"/>
              </a:spcBef>
            </a:pPr>
            <a:r>
              <a:rPr sz="1100" b="0">
                <a:solidFill>
                  <a:srgbClr val="DDDDEE"/>
                </a:solidFill>
                <a:latin typeface="Titillium Web"/>
              </a:rPr>
              <a:t>No Apple Pay, no Google Pay, no PayPal, no Venmo, no ACH, no Amazon Pay. 100% of the 20M+ registered members must pay with a credit card on file. Users who prefer digital wallets or bank-based payments have no option — increasing friction and limiting adoption in a market where 32% of online spend flows through APMs.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72784" y="1554480"/>
            <a:ext cx="4937760" cy="2011680"/>
          </a:xfrm>
          <a:prstGeom prst="roundRect">
            <a:avLst>
              <a:gd name="adj" fmla="val 5000"/>
            </a:avLst>
          </a:prstGeom>
          <a:solidFill>
            <a:srgbClr val="122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3200" lIns="203200" rIns="203200" bIns="203200"/>
          <a:lstStyle/>
          <a:p>
            <a:pPr algn="l"/>
            <a:r>
              <a:rPr sz="1400" b="1">
                <a:solidFill>
                  <a:srgbClr val="FFFFFF"/>
                </a:solidFill>
                <a:latin typeface="Titillium Web"/>
              </a:rPr>
              <a:t>SINGLE PROCESSOR, ZERO REDUNDANCY</a:t>
            </a:r>
          </a:p>
          <a:p>
            <a:pPr algn="l">
              <a:spcBef>
                <a:spcPts val="800"/>
              </a:spcBef>
            </a:pPr>
            <a:r>
              <a:rPr sz="1100" b="0">
                <a:solidFill>
                  <a:srgbClr val="DDDDEE"/>
                </a:solidFill>
                <a:latin typeface="Titillium Web"/>
              </a:rPr>
              <a:t>All $5B+ in annual volume routes through one unnamed payment processor with no failback acquirer. A single outage or decline spike affects every transaction across 4,600+ locations simultaneously. No smart routing, no retry logic, and no ability to A/B test authorization rates across providers.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4984" y="3886200"/>
            <a:ext cx="4937760" cy="2011680"/>
          </a:xfrm>
          <a:prstGeom prst="roundRect">
            <a:avLst>
              <a:gd name="adj" fmla="val 5000"/>
            </a:avLst>
          </a:prstGeom>
          <a:solidFill>
            <a:srgbClr val="122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3200" lIns="203200" rIns="203200" bIns="203200"/>
          <a:lstStyle/>
          <a:p>
            <a:pPr algn="l"/>
            <a:r>
              <a:rPr sz="1400" b="1">
                <a:solidFill>
                  <a:srgbClr val="FFFFFF"/>
                </a:solidFill>
                <a:latin typeface="Titillium Web"/>
              </a:rPr>
              <a:t>BILLING ACCURACY &amp; DISPUTE RISK</a:t>
            </a:r>
          </a:p>
          <a:p>
            <a:pPr algn="l">
              <a:spcBef>
                <a:spcPts val="800"/>
              </a:spcBef>
            </a:pPr>
            <a:r>
              <a:rPr sz="1100" b="0">
                <a:solidFill>
                  <a:srgbClr val="DDDDEE"/>
                </a:solidFill>
                <a:latin typeface="Titillium Web"/>
              </a:rPr>
              <a:t>$9M settlement with the Tennessee Attorney General over deceptive billing practices (Jan 2026). Active class action lawsuits in Texas. 300+ consumer complaints citing phantom charges, session miscalculations, and $55 notice fees. Chargeback exposure is elevated with an 'all sales are final' refund policy.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2784" y="3886200"/>
            <a:ext cx="4937760" cy="2011680"/>
          </a:xfrm>
          <a:prstGeom prst="roundRect">
            <a:avLst>
              <a:gd name="adj" fmla="val 5000"/>
            </a:avLst>
          </a:prstGeom>
          <a:solidFill>
            <a:srgbClr val="122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3200" lIns="203200" rIns="203200" bIns="203200"/>
          <a:lstStyle/>
          <a:p>
            <a:pPr algn="l"/>
            <a:r>
              <a:rPr sz="1400" b="1">
                <a:solidFill>
                  <a:srgbClr val="FFFFFF"/>
                </a:solidFill>
                <a:latin typeface="Titillium Web"/>
              </a:rPr>
              <a:t>MULTI-VERTICAL EXPANSION WITHOUT ORCHESTRATION</a:t>
            </a:r>
          </a:p>
          <a:p>
            <a:pPr algn="l">
              <a:spcBef>
                <a:spcPts val="800"/>
              </a:spcBef>
            </a:pPr>
            <a:r>
              <a:rPr sz="1100" b="0">
                <a:solidFill>
                  <a:srgbClr val="DDDDEE"/>
                </a:solidFill>
                <a:latin typeface="Titillium Web"/>
              </a:rPr>
              <a:t>Metropolis plans to expand into gas stations, QSR drive-thrus, hotels, stadiums, and retail in 2026. Each new vertical introduces different transaction types, ATVs, and regulatory requirements — without a payment orchestration layer, every vertical will require independent PSP integrations and reconciliation workflows.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" y="6217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E4FE0"/>
                </a:solidFill>
                <a:latin typeface="Titillium Web"/>
              </a:rPr>
              <a:t>yuno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2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4984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Titillium Web"/>
              </a:rPr>
              <a:t>metropolis technologies' payment stack processes $5B+ annually
with no orchestration layer and no alternative payment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4984" y="15544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E4FE0"/>
                </a:solidFill>
                <a:latin typeface="Titillium Web"/>
              </a:rPr>
              <a:t>CREDIT CARDS AS THE ONLY RAIL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4984" y="19202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  <a:latin typeface="Titillium Web"/>
              </a:rPr>
              <a:t>Visa, Mastercard, American Express, and Discover are the only accepted payment methods across all 4,600+ locations. All volume is processed through a single unnamed third-party processor with no backup acquirer. Debit cards are accepted passively but not explicitly marketed. Cash and checks are explicitly not accepted.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" y="29260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E4FE0"/>
                </a:solidFill>
                <a:latin typeface="Titillium Web"/>
              </a:rPr>
              <a:t>APM INTEGRATION OPPORTUNITY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" y="32918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  <a:latin typeface="Titillium Web"/>
              </a:rPr>
              <a:t>Opportunity to integrate 7+ APMs in the US market: Apple Pay (~12% of US online spend), Google Pay, PayPal (~15%), Venmo/Cash App (~4%), ACH (~5%), Amazon Pay (~3%), and BNPL providers like Affirm/Klarna/Afterpay (~5%). Combined, these methods represent over 40% of US online transaction volume that Metropolis currently cannot capture.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" y="42976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E4FE0"/>
                </a:solidFill>
                <a:latin typeface="Titillium Web"/>
              </a:rPr>
              <a:t>NO PAYMENT ORCHESTRATION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" y="46634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  <a:latin typeface="Titillium Web"/>
              </a:rPr>
              <a:t>No smart routing across acquirers, no intelligent failover, no retry logic for declined transactions. With $5B+ in annual volume and a checkout-free model where charges happen automatically, false declines directly translate to lost revenue and billing disputes. No A/B testing capability to optimize authorization rates per card network or region.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54864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2959B"/>
                </a:solidFill>
                <a:latin typeface="Titillium Web"/>
              </a:rPr>
              <a:t>CURRENT ACCEPTED PAYMENT METHODS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5760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Titillium Web"/>
              </a:rPr>
              <a:t>Visa  |  Mastercard  |  Amex  |  Discover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" y="6217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E4FE0"/>
                </a:solidFill>
                <a:latin typeface="Titillium Web"/>
              </a:rPr>
              <a:t>yuno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2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4984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Titillium Web"/>
              </a:rPr>
              <a:t>metropolis technologies' current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4984" y="10058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2959B"/>
                </a:solidFill>
                <a:latin typeface="Titillium Web"/>
              </a:rPr>
              <a:t>TRAFFIC DISTRIBUTION BY COUNTRY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4984" y="1645920"/>
            <a:ext cx="5029200" cy="1097280"/>
          </a:xfrm>
          <a:prstGeom prst="roundRect">
            <a:avLst>
              <a:gd name="adj" fmla="val 8000"/>
            </a:avLst>
          </a:prstGeom>
          <a:solidFill>
            <a:srgbClr val="3E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52400"/>
          <a:lstStyle/>
          <a:p>
            <a:pPr algn="ctr"/>
            <a:r>
              <a:rPr sz="1600" b="1">
                <a:solidFill>
                  <a:srgbClr val="FFFFFF"/>
                </a:solidFill>
                <a:latin typeface="Titillium Web"/>
              </a:rPr>
              <a:t>UNITED STATES</a:t>
            </a:r>
          </a:p>
          <a:p>
            <a:r>
              <a:rPr sz="2400" b="0">
                <a:solidFill>
                  <a:srgbClr val="FFFFFF"/>
                </a:solidFill>
                <a:latin typeface="Titillium Web"/>
              </a:rPr>
              <a:t>96.98%  of total traffic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4984" y="3017520"/>
            <a:ext cx="3200400" cy="914400"/>
          </a:xfrm>
          <a:prstGeom prst="roundRect">
            <a:avLst>
              <a:gd name="adj" fmla="val 10000"/>
            </a:avLst>
          </a:prstGeom>
          <a:solidFill>
            <a:srgbClr val="122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27000"/>
          <a:lstStyle/>
          <a:p>
            <a:pPr algn="ctr"/>
            <a:r>
              <a:rPr sz="1400" b="1">
                <a:solidFill>
                  <a:srgbClr val="FFFFFF"/>
                </a:solidFill>
                <a:latin typeface="Titillium Web"/>
              </a:rPr>
              <a:t>MEXICO  —  0.62%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3017520"/>
            <a:ext cx="3200400" cy="914400"/>
          </a:xfrm>
          <a:prstGeom prst="roundRect">
            <a:avLst>
              <a:gd name="adj" fmla="val 10000"/>
            </a:avLst>
          </a:prstGeom>
          <a:solidFill>
            <a:srgbClr val="122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27000"/>
          <a:lstStyle/>
          <a:p>
            <a:pPr algn="ctr"/>
            <a:r>
              <a:rPr sz="1400" b="1">
                <a:solidFill>
                  <a:srgbClr val="FFFFFF"/>
                </a:solidFill>
                <a:latin typeface="Titillium Web"/>
              </a:rPr>
              <a:t>CANADA  —  0.55%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" y="43891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E4FE0"/>
                </a:solidFill>
                <a:latin typeface="Titillium Web"/>
              </a:rPr>
              <a:t>KEY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" y="47548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CCCCDD"/>
                </a:solidFill>
                <a:latin typeface="Titillium Web"/>
              </a:rPr>
              <a:t/>
            </a:r>
            <a:r>
              <a:rPr sz="1200">
                <a:solidFill>
                  <a:srgbClr val="CCCCDD"/>
                </a:solidFill>
                <a:latin typeface="Titillium Web"/>
              </a:rPr>
              <a:t>•  20M+ registered members (growing ~1M/month)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CCCDD"/>
                </a:solidFill>
                <a:latin typeface="Titillium Web"/>
              </a:rPr>
              <a:t>•  4,600+ parking locations across 40+ US cities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CCCDD"/>
                </a:solidFill>
                <a:latin typeface="Titillium Web"/>
              </a:rPr>
              <a:t>•  75+ airports with parking and aviation services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CCCDD"/>
                </a:solidFill>
                <a:latin typeface="Titillium Web"/>
              </a:rPr>
              <a:t>•  $5B+ annual transaction volume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CCCDD"/>
                </a:solidFill>
                <a:latin typeface="Titillium Web"/>
              </a:rPr>
              <a:t>•  $750M ARR  |  $5B valuation (Nov 2025)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CCCDD"/>
                </a:solidFill>
                <a:latin typeface="Titillium Web"/>
              </a:rPr>
              <a:t>•  23,000+ employees post SP+ acquisition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4389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E4FE0"/>
                </a:solidFill>
                <a:latin typeface="Titillium Web"/>
              </a:rPr>
              <a:t>OPERATIONS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47548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  <a:latin typeface="Titillium Web"/>
              </a:rPr>
              <a:t>Primarily US-based with Canadian operations inherited from SP+ acquisition (Ontario entity). No confirmed entity in Mexico. Expansion into gas stations, QSR drive-thrus, hotels, and stadiums planned for 2026.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" y="6217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E4FE0"/>
                </a:solidFill>
                <a:latin typeface="Titillium Web"/>
              </a:rPr>
              <a:t>yuno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